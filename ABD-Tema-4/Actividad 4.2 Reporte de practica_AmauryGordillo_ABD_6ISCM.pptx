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78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5" r:id="rId17"/>
    <p:sldId id="276" r:id="rId18"/>
    <p:sldId id="279" r:id="rId19"/>
    <p:sldId id="277" r:id="rId20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ED12A0-FE4D-4D61-A54E-8E18C31DAB4E}" type="datetimeFigureOut">
              <a:rPr lang="es-MX" smtClean="0"/>
              <a:t>12/06/2026</a:t>
            </a:fld>
            <a:endParaRPr lang="es-MX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A99D09-7936-4C63-9673-388ACC15809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8737468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amaurycolochos-cpu/ADMINISTRACION-BASE-DE-DATOS/tree/master/ABD-Tema-4" TargetMode="Externa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5814" y="161905"/>
            <a:ext cx="1461833" cy="1049220"/>
          </a:xfrm>
          <a:custGeom>
            <a:avLst/>
            <a:gdLst/>
            <a:ahLst/>
            <a:cxnLst/>
            <a:rect l="l" t="t" r="r" b="b"/>
            <a:pathLst>
              <a:path w="2193321" h="1574239">
                <a:moveTo>
                  <a:pt x="0" y="0"/>
                </a:moveTo>
                <a:lnTo>
                  <a:pt x="2193321" y="0"/>
                </a:lnTo>
                <a:lnTo>
                  <a:pt x="2193321" y="1574238"/>
                </a:lnTo>
                <a:lnTo>
                  <a:pt x="0" y="157423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3" name="Freeform 3"/>
          <p:cNvSpPr/>
          <p:nvPr/>
        </p:nvSpPr>
        <p:spPr>
          <a:xfrm>
            <a:off x="9715388" y="119052"/>
            <a:ext cx="2334759" cy="1025318"/>
          </a:xfrm>
          <a:custGeom>
            <a:avLst/>
            <a:gdLst/>
            <a:ahLst/>
            <a:cxnLst/>
            <a:rect l="l" t="t" r="r" b="b"/>
            <a:pathLst>
              <a:path w="3503050" h="1538377">
                <a:moveTo>
                  <a:pt x="0" y="0"/>
                </a:moveTo>
                <a:lnTo>
                  <a:pt x="3503050" y="0"/>
                </a:lnTo>
                <a:lnTo>
                  <a:pt x="3503050" y="1538377"/>
                </a:lnTo>
                <a:lnTo>
                  <a:pt x="0" y="153837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5" name="TextBox 5"/>
          <p:cNvSpPr txBox="1"/>
          <p:nvPr/>
        </p:nvSpPr>
        <p:spPr>
          <a:xfrm>
            <a:off x="3356648" y="612665"/>
            <a:ext cx="5475529" cy="8663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90"/>
              </a:lnSpc>
              <a:spcBef>
                <a:spcPct val="0"/>
              </a:spcBef>
            </a:pPr>
            <a:r>
              <a:rPr lang="en-US" sz="1749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TECNOLÓGICO NACIONAL DE MÉXICO</a:t>
            </a:r>
          </a:p>
          <a:p>
            <a:pPr algn="ctr">
              <a:lnSpc>
                <a:spcPts val="2290"/>
              </a:lnSpc>
              <a:spcBef>
                <a:spcPct val="0"/>
              </a:spcBef>
            </a:pPr>
            <a:r>
              <a:rPr lang="en-US" sz="1749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UNIDAD ACADÉMICA VENUSTIANO CARRANZA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44275" y="1443749"/>
            <a:ext cx="9497126" cy="5714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290"/>
              </a:lnSpc>
              <a:spcBef>
                <a:spcPct val="0"/>
              </a:spcBef>
            </a:pPr>
            <a:r>
              <a:rPr lang="en-US" sz="1749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“INGENIERÍA EN SISTEMAS COMPUTACIONALES”</a:t>
            </a:r>
          </a:p>
          <a:p>
            <a:pPr algn="ctr">
              <a:lnSpc>
                <a:spcPts val="2290"/>
              </a:lnSpc>
              <a:spcBef>
                <a:spcPct val="0"/>
              </a:spcBef>
            </a:pPr>
            <a:r>
              <a:rPr lang="en-US" sz="1749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ADMINISTRACION DE BASE DE DATOS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285405" y="2293085"/>
            <a:ext cx="7429984" cy="54117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290"/>
              </a:lnSpc>
              <a:spcBef>
                <a:spcPct val="0"/>
              </a:spcBef>
            </a:pPr>
            <a:r>
              <a:rPr lang="en-US" sz="1749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ACTIVIDAD </a:t>
            </a:r>
          </a:p>
          <a:p>
            <a:pPr algn="ctr"/>
            <a:r>
              <a:rPr lang="es-MX" sz="1600" b="1" dirty="0">
                <a:latin typeface="-apple-system"/>
              </a:rPr>
              <a:t>ACTIVIDAD 4.2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773956" y="3132126"/>
            <a:ext cx="2437765" cy="27660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290"/>
              </a:lnSpc>
              <a:spcBef>
                <a:spcPct val="0"/>
              </a:spcBef>
            </a:pPr>
            <a:r>
              <a:rPr lang="en-US" sz="1749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RPESENTA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199567" y="4815497"/>
            <a:ext cx="6094413" cy="5714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290"/>
              </a:lnSpc>
              <a:spcBef>
                <a:spcPct val="0"/>
              </a:spcBef>
            </a:pPr>
            <a:r>
              <a:rPr lang="en-US" sz="1749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DOCENTE</a:t>
            </a:r>
          </a:p>
          <a:p>
            <a:pPr algn="ctr">
              <a:lnSpc>
                <a:spcPts val="2290"/>
              </a:lnSpc>
              <a:spcBef>
                <a:spcPct val="0"/>
              </a:spcBef>
            </a:pPr>
            <a:r>
              <a:rPr lang="en-US" sz="1749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ING. FRANCISCO JAVIER MINGO VELAZQUEZ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229401" y="6083702"/>
            <a:ext cx="8339464" cy="27660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290"/>
              </a:lnSpc>
              <a:spcBef>
                <a:spcPct val="0"/>
              </a:spcBef>
            </a:pPr>
            <a:r>
              <a:rPr lang="en-US" sz="1749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29 DE MAYO DE 2026 VENUSTIANO CARRANZA, CHIAPAS</a:t>
            </a:r>
          </a:p>
        </p:txBody>
      </p:sp>
      <p:graphicFrame>
        <p:nvGraphicFramePr>
          <p:cNvPr id="11" name="Tabla 10">
            <a:extLst>
              <a:ext uri="{FF2B5EF4-FFF2-40B4-BE49-F238E27FC236}">
                <a16:creationId xmlns:a16="http://schemas.microsoft.com/office/drawing/2014/main" id="{323F15EB-498F-21AC-540F-B4832C9E5A89}"/>
              </a:ext>
            </a:extLst>
          </p:cNvPr>
          <p:cNvGraphicFramePr>
            <a:graphicFrameLocks noGrp="1"/>
          </p:cNvGraphicFramePr>
          <p:nvPr/>
        </p:nvGraphicFramePr>
        <p:xfrm>
          <a:off x="3656647" y="3803787"/>
          <a:ext cx="5484972" cy="670386"/>
        </p:xfrm>
        <a:graphic>
          <a:graphicData uri="http://schemas.openxmlformats.org/drawingml/2006/table">
            <a:tbl>
              <a:tblPr/>
              <a:tblGrid>
                <a:gridCol w="2742486">
                  <a:extLst>
                    <a:ext uri="{9D8B030D-6E8A-4147-A177-3AD203B41FA5}">
                      <a16:colId xmlns:a16="http://schemas.microsoft.com/office/drawing/2014/main" val="3099188907"/>
                    </a:ext>
                  </a:extLst>
                </a:gridCol>
                <a:gridCol w="2742486">
                  <a:extLst>
                    <a:ext uri="{9D8B030D-6E8A-4147-A177-3AD203B41FA5}">
                      <a16:colId xmlns:a16="http://schemas.microsoft.com/office/drawing/2014/main" val="3475046580"/>
                    </a:ext>
                  </a:extLst>
                </a:gridCol>
              </a:tblGrid>
              <a:tr h="335193">
                <a:tc>
                  <a:txBody>
                    <a:bodyPr/>
                    <a:lstStyle/>
                    <a:p>
                      <a:r>
                        <a:rPr lang="es-MX" sz="1200" b="1">
                          <a:effectLst/>
                        </a:rPr>
                        <a:t>NOMBRE DEL ALUMNO</a:t>
                      </a:r>
                    </a:p>
                  </a:txBody>
                  <a:tcPr marL="60944" marR="60944" marT="30472" marB="30472" anchor="ctr">
                    <a:lnL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200" b="1">
                          <a:effectLst/>
                        </a:rPr>
                        <a:t>MATRICULA</a:t>
                      </a:r>
                    </a:p>
                  </a:txBody>
                  <a:tcPr marL="60944" marR="60944" marT="30472" marB="30472" anchor="ctr">
                    <a:lnL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9815266"/>
                  </a:ext>
                </a:extLst>
              </a:tr>
              <a:tr h="335193">
                <a:tc>
                  <a:txBody>
                    <a:bodyPr/>
                    <a:lstStyle/>
                    <a:p>
                      <a:r>
                        <a:rPr lang="es-MX" sz="1200" b="1">
                          <a:effectLst/>
                        </a:rPr>
                        <a:t>Amaury Jahaziel Gordillo Hernandez</a:t>
                      </a:r>
                    </a:p>
                  </a:txBody>
                  <a:tcPr marL="60944" marR="60944" marT="30472" marB="30472" anchor="ctr">
                    <a:lnL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200" b="1" dirty="0">
                          <a:effectLst/>
                        </a:rPr>
                        <a:t>231260074</a:t>
                      </a:r>
                    </a:p>
                  </a:txBody>
                  <a:tcPr marL="60944" marR="60944" marT="30472" marB="30472" anchor="ctr">
                    <a:lnL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8113360"/>
                  </a:ext>
                </a:extLst>
              </a:tr>
            </a:tbl>
          </a:graphicData>
        </a:graphic>
      </p:graphicFrame>
      <p:sp>
        <p:nvSpPr>
          <p:cNvPr id="12" name="Rectangle 1">
            <a:extLst>
              <a:ext uri="{FF2B5EF4-FFF2-40B4-BE49-F238E27FC236}">
                <a16:creationId xmlns:a16="http://schemas.microsoft.com/office/drawing/2014/main" id="{04D78428-F81B-1E82-50A7-BDB098FC5F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6647" y="3681028"/>
            <a:ext cx="123143" cy="2461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0944" tIns="30472" rIns="60944" bIns="30472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MX" sz="1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822960"/>
          </a:xfrm>
          <a:prstGeom prst="rect">
            <a:avLst/>
          </a:prstGeom>
          <a:solidFill>
            <a:srgbClr val="124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488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Índice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051560"/>
            <a:ext cx="54864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350" b="0">
                <a:solidFill>
                  <a:srgbClr val="1A1A2E"/>
                </a:solidFill>
                <a:latin typeface="Calibri"/>
              </a:rPr>
              <a:t>01  Introducción</a:t>
            </a:r>
          </a:p>
          <a:p>
            <a:pPr algn="l">
              <a:spcBef>
                <a:spcPts val="400"/>
              </a:spcBef>
            </a:pPr>
            <a:r>
              <a:rPr sz="1350" b="0">
                <a:solidFill>
                  <a:srgbClr val="1A1A2E"/>
                </a:solidFill>
                <a:latin typeface="Calibri"/>
              </a:rPr>
              <a:t>02  Objetivo</a:t>
            </a:r>
          </a:p>
          <a:p>
            <a:pPr algn="l">
              <a:spcBef>
                <a:spcPts val="400"/>
              </a:spcBef>
            </a:pPr>
            <a:r>
              <a:rPr sz="1350" b="0">
                <a:solidFill>
                  <a:srgbClr val="1A1A2E"/>
                </a:solidFill>
                <a:latin typeface="Calibri"/>
              </a:rPr>
              <a:t>03  Justificación</a:t>
            </a:r>
          </a:p>
          <a:p>
            <a:pPr algn="l">
              <a:spcBef>
                <a:spcPts val="400"/>
              </a:spcBef>
            </a:pPr>
            <a:r>
              <a:rPr sz="1350" b="0">
                <a:solidFill>
                  <a:srgbClr val="1A1A2E"/>
                </a:solidFill>
                <a:latin typeface="Calibri"/>
              </a:rPr>
              <a:t>04  Arquitectura de microservicios</a:t>
            </a:r>
          </a:p>
          <a:p>
            <a:pPr algn="l">
              <a:spcBef>
                <a:spcPts val="400"/>
              </a:spcBef>
            </a:pPr>
            <a:r>
              <a:rPr sz="1350" b="0">
                <a:solidFill>
                  <a:srgbClr val="1A1A2E"/>
                </a:solidFill>
                <a:latin typeface="Calibri"/>
              </a:rPr>
              <a:t>05  Niveles de logging</a:t>
            </a:r>
          </a:p>
          <a:p>
            <a:pPr algn="l">
              <a:spcBef>
                <a:spcPts val="400"/>
              </a:spcBef>
            </a:pPr>
            <a:r>
              <a:rPr sz="1350" b="0">
                <a:solidFill>
                  <a:srgbClr val="1A1A2E"/>
                </a:solidFill>
                <a:latin typeface="Calibri"/>
              </a:rPr>
              <a:t>06  Tipos de logs utilizados</a:t>
            </a:r>
          </a:p>
          <a:p>
            <a:pPr algn="l">
              <a:spcBef>
                <a:spcPts val="400"/>
              </a:spcBef>
            </a:pPr>
            <a:r>
              <a:rPr sz="1350" b="0">
                <a:solidFill>
                  <a:srgbClr val="1A1A2E"/>
                </a:solidFill>
                <a:latin typeface="Calibri"/>
              </a:rPr>
              <a:t>07  Configuración de logs – Microservicio Student</a:t>
            </a:r>
          </a:p>
          <a:p>
            <a:pPr algn="l">
              <a:spcBef>
                <a:spcPts val="400"/>
              </a:spcBef>
            </a:pPr>
            <a:r>
              <a:rPr sz="1350" b="0">
                <a:solidFill>
                  <a:srgbClr val="1A1A2E"/>
                </a:solidFill>
                <a:latin typeface="Calibri"/>
              </a:rPr>
              <a:t>08  Validación de logs – Student</a:t>
            </a:r>
          </a:p>
          <a:p>
            <a:pPr algn="l">
              <a:spcBef>
                <a:spcPts val="400"/>
              </a:spcBef>
            </a:pPr>
            <a:r>
              <a:rPr sz="1350" b="0">
                <a:solidFill>
                  <a:srgbClr val="1A1A2E"/>
                </a:solidFill>
                <a:latin typeface="Calibri"/>
              </a:rPr>
              <a:t>09  Validación conexión con MySQL</a:t>
            </a:r>
          </a:p>
          <a:p>
            <a:pPr algn="l">
              <a:spcBef>
                <a:spcPts val="400"/>
              </a:spcBef>
            </a:pPr>
            <a:r>
              <a:rPr sz="1350" b="0">
                <a:solidFill>
                  <a:srgbClr val="1A1A2E"/>
                </a:solidFill>
                <a:latin typeface="Calibri"/>
              </a:rPr>
              <a:t>10  Detección de errores – Student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1051560"/>
            <a:ext cx="54864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350" b="0">
                <a:solidFill>
                  <a:srgbClr val="1A1A2E"/>
                </a:solidFill>
                <a:latin typeface="Calibri"/>
              </a:rPr>
              <a:t>11  Verificación funcionamiento – Student</a:t>
            </a:r>
          </a:p>
          <a:p>
            <a:pPr algn="l">
              <a:spcBef>
                <a:spcPts val="400"/>
              </a:spcBef>
            </a:pPr>
            <a:r>
              <a:rPr sz="1350" b="0">
                <a:solidFill>
                  <a:srgbClr val="1A1A2E"/>
                </a:solidFill>
                <a:latin typeface="Calibri"/>
              </a:rPr>
              <a:t>12  Configuración de logs – Microservicio Course</a:t>
            </a:r>
          </a:p>
          <a:p>
            <a:pPr algn="l">
              <a:spcBef>
                <a:spcPts val="400"/>
              </a:spcBef>
            </a:pPr>
            <a:r>
              <a:rPr sz="1350" b="0">
                <a:solidFill>
                  <a:srgbClr val="1A1A2E"/>
                </a:solidFill>
                <a:latin typeface="Calibri"/>
              </a:rPr>
              <a:t>13  Validación de logs – Course</a:t>
            </a:r>
          </a:p>
          <a:p>
            <a:pPr algn="l">
              <a:spcBef>
                <a:spcPts val="400"/>
              </a:spcBef>
            </a:pPr>
            <a:r>
              <a:rPr sz="1350" b="0">
                <a:solidFill>
                  <a:srgbClr val="1A1A2E"/>
                </a:solidFill>
                <a:latin typeface="Calibri"/>
              </a:rPr>
              <a:t>14  Validación conexión con MySQL</a:t>
            </a:r>
          </a:p>
          <a:p>
            <a:pPr algn="l">
              <a:spcBef>
                <a:spcPts val="400"/>
              </a:spcBef>
            </a:pPr>
            <a:r>
              <a:rPr sz="1350" b="0">
                <a:solidFill>
                  <a:srgbClr val="1A1A2E"/>
                </a:solidFill>
                <a:latin typeface="Calibri"/>
              </a:rPr>
              <a:t>15  Detección de errores – Course</a:t>
            </a:r>
          </a:p>
          <a:p>
            <a:pPr algn="l">
              <a:spcBef>
                <a:spcPts val="400"/>
              </a:spcBef>
            </a:pPr>
            <a:r>
              <a:rPr sz="1350" b="0">
                <a:solidFill>
                  <a:srgbClr val="1A1A2E"/>
                </a:solidFill>
                <a:latin typeface="Calibri"/>
              </a:rPr>
              <a:t>16  Verificación funcionamiento – Course</a:t>
            </a:r>
          </a:p>
          <a:p>
            <a:pPr algn="l">
              <a:spcBef>
                <a:spcPts val="400"/>
              </a:spcBef>
            </a:pPr>
            <a:r>
              <a:rPr sz="1350" b="0">
                <a:solidFill>
                  <a:srgbClr val="1A1A2E"/>
                </a:solidFill>
                <a:latin typeface="Calibri"/>
              </a:rPr>
              <a:t>17  Monitoreo de consultas SQL</a:t>
            </a:r>
          </a:p>
          <a:p>
            <a:pPr algn="l">
              <a:spcBef>
                <a:spcPts val="400"/>
              </a:spcBef>
            </a:pPr>
            <a:r>
              <a:rPr sz="1350" b="0">
                <a:solidFill>
                  <a:srgbClr val="1A1A2E"/>
                </a:solidFill>
                <a:latin typeface="Calibri"/>
              </a:rPr>
              <a:t>18  Comunicación entre microservicios</a:t>
            </a:r>
          </a:p>
          <a:p>
            <a:pPr algn="l">
              <a:spcBef>
                <a:spcPts val="400"/>
              </a:spcBef>
            </a:pPr>
            <a:r>
              <a:rPr sz="1350" b="0">
                <a:solidFill>
                  <a:srgbClr val="1A1A2E"/>
                </a:solidFill>
                <a:latin typeface="Calibri"/>
              </a:rPr>
              <a:t>19  Conclusión</a:t>
            </a:r>
          </a:p>
          <a:p>
            <a:pPr algn="l">
              <a:spcBef>
                <a:spcPts val="400"/>
              </a:spcBef>
            </a:pPr>
            <a:r>
              <a:rPr sz="1350" b="0">
                <a:solidFill>
                  <a:srgbClr val="1A1A2E"/>
                </a:solidFill>
                <a:latin typeface="Calibri"/>
              </a:rPr>
              <a:t>20  Fuentes de información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80760" y="1051560"/>
            <a:ext cx="27432" cy="5029200"/>
          </a:xfrm>
          <a:prstGeom prst="rect">
            <a:avLst/>
          </a:prstGeom>
          <a:solidFill>
            <a:srgbClr val="BB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822960"/>
          </a:xfrm>
          <a:prstGeom prst="rect">
            <a:avLst/>
          </a:prstGeom>
          <a:solidFill>
            <a:srgbClr val="124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488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Introducción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005840"/>
            <a:ext cx="64008" cy="347472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1005840"/>
            <a:ext cx="10789920" cy="29136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500"/>
              </a:spcBef>
            </a:pPr>
            <a:r>
              <a:rPr sz="1500" b="0" dirty="0">
                <a:solidFill>
                  <a:srgbClr val="1A1A2E"/>
                </a:solidFill>
                <a:latin typeface="Calibri"/>
              </a:rPr>
              <a:t>Los logs son </a:t>
            </a:r>
            <a:r>
              <a:rPr sz="1500" b="0" dirty="0" err="1">
                <a:solidFill>
                  <a:srgbClr val="1A1A2E"/>
                </a:solidFill>
                <a:latin typeface="Calibri"/>
              </a:rPr>
              <a:t>registros</a:t>
            </a:r>
            <a:r>
              <a:rPr sz="1500" b="0" dirty="0">
                <a:solidFill>
                  <a:srgbClr val="1A1A2E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1A1A2E"/>
                </a:solidFill>
                <a:latin typeface="Calibri"/>
              </a:rPr>
              <a:t>generados</a:t>
            </a:r>
            <a:r>
              <a:rPr sz="1500" b="0" dirty="0">
                <a:solidFill>
                  <a:srgbClr val="1A1A2E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1A1A2E"/>
                </a:solidFill>
                <a:latin typeface="Calibri"/>
              </a:rPr>
              <a:t>automáticamente</a:t>
            </a:r>
            <a:r>
              <a:rPr sz="1500" b="0" dirty="0">
                <a:solidFill>
                  <a:srgbClr val="1A1A2E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1A1A2E"/>
                </a:solidFill>
                <a:latin typeface="Calibri"/>
              </a:rPr>
              <a:t>por</a:t>
            </a:r>
            <a:r>
              <a:rPr sz="1500" b="0" dirty="0">
                <a:solidFill>
                  <a:srgbClr val="1A1A2E"/>
                </a:solidFill>
                <a:latin typeface="Calibri"/>
              </a:rPr>
              <a:t> las </a:t>
            </a:r>
            <a:r>
              <a:rPr sz="1500" b="0" dirty="0" err="1">
                <a:solidFill>
                  <a:srgbClr val="1A1A2E"/>
                </a:solidFill>
                <a:latin typeface="Calibri"/>
              </a:rPr>
              <a:t>aplicaciones</a:t>
            </a:r>
            <a:r>
              <a:rPr sz="1500" b="0" dirty="0">
                <a:solidFill>
                  <a:srgbClr val="1A1A2E"/>
                </a:solidFill>
                <a:latin typeface="Calibri"/>
              </a:rPr>
              <a:t> para </a:t>
            </a:r>
            <a:r>
              <a:rPr sz="1500" b="0" dirty="0" err="1">
                <a:solidFill>
                  <a:srgbClr val="1A1A2E"/>
                </a:solidFill>
                <a:latin typeface="Calibri"/>
              </a:rPr>
              <a:t>monitorear</a:t>
            </a:r>
            <a:r>
              <a:rPr sz="1500" b="0" dirty="0">
                <a:solidFill>
                  <a:srgbClr val="1A1A2E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1A1A2E"/>
                </a:solidFill>
                <a:latin typeface="Calibri"/>
              </a:rPr>
              <a:t>el</a:t>
            </a:r>
            <a:r>
              <a:rPr sz="1500" b="0" dirty="0">
                <a:solidFill>
                  <a:srgbClr val="1A1A2E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1A1A2E"/>
                </a:solidFill>
                <a:latin typeface="Calibri"/>
              </a:rPr>
              <a:t>funcionamiento</a:t>
            </a:r>
            <a:r>
              <a:rPr sz="1500" b="0" dirty="0">
                <a:solidFill>
                  <a:srgbClr val="1A1A2E"/>
                </a:solidFill>
                <a:latin typeface="Calibri"/>
              </a:rPr>
              <a:t> del </a:t>
            </a:r>
            <a:r>
              <a:rPr sz="1500" b="0" dirty="0" err="1">
                <a:solidFill>
                  <a:srgbClr val="1A1A2E"/>
                </a:solidFill>
                <a:latin typeface="Calibri"/>
              </a:rPr>
              <a:t>sistema</a:t>
            </a:r>
            <a:r>
              <a:rPr sz="1500" b="0" dirty="0">
                <a:solidFill>
                  <a:srgbClr val="1A1A2E"/>
                </a:solidFill>
                <a:latin typeface="Calibri"/>
              </a:rPr>
              <a:t>.</a:t>
            </a:r>
          </a:p>
          <a:p>
            <a:pPr algn="l">
              <a:spcBef>
                <a:spcPts val="500"/>
              </a:spcBef>
            </a:pPr>
            <a:endParaRPr sz="1500" b="0" dirty="0">
              <a:solidFill>
                <a:srgbClr val="1A1A2E"/>
              </a:solidFill>
              <a:latin typeface="Calibri"/>
            </a:endParaRPr>
          </a:p>
          <a:p>
            <a:pPr algn="l">
              <a:spcBef>
                <a:spcPts val="500"/>
              </a:spcBef>
            </a:pPr>
            <a:r>
              <a:rPr sz="1500" b="0" dirty="0">
                <a:solidFill>
                  <a:srgbClr val="1A1A2E"/>
                </a:solidFill>
                <a:latin typeface="Calibri"/>
              </a:rPr>
              <a:t>En </a:t>
            </a:r>
            <a:r>
              <a:rPr sz="1500" b="0" dirty="0" err="1">
                <a:solidFill>
                  <a:srgbClr val="1A1A2E"/>
                </a:solidFill>
                <a:latin typeface="Calibri"/>
              </a:rPr>
              <a:t>arquitecturas</a:t>
            </a:r>
            <a:r>
              <a:rPr sz="1500" b="0" dirty="0">
                <a:solidFill>
                  <a:srgbClr val="1A1A2E"/>
                </a:solidFill>
                <a:latin typeface="Calibri"/>
              </a:rPr>
              <a:t> de </a:t>
            </a:r>
            <a:r>
              <a:rPr sz="1500" b="0" dirty="0" err="1">
                <a:solidFill>
                  <a:srgbClr val="1A1A2E"/>
                </a:solidFill>
                <a:latin typeface="Calibri"/>
              </a:rPr>
              <a:t>microservicios</a:t>
            </a:r>
            <a:r>
              <a:rPr sz="1500" b="0" dirty="0">
                <a:solidFill>
                  <a:srgbClr val="1A1A2E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1A1A2E"/>
                </a:solidFill>
                <a:latin typeface="Calibri"/>
              </a:rPr>
              <a:t>desarrolladas</a:t>
            </a:r>
            <a:r>
              <a:rPr sz="1500" b="0" dirty="0">
                <a:solidFill>
                  <a:srgbClr val="1A1A2E"/>
                </a:solidFill>
                <a:latin typeface="Calibri"/>
              </a:rPr>
              <a:t> con Spring Boot, </a:t>
            </a:r>
            <a:r>
              <a:rPr sz="1500" b="0" dirty="0" err="1">
                <a:solidFill>
                  <a:srgbClr val="1A1A2E"/>
                </a:solidFill>
                <a:latin typeface="Calibri"/>
              </a:rPr>
              <a:t>los</a:t>
            </a:r>
            <a:r>
              <a:rPr sz="1500" b="0" dirty="0">
                <a:solidFill>
                  <a:srgbClr val="1A1A2E"/>
                </a:solidFill>
                <a:latin typeface="Calibri"/>
              </a:rPr>
              <a:t> logs </a:t>
            </a:r>
            <a:r>
              <a:rPr sz="1500" b="0" dirty="0" err="1">
                <a:solidFill>
                  <a:srgbClr val="1A1A2E"/>
                </a:solidFill>
                <a:latin typeface="Calibri"/>
              </a:rPr>
              <a:t>permiten</a:t>
            </a:r>
            <a:r>
              <a:rPr sz="1500" b="0" dirty="0">
                <a:solidFill>
                  <a:srgbClr val="1A1A2E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1A1A2E"/>
                </a:solidFill>
                <a:latin typeface="Calibri"/>
              </a:rPr>
              <a:t>validar</a:t>
            </a:r>
            <a:r>
              <a:rPr sz="1500" b="0" dirty="0">
                <a:solidFill>
                  <a:srgbClr val="1A1A2E"/>
                </a:solidFill>
                <a:latin typeface="Calibri"/>
              </a:rPr>
              <a:t>:</a:t>
            </a:r>
          </a:p>
          <a:p>
            <a:pPr algn="l">
              <a:spcBef>
                <a:spcPts val="500"/>
              </a:spcBef>
            </a:pPr>
            <a:r>
              <a:rPr sz="1500" b="0" dirty="0">
                <a:solidFill>
                  <a:srgbClr val="1A1A2E"/>
                </a:solidFill>
                <a:latin typeface="Calibri"/>
              </a:rPr>
              <a:t>  • El </a:t>
            </a:r>
            <a:r>
              <a:rPr sz="1500" b="0" dirty="0" err="1">
                <a:solidFill>
                  <a:srgbClr val="1A1A2E"/>
                </a:solidFill>
                <a:latin typeface="Calibri"/>
              </a:rPr>
              <a:t>inicio</a:t>
            </a:r>
            <a:r>
              <a:rPr sz="1500" b="0" dirty="0">
                <a:solidFill>
                  <a:srgbClr val="1A1A2E"/>
                </a:solidFill>
                <a:latin typeface="Calibri"/>
              </a:rPr>
              <a:t> y </a:t>
            </a:r>
            <a:r>
              <a:rPr sz="1500" b="0" dirty="0" err="1">
                <a:solidFill>
                  <a:srgbClr val="1A1A2E"/>
                </a:solidFill>
                <a:latin typeface="Calibri"/>
              </a:rPr>
              <a:t>estado</a:t>
            </a:r>
            <a:r>
              <a:rPr sz="1500" b="0" dirty="0">
                <a:solidFill>
                  <a:srgbClr val="1A1A2E"/>
                </a:solidFill>
                <a:latin typeface="Calibri"/>
              </a:rPr>
              <a:t> de </a:t>
            </a:r>
            <a:r>
              <a:rPr sz="1500" b="0" dirty="0" err="1">
                <a:solidFill>
                  <a:srgbClr val="1A1A2E"/>
                </a:solidFill>
                <a:latin typeface="Calibri"/>
              </a:rPr>
              <a:t>los</a:t>
            </a:r>
            <a:r>
              <a:rPr sz="1500" b="0" dirty="0">
                <a:solidFill>
                  <a:srgbClr val="1A1A2E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1A1A2E"/>
                </a:solidFill>
                <a:latin typeface="Calibri"/>
              </a:rPr>
              <a:t>servicios</a:t>
            </a:r>
            <a:endParaRPr sz="1500" b="0" dirty="0">
              <a:solidFill>
                <a:srgbClr val="1A1A2E"/>
              </a:solidFill>
              <a:latin typeface="Calibri"/>
            </a:endParaRPr>
          </a:p>
          <a:p>
            <a:pPr algn="l">
              <a:spcBef>
                <a:spcPts val="500"/>
              </a:spcBef>
            </a:pPr>
            <a:r>
              <a:rPr sz="1500" b="0" dirty="0">
                <a:solidFill>
                  <a:srgbClr val="1A1A2E"/>
                </a:solidFill>
                <a:latin typeface="Calibri"/>
              </a:rPr>
              <a:t>  • La </a:t>
            </a:r>
            <a:r>
              <a:rPr sz="1500" b="0" dirty="0" err="1">
                <a:solidFill>
                  <a:srgbClr val="1A1A2E"/>
                </a:solidFill>
                <a:latin typeface="Calibri"/>
              </a:rPr>
              <a:t>conexión</a:t>
            </a:r>
            <a:r>
              <a:rPr sz="1500" b="0" dirty="0">
                <a:solidFill>
                  <a:srgbClr val="1A1A2E"/>
                </a:solidFill>
                <a:latin typeface="Calibri"/>
              </a:rPr>
              <a:t> con bases de </a:t>
            </a:r>
            <a:r>
              <a:rPr sz="1500" b="0" dirty="0" err="1">
                <a:solidFill>
                  <a:srgbClr val="1A1A2E"/>
                </a:solidFill>
                <a:latin typeface="Calibri"/>
              </a:rPr>
              <a:t>datos</a:t>
            </a:r>
            <a:r>
              <a:rPr sz="1500" b="0" dirty="0">
                <a:solidFill>
                  <a:srgbClr val="1A1A2E"/>
                </a:solidFill>
                <a:latin typeface="Calibri"/>
              </a:rPr>
              <a:t> (MySQL, MySQL)</a:t>
            </a:r>
          </a:p>
          <a:p>
            <a:pPr algn="l">
              <a:spcBef>
                <a:spcPts val="500"/>
              </a:spcBef>
            </a:pPr>
            <a:r>
              <a:rPr sz="1500" b="0" dirty="0">
                <a:solidFill>
                  <a:srgbClr val="1A1A2E"/>
                </a:solidFill>
                <a:latin typeface="Calibri"/>
              </a:rPr>
              <a:t>  • La </a:t>
            </a:r>
            <a:r>
              <a:rPr sz="1500" b="0" dirty="0" err="1">
                <a:solidFill>
                  <a:srgbClr val="1A1A2E"/>
                </a:solidFill>
                <a:latin typeface="Calibri"/>
              </a:rPr>
              <a:t>comunicación</a:t>
            </a:r>
            <a:r>
              <a:rPr sz="1500" b="0" dirty="0">
                <a:solidFill>
                  <a:srgbClr val="1A1A2E"/>
                </a:solidFill>
                <a:latin typeface="Calibri"/>
              </a:rPr>
              <a:t> entre </a:t>
            </a:r>
            <a:r>
              <a:rPr sz="1500" b="0" dirty="0" err="1">
                <a:solidFill>
                  <a:srgbClr val="1A1A2E"/>
                </a:solidFill>
                <a:latin typeface="Calibri"/>
              </a:rPr>
              <a:t>microservicios</a:t>
            </a:r>
            <a:r>
              <a:rPr sz="1500" b="0" dirty="0">
                <a:solidFill>
                  <a:srgbClr val="1A1A2E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1A1A2E"/>
                </a:solidFill>
                <a:latin typeface="Calibri"/>
              </a:rPr>
              <a:t>vía</a:t>
            </a:r>
            <a:r>
              <a:rPr sz="1500" b="0" dirty="0">
                <a:solidFill>
                  <a:srgbClr val="1A1A2E"/>
                </a:solidFill>
                <a:latin typeface="Calibri"/>
              </a:rPr>
              <a:t> Eureka Server</a:t>
            </a:r>
          </a:p>
          <a:p>
            <a:pPr algn="l">
              <a:spcBef>
                <a:spcPts val="500"/>
              </a:spcBef>
            </a:pPr>
            <a:r>
              <a:rPr sz="1500" b="0" dirty="0">
                <a:solidFill>
                  <a:srgbClr val="1A1A2E"/>
                </a:solidFill>
                <a:latin typeface="Calibri"/>
              </a:rPr>
              <a:t>  • La </a:t>
            </a:r>
            <a:r>
              <a:rPr sz="1500" b="0" dirty="0" err="1">
                <a:solidFill>
                  <a:srgbClr val="1A1A2E"/>
                </a:solidFill>
                <a:latin typeface="Calibri"/>
              </a:rPr>
              <a:t>ejecución</a:t>
            </a:r>
            <a:r>
              <a:rPr sz="1500" b="0" dirty="0">
                <a:solidFill>
                  <a:srgbClr val="1A1A2E"/>
                </a:solidFill>
                <a:latin typeface="Calibri"/>
              </a:rPr>
              <a:t> de </a:t>
            </a:r>
            <a:r>
              <a:rPr sz="1500" b="0" dirty="0" err="1">
                <a:solidFill>
                  <a:srgbClr val="1A1A2E"/>
                </a:solidFill>
                <a:latin typeface="Calibri"/>
              </a:rPr>
              <a:t>peticiones</a:t>
            </a:r>
            <a:r>
              <a:rPr sz="1500" b="0" dirty="0">
                <a:solidFill>
                  <a:srgbClr val="1A1A2E"/>
                </a:solidFill>
                <a:latin typeface="Calibri"/>
              </a:rPr>
              <a:t> HTTP y </a:t>
            </a:r>
            <a:r>
              <a:rPr sz="1500" b="0" dirty="0" err="1">
                <a:solidFill>
                  <a:srgbClr val="1A1A2E"/>
                </a:solidFill>
                <a:latin typeface="Calibri"/>
              </a:rPr>
              <a:t>consultas</a:t>
            </a:r>
            <a:r>
              <a:rPr sz="1500" b="0" dirty="0">
                <a:solidFill>
                  <a:srgbClr val="1A1A2E"/>
                </a:solidFill>
                <a:latin typeface="Calibri"/>
              </a:rPr>
              <a:t> SQL</a:t>
            </a:r>
          </a:p>
          <a:p>
            <a:pPr algn="l">
              <a:spcBef>
                <a:spcPts val="500"/>
              </a:spcBef>
            </a:pPr>
            <a:endParaRPr sz="1500" b="0" dirty="0">
              <a:solidFill>
                <a:srgbClr val="1A1A2E"/>
              </a:solidFill>
              <a:latin typeface="Calibri"/>
            </a:endParaRPr>
          </a:p>
          <a:p>
            <a:pPr algn="l">
              <a:spcBef>
                <a:spcPts val="500"/>
              </a:spcBef>
            </a:pPr>
            <a:r>
              <a:rPr sz="1500" b="0" dirty="0">
                <a:solidFill>
                  <a:srgbClr val="1A1A2E"/>
                </a:solidFill>
                <a:latin typeface="Calibri"/>
              </a:rPr>
              <a:t>Esta </a:t>
            </a:r>
            <a:r>
              <a:rPr sz="1500" b="0" dirty="0" err="1">
                <a:solidFill>
                  <a:srgbClr val="1A1A2E"/>
                </a:solidFill>
                <a:latin typeface="Calibri"/>
              </a:rPr>
              <a:t>práctica</a:t>
            </a:r>
            <a:r>
              <a:rPr sz="1500" b="0" dirty="0">
                <a:solidFill>
                  <a:srgbClr val="1A1A2E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1A1A2E"/>
                </a:solidFill>
                <a:latin typeface="Calibri"/>
              </a:rPr>
              <a:t>fue</a:t>
            </a:r>
            <a:r>
              <a:rPr sz="1500" b="0" dirty="0">
                <a:solidFill>
                  <a:srgbClr val="1A1A2E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1A1A2E"/>
                </a:solidFill>
                <a:latin typeface="Calibri"/>
              </a:rPr>
              <a:t>desarrollada</a:t>
            </a:r>
            <a:r>
              <a:rPr sz="1500" b="0" dirty="0">
                <a:solidFill>
                  <a:srgbClr val="1A1A2E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1A1A2E"/>
                </a:solidFill>
                <a:latin typeface="Calibri"/>
              </a:rPr>
              <a:t>en</a:t>
            </a:r>
            <a:r>
              <a:rPr sz="1500" b="0" dirty="0">
                <a:solidFill>
                  <a:srgbClr val="1A1A2E"/>
                </a:solidFill>
                <a:latin typeface="Calibri"/>
              </a:rPr>
              <a:t> Visual Studio Code con Spring Boot y Maven, </a:t>
            </a:r>
            <a:r>
              <a:rPr sz="1500" b="0" dirty="0" err="1">
                <a:solidFill>
                  <a:srgbClr val="1A1A2E"/>
                </a:solidFill>
                <a:latin typeface="Calibri"/>
              </a:rPr>
              <a:t>como</a:t>
            </a:r>
            <a:r>
              <a:rPr sz="1500" b="0" dirty="0">
                <a:solidFill>
                  <a:srgbClr val="1A1A2E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1A1A2E"/>
                </a:solidFill>
                <a:latin typeface="Calibri"/>
              </a:rPr>
              <a:t>herramienta</a:t>
            </a:r>
            <a:r>
              <a:rPr sz="1500" b="0" dirty="0">
                <a:solidFill>
                  <a:srgbClr val="1A1A2E"/>
                </a:solidFill>
                <a:latin typeface="Calibri"/>
              </a:rPr>
              <a:t> principal de </a:t>
            </a:r>
            <a:r>
              <a:rPr sz="1500" b="0" dirty="0" err="1">
                <a:solidFill>
                  <a:srgbClr val="1A1A2E"/>
                </a:solidFill>
                <a:latin typeface="Calibri"/>
              </a:rPr>
              <a:t>desarrollo</a:t>
            </a:r>
            <a:r>
              <a:rPr sz="1500" b="0" dirty="0">
                <a:solidFill>
                  <a:srgbClr val="1A1A2E"/>
                </a:solidFill>
                <a:latin typeface="Calibri"/>
              </a:rPr>
              <a:t> e </a:t>
            </a:r>
            <a:r>
              <a:rPr sz="1500" b="0" dirty="0" err="1">
                <a:solidFill>
                  <a:srgbClr val="1A1A2E"/>
                </a:solidFill>
                <a:latin typeface="Calibri"/>
              </a:rPr>
              <a:t>implementación</a:t>
            </a:r>
            <a:r>
              <a:rPr sz="1500" b="0" dirty="0">
                <a:solidFill>
                  <a:srgbClr val="1A1A2E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822960"/>
          </a:xfrm>
          <a:prstGeom prst="rect">
            <a:avLst/>
          </a:prstGeom>
          <a:solidFill>
            <a:srgbClr val="124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097280" y="1280160"/>
            <a:ext cx="9966960" cy="3200400"/>
          </a:xfrm>
          <a:prstGeom prst="rect">
            <a:avLst/>
          </a:prstGeom>
          <a:solidFill>
            <a:srgbClr val="124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097280" y="1280160"/>
            <a:ext cx="109728" cy="320040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417320" y="1371600"/>
            <a:ext cx="93268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</a:pPr>
            <a:r>
              <a:rPr sz="1600" b="1">
                <a:solidFill>
                  <a:srgbClr val="FFFFFF"/>
                </a:solidFill>
                <a:latin typeface="Calibri"/>
              </a:rPr>
              <a:t>Objetivo General</a:t>
            </a:r>
          </a:p>
          <a:p>
            <a:pPr algn="l">
              <a:spcBef>
                <a:spcPts val="800"/>
              </a:spcBef>
            </a:pPr>
            <a:endParaRPr sz="1600" b="1">
              <a:solidFill>
                <a:srgbClr val="FFFFFF"/>
              </a:solidFill>
              <a:latin typeface="Calibri"/>
            </a:endParaRPr>
          </a:p>
          <a:p>
            <a:pPr algn="l">
              <a:spcBef>
                <a:spcPts val="800"/>
              </a:spcBef>
            </a:pPr>
            <a:r>
              <a:rPr sz="1600" b="0">
                <a:solidFill>
                  <a:srgbClr val="FFFFFF"/>
                </a:solidFill>
                <a:latin typeface="Calibri"/>
              </a:rPr>
              <a:t>Validar el correcto funcionamiento de los microservicios mediante el monitoreo de logs generados por Spring Boot en VS Code, verificando conexiones con bases de datos, peticiones HTTP y comunicación entre servicios.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9664" y="9832"/>
            <a:ext cx="12188952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822960"/>
          </a:xfrm>
          <a:prstGeom prst="rect">
            <a:avLst/>
          </a:prstGeom>
          <a:solidFill>
            <a:srgbClr val="124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488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Justificación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005840"/>
            <a:ext cx="64008" cy="41148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1005840"/>
            <a:ext cx="10881360" cy="2039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500"/>
              </a:spcBef>
            </a:pPr>
            <a:r>
              <a:rPr sz="1450" b="0" dirty="0">
                <a:solidFill>
                  <a:srgbClr val="1A1A2E"/>
                </a:solidFill>
                <a:latin typeface="Calibri"/>
              </a:rPr>
              <a:t>La </a:t>
            </a:r>
            <a:r>
              <a:rPr sz="1450" b="0" dirty="0" err="1">
                <a:solidFill>
                  <a:srgbClr val="1A1A2E"/>
                </a:solidFill>
                <a:latin typeface="Calibri"/>
              </a:rPr>
              <a:t>validación</a:t>
            </a:r>
            <a:r>
              <a:rPr sz="1450" b="0" dirty="0">
                <a:solidFill>
                  <a:srgbClr val="1A1A2E"/>
                </a:solidFill>
                <a:latin typeface="Calibri"/>
              </a:rPr>
              <a:t> </a:t>
            </a:r>
            <a:r>
              <a:rPr sz="1450" b="0" dirty="0" err="1">
                <a:solidFill>
                  <a:srgbClr val="1A1A2E"/>
                </a:solidFill>
                <a:latin typeface="Calibri"/>
              </a:rPr>
              <a:t>mediante</a:t>
            </a:r>
            <a:r>
              <a:rPr sz="1450" b="0" dirty="0">
                <a:solidFill>
                  <a:srgbClr val="1A1A2E"/>
                </a:solidFill>
                <a:latin typeface="Calibri"/>
              </a:rPr>
              <a:t> logs es </a:t>
            </a:r>
            <a:r>
              <a:rPr sz="1450" b="0" dirty="0" err="1">
                <a:solidFill>
                  <a:srgbClr val="1A1A2E"/>
                </a:solidFill>
                <a:latin typeface="Calibri"/>
              </a:rPr>
              <a:t>una</a:t>
            </a:r>
            <a:r>
              <a:rPr sz="1450" b="0" dirty="0">
                <a:solidFill>
                  <a:srgbClr val="1A1A2E"/>
                </a:solidFill>
                <a:latin typeface="Calibri"/>
              </a:rPr>
              <a:t> </a:t>
            </a:r>
            <a:r>
              <a:rPr sz="1450" b="0" dirty="0" err="1">
                <a:solidFill>
                  <a:srgbClr val="1A1A2E"/>
                </a:solidFill>
                <a:latin typeface="Calibri"/>
              </a:rPr>
              <a:t>práctica</a:t>
            </a:r>
            <a:r>
              <a:rPr sz="1450" b="0" dirty="0">
                <a:solidFill>
                  <a:srgbClr val="1A1A2E"/>
                </a:solidFill>
                <a:latin typeface="Calibri"/>
              </a:rPr>
              <a:t> </a:t>
            </a:r>
            <a:r>
              <a:rPr sz="1450" b="0" dirty="0" err="1">
                <a:solidFill>
                  <a:srgbClr val="1A1A2E"/>
                </a:solidFill>
                <a:latin typeface="Calibri"/>
              </a:rPr>
              <a:t>esencial</a:t>
            </a:r>
            <a:r>
              <a:rPr sz="1450" b="0" dirty="0">
                <a:solidFill>
                  <a:srgbClr val="1A1A2E"/>
                </a:solidFill>
                <a:latin typeface="Calibri"/>
              </a:rPr>
              <a:t> </a:t>
            </a:r>
            <a:r>
              <a:rPr sz="1450" b="0" dirty="0" err="1">
                <a:solidFill>
                  <a:srgbClr val="1A1A2E"/>
                </a:solidFill>
                <a:latin typeface="Calibri"/>
              </a:rPr>
              <a:t>en</a:t>
            </a:r>
            <a:r>
              <a:rPr sz="1450" b="0" dirty="0">
                <a:solidFill>
                  <a:srgbClr val="1A1A2E"/>
                </a:solidFill>
                <a:latin typeface="Calibri"/>
              </a:rPr>
              <a:t> </a:t>
            </a:r>
            <a:r>
              <a:rPr sz="1450" b="0" dirty="0" err="1">
                <a:solidFill>
                  <a:srgbClr val="1A1A2E"/>
                </a:solidFill>
                <a:latin typeface="Calibri"/>
              </a:rPr>
              <a:t>el</a:t>
            </a:r>
            <a:r>
              <a:rPr sz="1450" b="0" dirty="0">
                <a:solidFill>
                  <a:srgbClr val="1A1A2E"/>
                </a:solidFill>
                <a:latin typeface="Calibri"/>
              </a:rPr>
              <a:t> </a:t>
            </a:r>
            <a:r>
              <a:rPr sz="1450" b="0" dirty="0" err="1">
                <a:solidFill>
                  <a:srgbClr val="1A1A2E"/>
                </a:solidFill>
                <a:latin typeface="Calibri"/>
              </a:rPr>
              <a:t>desarrollo</a:t>
            </a:r>
            <a:r>
              <a:rPr sz="1450" b="0" dirty="0">
                <a:solidFill>
                  <a:srgbClr val="1A1A2E"/>
                </a:solidFill>
                <a:latin typeface="Calibri"/>
              </a:rPr>
              <a:t> de </a:t>
            </a:r>
            <a:r>
              <a:rPr sz="1450" b="0" dirty="0" err="1">
                <a:solidFill>
                  <a:srgbClr val="1A1A2E"/>
                </a:solidFill>
                <a:latin typeface="Calibri"/>
              </a:rPr>
              <a:t>sistemas</a:t>
            </a:r>
            <a:r>
              <a:rPr sz="1450" b="0" dirty="0">
                <a:solidFill>
                  <a:srgbClr val="1A1A2E"/>
                </a:solidFill>
                <a:latin typeface="Calibri"/>
              </a:rPr>
              <a:t> </a:t>
            </a:r>
            <a:r>
              <a:rPr sz="1450" b="0" dirty="0" err="1">
                <a:solidFill>
                  <a:srgbClr val="1A1A2E"/>
                </a:solidFill>
                <a:latin typeface="Calibri"/>
              </a:rPr>
              <a:t>distribuidos</a:t>
            </a:r>
            <a:r>
              <a:rPr sz="1450" b="0" dirty="0">
                <a:solidFill>
                  <a:srgbClr val="1A1A2E"/>
                </a:solidFill>
                <a:latin typeface="Calibri"/>
              </a:rPr>
              <a:t> </a:t>
            </a:r>
            <a:r>
              <a:rPr sz="1450" b="0" dirty="0" err="1">
                <a:solidFill>
                  <a:srgbClr val="1A1A2E"/>
                </a:solidFill>
                <a:latin typeface="Calibri"/>
              </a:rPr>
              <a:t>porque</a:t>
            </a:r>
            <a:r>
              <a:rPr sz="1450" b="0" dirty="0">
                <a:solidFill>
                  <a:srgbClr val="1A1A2E"/>
                </a:solidFill>
                <a:latin typeface="Calibri"/>
              </a:rPr>
              <a:t>:</a:t>
            </a:r>
          </a:p>
          <a:p>
            <a:pPr algn="l">
              <a:spcBef>
                <a:spcPts val="500"/>
              </a:spcBef>
            </a:pPr>
            <a:endParaRPr sz="1450" b="0" dirty="0">
              <a:solidFill>
                <a:srgbClr val="1A1A2E"/>
              </a:solidFill>
              <a:latin typeface="Calibri"/>
            </a:endParaRPr>
          </a:p>
          <a:p>
            <a:pPr algn="l">
              <a:spcBef>
                <a:spcPts val="500"/>
              </a:spcBef>
            </a:pPr>
            <a:r>
              <a:rPr sz="1450" b="0" dirty="0">
                <a:solidFill>
                  <a:srgbClr val="1A1A2E"/>
                </a:solidFill>
                <a:latin typeface="Calibri"/>
              </a:rPr>
              <a:t>  • </a:t>
            </a:r>
            <a:r>
              <a:rPr sz="1450" b="0" dirty="0" err="1">
                <a:solidFill>
                  <a:srgbClr val="1A1A2E"/>
                </a:solidFill>
                <a:latin typeface="Calibri"/>
              </a:rPr>
              <a:t>Permite</a:t>
            </a:r>
            <a:r>
              <a:rPr sz="1450" b="0" dirty="0">
                <a:solidFill>
                  <a:srgbClr val="1A1A2E"/>
                </a:solidFill>
                <a:latin typeface="Calibri"/>
              </a:rPr>
              <a:t> </a:t>
            </a:r>
            <a:r>
              <a:rPr sz="1450" b="0" dirty="0" err="1">
                <a:solidFill>
                  <a:srgbClr val="1A1A2E"/>
                </a:solidFill>
                <a:latin typeface="Calibri"/>
              </a:rPr>
              <a:t>detectar</a:t>
            </a:r>
            <a:r>
              <a:rPr sz="1450" b="0" dirty="0">
                <a:solidFill>
                  <a:srgbClr val="1A1A2E"/>
                </a:solidFill>
                <a:latin typeface="Calibri"/>
              </a:rPr>
              <a:t> </a:t>
            </a:r>
            <a:r>
              <a:rPr sz="1450" b="0" dirty="0" err="1">
                <a:solidFill>
                  <a:srgbClr val="1A1A2E"/>
                </a:solidFill>
                <a:latin typeface="Calibri"/>
              </a:rPr>
              <a:t>errores</a:t>
            </a:r>
            <a:r>
              <a:rPr sz="1450" b="0" dirty="0">
                <a:solidFill>
                  <a:srgbClr val="1A1A2E"/>
                </a:solidFill>
                <a:latin typeface="Calibri"/>
              </a:rPr>
              <a:t> de </a:t>
            </a:r>
            <a:r>
              <a:rPr sz="1450" b="0" dirty="0" err="1">
                <a:solidFill>
                  <a:srgbClr val="1A1A2E"/>
                </a:solidFill>
                <a:latin typeface="Calibri"/>
              </a:rPr>
              <a:t>conexión</a:t>
            </a:r>
            <a:r>
              <a:rPr sz="1450" b="0" dirty="0">
                <a:solidFill>
                  <a:srgbClr val="1A1A2E"/>
                </a:solidFill>
                <a:latin typeface="Calibri"/>
              </a:rPr>
              <a:t>, </a:t>
            </a:r>
            <a:r>
              <a:rPr sz="1450" b="0" dirty="0" err="1">
                <a:solidFill>
                  <a:srgbClr val="1A1A2E"/>
                </a:solidFill>
                <a:latin typeface="Calibri"/>
              </a:rPr>
              <a:t>tiempo</a:t>
            </a:r>
            <a:r>
              <a:rPr sz="1450" b="0" dirty="0">
                <a:solidFill>
                  <a:srgbClr val="1A1A2E"/>
                </a:solidFill>
                <a:latin typeface="Calibri"/>
              </a:rPr>
              <a:t> de </a:t>
            </a:r>
            <a:r>
              <a:rPr sz="1450" b="0" dirty="0" err="1">
                <a:solidFill>
                  <a:srgbClr val="1A1A2E"/>
                </a:solidFill>
                <a:latin typeface="Calibri"/>
              </a:rPr>
              <a:t>respuesta</a:t>
            </a:r>
            <a:r>
              <a:rPr sz="1450" b="0" dirty="0">
                <a:solidFill>
                  <a:srgbClr val="1A1A2E"/>
                </a:solidFill>
                <a:latin typeface="Calibri"/>
              </a:rPr>
              <a:t> y </a:t>
            </a:r>
            <a:r>
              <a:rPr sz="1450" b="0" dirty="0" err="1">
                <a:solidFill>
                  <a:srgbClr val="1A1A2E"/>
                </a:solidFill>
                <a:latin typeface="Calibri"/>
              </a:rPr>
              <a:t>fallos</a:t>
            </a:r>
            <a:r>
              <a:rPr sz="1450" b="0" dirty="0">
                <a:solidFill>
                  <a:srgbClr val="1A1A2E"/>
                </a:solidFill>
                <a:latin typeface="Calibri"/>
              </a:rPr>
              <a:t> de </a:t>
            </a:r>
            <a:r>
              <a:rPr sz="1450" b="0" dirty="0" err="1">
                <a:solidFill>
                  <a:srgbClr val="1A1A2E"/>
                </a:solidFill>
                <a:latin typeface="Calibri"/>
              </a:rPr>
              <a:t>servicio</a:t>
            </a:r>
            <a:r>
              <a:rPr sz="1450" b="0" dirty="0">
                <a:solidFill>
                  <a:srgbClr val="1A1A2E"/>
                </a:solidFill>
                <a:latin typeface="Calibri"/>
              </a:rPr>
              <a:t> </a:t>
            </a:r>
            <a:r>
              <a:rPr sz="1450" b="0" dirty="0" err="1">
                <a:solidFill>
                  <a:srgbClr val="1A1A2E"/>
                </a:solidFill>
                <a:latin typeface="Calibri"/>
              </a:rPr>
              <a:t>en</a:t>
            </a:r>
            <a:r>
              <a:rPr sz="1450" b="0" dirty="0">
                <a:solidFill>
                  <a:srgbClr val="1A1A2E"/>
                </a:solidFill>
                <a:latin typeface="Calibri"/>
              </a:rPr>
              <a:t> </a:t>
            </a:r>
            <a:r>
              <a:rPr sz="1450" b="0" dirty="0" err="1">
                <a:solidFill>
                  <a:srgbClr val="1A1A2E"/>
                </a:solidFill>
                <a:latin typeface="Calibri"/>
              </a:rPr>
              <a:t>tiempo</a:t>
            </a:r>
            <a:r>
              <a:rPr sz="1450" b="0" dirty="0">
                <a:solidFill>
                  <a:srgbClr val="1A1A2E"/>
                </a:solidFill>
                <a:latin typeface="Calibri"/>
              </a:rPr>
              <a:t> real.</a:t>
            </a:r>
          </a:p>
          <a:p>
            <a:pPr algn="l">
              <a:spcBef>
                <a:spcPts val="500"/>
              </a:spcBef>
            </a:pPr>
            <a:r>
              <a:rPr sz="1450" b="0" dirty="0">
                <a:solidFill>
                  <a:srgbClr val="1A1A2E"/>
                </a:solidFill>
                <a:latin typeface="Calibri"/>
              </a:rPr>
              <a:t>  • </a:t>
            </a:r>
            <a:r>
              <a:rPr sz="1450" b="0" dirty="0" err="1">
                <a:solidFill>
                  <a:srgbClr val="1A1A2E"/>
                </a:solidFill>
                <a:latin typeface="Calibri"/>
              </a:rPr>
              <a:t>Facilita</a:t>
            </a:r>
            <a:r>
              <a:rPr sz="1450" b="0" dirty="0">
                <a:solidFill>
                  <a:srgbClr val="1A1A2E"/>
                </a:solidFill>
                <a:latin typeface="Calibri"/>
              </a:rPr>
              <a:t> </a:t>
            </a:r>
            <a:r>
              <a:rPr sz="1450" b="0" dirty="0" err="1">
                <a:solidFill>
                  <a:srgbClr val="1A1A2E"/>
                </a:solidFill>
                <a:latin typeface="Calibri"/>
              </a:rPr>
              <a:t>el</a:t>
            </a:r>
            <a:r>
              <a:rPr sz="1450" b="0" dirty="0">
                <a:solidFill>
                  <a:srgbClr val="1A1A2E"/>
                </a:solidFill>
                <a:latin typeface="Calibri"/>
              </a:rPr>
              <a:t> </a:t>
            </a:r>
            <a:r>
              <a:rPr sz="1450" b="0" dirty="0" err="1">
                <a:solidFill>
                  <a:srgbClr val="1A1A2E"/>
                </a:solidFill>
                <a:latin typeface="Calibri"/>
              </a:rPr>
              <a:t>análisis</a:t>
            </a:r>
            <a:r>
              <a:rPr sz="1450" b="0" dirty="0">
                <a:solidFill>
                  <a:srgbClr val="1A1A2E"/>
                </a:solidFill>
                <a:latin typeface="Calibri"/>
              </a:rPr>
              <a:t> del </a:t>
            </a:r>
            <a:r>
              <a:rPr sz="1450" b="0" dirty="0" err="1">
                <a:solidFill>
                  <a:srgbClr val="1A1A2E"/>
                </a:solidFill>
                <a:latin typeface="Calibri"/>
              </a:rPr>
              <a:t>comportamiento</a:t>
            </a:r>
            <a:r>
              <a:rPr sz="1450" b="0" dirty="0">
                <a:solidFill>
                  <a:srgbClr val="1A1A2E"/>
                </a:solidFill>
                <a:latin typeface="Calibri"/>
              </a:rPr>
              <a:t> </a:t>
            </a:r>
            <a:r>
              <a:rPr sz="1450" b="0" dirty="0" err="1">
                <a:solidFill>
                  <a:srgbClr val="1A1A2E"/>
                </a:solidFill>
                <a:latin typeface="Calibri"/>
              </a:rPr>
              <a:t>interno</a:t>
            </a:r>
            <a:r>
              <a:rPr sz="1450" b="0" dirty="0">
                <a:solidFill>
                  <a:srgbClr val="1A1A2E"/>
                </a:solidFill>
                <a:latin typeface="Calibri"/>
              </a:rPr>
              <a:t> de </a:t>
            </a:r>
            <a:r>
              <a:rPr sz="1450" b="0" dirty="0" err="1">
                <a:solidFill>
                  <a:srgbClr val="1A1A2E"/>
                </a:solidFill>
                <a:latin typeface="Calibri"/>
              </a:rPr>
              <a:t>cada</a:t>
            </a:r>
            <a:r>
              <a:rPr sz="1450" b="0" dirty="0">
                <a:solidFill>
                  <a:srgbClr val="1A1A2E"/>
                </a:solidFill>
                <a:latin typeface="Calibri"/>
              </a:rPr>
              <a:t> </a:t>
            </a:r>
            <a:r>
              <a:rPr sz="1450" b="0" dirty="0" err="1">
                <a:solidFill>
                  <a:srgbClr val="1A1A2E"/>
                </a:solidFill>
                <a:latin typeface="Calibri"/>
              </a:rPr>
              <a:t>microservicio</a:t>
            </a:r>
            <a:r>
              <a:rPr sz="1450" b="0" dirty="0">
                <a:solidFill>
                  <a:srgbClr val="1A1A2E"/>
                </a:solidFill>
                <a:latin typeface="Calibri"/>
              </a:rPr>
              <a:t> </a:t>
            </a:r>
            <a:r>
              <a:rPr sz="1450" b="0" dirty="0" err="1">
                <a:solidFill>
                  <a:srgbClr val="1A1A2E"/>
                </a:solidFill>
                <a:latin typeface="Calibri"/>
              </a:rPr>
              <a:t>durante</a:t>
            </a:r>
            <a:r>
              <a:rPr sz="1450" b="0" dirty="0">
                <a:solidFill>
                  <a:srgbClr val="1A1A2E"/>
                </a:solidFill>
                <a:latin typeface="Calibri"/>
              </a:rPr>
              <a:t> las </a:t>
            </a:r>
            <a:r>
              <a:rPr sz="1450" b="0" dirty="0" err="1">
                <a:solidFill>
                  <a:srgbClr val="1A1A2E"/>
                </a:solidFill>
                <a:latin typeface="Calibri"/>
              </a:rPr>
              <a:t>pruebas</a:t>
            </a:r>
            <a:r>
              <a:rPr sz="1450" b="0" dirty="0">
                <a:solidFill>
                  <a:srgbClr val="1A1A2E"/>
                </a:solidFill>
                <a:latin typeface="Calibri"/>
              </a:rPr>
              <a:t> </a:t>
            </a:r>
            <a:r>
              <a:rPr sz="1450" b="0" dirty="0" err="1">
                <a:solidFill>
                  <a:srgbClr val="1A1A2E"/>
                </a:solidFill>
                <a:latin typeface="Calibri"/>
              </a:rPr>
              <a:t>funcionales</a:t>
            </a:r>
            <a:r>
              <a:rPr sz="1450" b="0" dirty="0">
                <a:solidFill>
                  <a:srgbClr val="1A1A2E"/>
                </a:solidFill>
                <a:latin typeface="Calibri"/>
              </a:rPr>
              <a:t>.</a:t>
            </a:r>
          </a:p>
          <a:p>
            <a:pPr algn="l">
              <a:spcBef>
                <a:spcPts val="500"/>
              </a:spcBef>
            </a:pPr>
            <a:r>
              <a:rPr sz="1450" b="0" dirty="0">
                <a:solidFill>
                  <a:srgbClr val="1A1A2E"/>
                </a:solidFill>
                <a:latin typeface="Calibri"/>
              </a:rPr>
              <a:t>  • </a:t>
            </a:r>
            <a:r>
              <a:rPr sz="1450" b="0" dirty="0" err="1">
                <a:solidFill>
                  <a:srgbClr val="1A1A2E"/>
                </a:solidFill>
                <a:latin typeface="Calibri"/>
              </a:rPr>
              <a:t>Proporciona</a:t>
            </a:r>
            <a:r>
              <a:rPr sz="1450" b="0" dirty="0">
                <a:solidFill>
                  <a:srgbClr val="1A1A2E"/>
                </a:solidFill>
                <a:latin typeface="Calibri"/>
              </a:rPr>
              <a:t> </a:t>
            </a:r>
            <a:r>
              <a:rPr sz="1450" b="0" dirty="0" err="1">
                <a:solidFill>
                  <a:srgbClr val="1A1A2E"/>
                </a:solidFill>
                <a:latin typeface="Calibri"/>
              </a:rPr>
              <a:t>trazabilidad</a:t>
            </a:r>
            <a:r>
              <a:rPr sz="1450" b="0" dirty="0">
                <a:solidFill>
                  <a:srgbClr val="1A1A2E"/>
                </a:solidFill>
                <a:latin typeface="Calibri"/>
              </a:rPr>
              <a:t> </a:t>
            </a:r>
            <a:r>
              <a:rPr sz="1450" b="0" dirty="0" err="1">
                <a:solidFill>
                  <a:srgbClr val="1A1A2E"/>
                </a:solidFill>
                <a:latin typeface="Calibri"/>
              </a:rPr>
              <a:t>completa</a:t>
            </a:r>
            <a:r>
              <a:rPr sz="1450" b="0" dirty="0">
                <a:solidFill>
                  <a:srgbClr val="1A1A2E"/>
                </a:solidFill>
                <a:latin typeface="Calibri"/>
              </a:rPr>
              <a:t> de las </a:t>
            </a:r>
            <a:r>
              <a:rPr sz="1450" b="0" dirty="0" err="1">
                <a:solidFill>
                  <a:srgbClr val="1A1A2E"/>
                </a:solidFill>
                <a:latin typeface="Calibri"/>
              </a:rPr>
              <a:t>peticiones</a:t>
            </a:r>
            <a:r>
              <a:rPr sz="1450" b="0" dirty="0">
                <a:solidFill>
                  <a:srgbClr val="1A1A2E"/>
                </a:solidFill>
                <a:latin typeface="Calibri"/>
              </a:rPr>
              <a:t> HTTP y </a:t>
            </a:r>
            <a:r>
              <a:rPr sz="1450" b="0" dirty="0" err="1">
                <a:solidFill>
                  <a:srgbClr val="1A1A2E"/>
                </a:solidFill>
                <a:latin typeface="Calibri"/>
              </a:rPr>
              <a:t>consultas</a:t>
            </a:r>
            <a:r>
              <a:rPr sz="1450" b="0" dirty="0">
                <a:solidFill>
                  <a:srgbClr val="1A1A2E"/>
                </a:solidFill>
                <a:latin typeface="Calibri"/>
              </a:rPr>
              <a:t> SQL </a:t>
            </a:r>
            <a:r>
              <a:rPr sz="1450" b="0" dirty="0" err="1">
                <a:solidFill>
                  <a:srgbClr val="1A1A2E"/>
                </a:solidFill>
                <a:latin typeface="Calibri"/>
              </a:rPr>
              <a:t>generadas</a:t>
            </a:r>
            <a:r>
              <a:rPr sz="1450" b="0" dirty="0">
                <a:solidFill>
                  <a:srgbClr val="1A1A2E"/>
                </a:solidFill>
                <a:latin typeface="Calibri"/>
              </a:rPr>
              <a:t> </a:t>
            </a:r>
            <a:r>
              <a:rPr sz="1450" b="0" dirty="0" err="1">
                <a:solidFill>
                  <a:srgbClr val="1A1A2E"/>
                </a:solidFill>
                <a:latin typeface="Calibri"/>
              </a:rPr>
              <a:t>por</a:t>
            </a:r>
            <a:r>
              <a:rPr sz="1450" b="0" dirty="0">
                <a:solidFill>
                  <a:srgbClr val="1A1A2E"/>
                </a:solidFill>
                <a:latin typeface="Calibri"/>
              </a:rPr>
              <a:t> Hibernate.</a:t>
            </a:r>
          </a:p>
          <a:p>
            <a:pPr algn="l">
              <a:spcBef>
                <a:spcPts val="500"/>
              </a:spcBef>
            </a:pPr>
            <a:r>
              <a:rPr sz="1450" b="0" dirty="0">
                <a:solidFill>
                  <a:srgbClr val="1A1A2E"/>
                </a:solidFill>
                <a:latin typeface="Calibri"/>
              </a:rPr>
              <a:t>  • </a:t>
            </a:r>
            <a:r>
              <a:rPr sz="1450" b="0" dirty="0" err="1">
                <a:solidFill>
                  <a:srgbClr val="1A1A2E"/>
                </a:solidFill>
                <a:latin typeface="Calibri"/>
              </a:rPr>
              <a:t>Permite</a:t>
            </a:r>
            <a:r>
              <a:rPr sz="1450" b="0" dirty="0">
                <a:solidFill>
                  <a:srgbClr val="1A1A2E"/>
                </a:solidFill>
                <a:latin typeface="Calibri"/>
              </a:rPr>
              <a:t> </a:t>
            </a:r>
            <a:r>
              <a:rPr sz="1450" b="0" dirty="0" err="1">
                <a:solidFill>
                  <a:srgbClr val="1A1A2E"/>
                </a:solidFill>
                <a:latin typeface="Calibri"/>
              </a:rPr>
              <a:t>comprobar</a:t>
            </a:r>
            <a:r>
              <a:rPr sz="1450" b="0" dirty="0">
                <a:solidFill>
                  <a:srgbClr val="1A1A2E"/>
                </a:solidFill>
                <a:latin typeface="Calibri"/>
              </a:rPr>
              <a:t> la </a:t>
            </a:r>
            <a:r>
              <a:rPr sz="1450" b="0" dirty="0" err="1">
                <a:solidFill>
                  <a:srgbClr val="1A1A2E"/>
                </a:solidFill>
                <a:latin typeface="Calibri"/>
              </a:rPr>
              <a:t>integración</a:t>
            </a:r>
            <a:r>
              <a:rPr sz="1450" b="0" dirty="0">
                <a:solidFill>
                  <a:srgbClr val="1A1A2E"/>
                </a:solidFill>
                <a:latin typeface="Calibri"/>
              </a:rPr>
              <a:t> </a:t>
            </a:r>
            <a:r>
              <a:rPr sz="1450" b="0" dirty="0" err="1">
                <a:solidFill>
                  <a:srgbClr val="1A1A2E"/>
                </a:solidFill>
                <a:latin typeface="Calibri"/>
              </a:rPr>
              <a:t>correcta</a:t>
            </a:r>
            <a:r>
              <a:rPr sz="1450" b="0" dirty="0">
                <a:solidFill>
                  <a:srgbClr val="1A1A2E"/>
                </a:solidFill>
                <a:latin typeface="Calibri"/>
              </a:rPr>
              <a:t> con bases de </a:t>
            </a:r>
            <a:r>
              <a:rPr sz="1450" b="0" dirty="0" err="1">
                <a:solidFill>
                  <a:srgbClr val="1A1A2E"/>
                </a:solidFill>
                <a:latin typeface="Calibri"/>
              </a:rPr>
              <a:t>datos</a:t>
            </a:r>
            <a:r>
              <a:rPr sz="1450" b="0" dirty="0">
                <a:solidFill>
                  <a:srgbClr val="1A1A2E"/>
                </a:solidFill>
                <a:latin typeface="Calibri"/>
              </a:rPr>
              <a:t> </a:t>
            </a:r>
            <a:r>
              <a:rPr sz="1450" b="0" dirty="0" err="1">
                <a:solidFill>
                  <a:srgbClr val="1A1A2E"/>
                </a:solidFill>
                <a:latin typeface="Calibri"/>
              </a:rPr>
              <a:t>relacionales</a:t>
            </a:r>
            <a:r>
              <a:rPr sz="1450" b="0" dirty="0">
                <a:solidFill>
                  <a:srgbClr val="1A1A2E"/>
                </a:solidFill>
                <a:latin typeface="Calibri"/>
              </a:rPr>
              <a:t> (MySQL).</a:t>
            </a:r>
          </a:p>
          <a:p>
            <a:pPr algn="l">
              <a:spcBef>
                <a:spcPts val="500"/>
              </a:spcBef>
            </a:pPr>
            <a:endParaRPr sz="1450" b="0" dirty="0">
              <a:solidFill>
                <a:srgbClr val="1A1A2E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822960"/>
          </a:xfrm>
          <a:prstGeom prst="rect">
            <a:avLst/>
          </a:prstGeom>
          <a:solidFill>
            <a:srgbClr val="124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488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Arquitectura de Microservicios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24128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</a:pPr>
            <a:r>
              <a:rPr sz="1400" b="0">
                <a:solidFill>
                  <a:srgbClr val="1A1A2E"/>
                </a:solidFill>
                <a:latin typeface="Calibri"/>
              </a:rPr>
              <a:t>La práctica fue desarrollada con una arquitectura basada en microservicios usando Spring Boot y Maven en VS Code. El sistema incluye los siguientes servicios independientes: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920240"/>
            <a:ext cx="2011680" cy="146304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7200" y="1920240"/>
            <a:ext cx="2011680" cy="73152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1993392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Config Server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51460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DDF0FF"/>
                </a:solidFill>
                <a:latin typeface="Calibri"/>
              </a:rPr>
              <a:t>Centraliza la
configuración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24912" y="1920240"/>
            <a:ext cx="2011680" cy="146304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724912" y="1920240"/>
            <a:ext cx="2011680" cy="73152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724912" y="1993392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Eureka Server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24912" y="251460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DDF0FF"/>
                </a:solidFill>
                <a:latin typeface="Calibri"/>
              </a:rPr>
              <a:t>Registro y
descubrimiento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992624" y="1920240"/>
            <a:ext cx="2011680" cy="1463040"/>
          </a:xfrm>
          <a:prstGeom prst="rect">
            <a:avLst/>
          </a:prstGeom>
          <a:solidFill>
            <a:srgbClr val="124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992624" y="1920240"/>
            <a:ext cx="2011680" cy="73152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992624" y="1993392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API Gateway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92624" y="251460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DDF0FF"/>
                </a:solidFill>
                <a:latin typeface="Calibri"/>
              </a:rPr>
              <a:t>Punto de entrada
único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60336" y="1920240"/>
            <a:ext cx="2011680" cy="14630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260336" y="1920240"/>
            <a:ext cx="2011680" cy="73152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260336" y="1993392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Student MS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60336" y="251460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DDF0FF"/>
                </a:solidFill>
                <a:latin typeface="Calibri"/>
              </a:rPr>
              <a:t>Microservicio
estudiantes + MySQL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528048" y="1920240"/>
            <a:ext cx="2011680" cy="146304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9528048" y="1920240"/>
            <a:ext cx="2011680" cy="73152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528048" y="1993392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Course MS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28048" y="251460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DDF0FF"/>
                </a:solidFill>
                <a:latin typeface="Calibri"/>
              </a:rPr>
              <a:t>Microservicio
cursos + MySQL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487168" y="2423160"/>
            <a:ext cx="21945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BCD4"/>
                </a:solidFill>
                <a:latin typeface="Calibri"/>
              </a:rPr>
              <a:t>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54880" y="2423160"/>
            <a:ext cx="21945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BCD4"/>
                </a:solidFill>
                <a:latin typeface="Calibri"/>
              </a:rPr>
              <a:t>→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22592" y="2423160"/>
            <a:ext cx="21945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BCD4"/>
                </a:solidFill>
                <a:latin typeface="Calibri"/>
              </a:rPr>
              <a:t>→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90304" y="2423160"/>
            <a:ext cx="21945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BCD4"/>
                </a:solidFill>
                <a:latin typeface="Calibri"/>
              </a:rPr>
              <a:t>→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76D2AC6E-9A53-B997-EE35-C603042935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8696" y="3521524"/>
            <a:ext cx="5699535" cy="320468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822960"/>
          </a:xfrm>
          <a:prstGeom prst="rect">
            <a:avLst/>
          </a:prstGeom>
          <a:solidFill>
            <a:srgbClr val="124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488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Comparación de Niveles de Logging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058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Los niveles de logging clasifican la información generada por los microservicios para facilitar el monitoreo y detección de errores: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600200"/>
            <a:ext cx="1792224" cy="411480"/>
          </a:xfrm>
          <a:prstGeom prst="rect">
            <a:avLst/>
          </a:prstGeom>
          <a:solidFill>
            <a:srgbClr val="124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1600200"/>
            <a:ext cx="1691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Nivel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377440" y="1600200"/>
            <a:ext cx="4078224" cy="411480"/>
          </a:xfrm>
          <a:prstGeom prst="rect">
            <a:avLst/>
          </a:prstGeom>
          <a:solidFill>
            <a:srgbClr val="124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468880" y="1600200"/>
            <a:ext cx="3977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Descripción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0" y="1600200"/>
            <a:ext cx="4809744" cy="411480"/>
          </a:xfrm>
          <a:prstGeom prst="rect">
            <a:avLst/>
          </a:prstGeom>
          <a:solidFill>
            <a:srgbClr val="124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675120" y="1600200"/>
            <a:ext cx="4709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Uso en el proyecto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011680"/>
            <a:ext cx="11247120" cy="621792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57200" y="2011680"/>
            <a:ext cx="1792224" cy="621792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7200" y="2011680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INFO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50592" y="2048256"/>
            <a:ext cx="3977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Información general del ciclo de vida del sistema.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56832" y="2048256"/>
            <a:ext cx="4709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1">
                <a:solidFill>
                  <a:srgbClr val="555555"/>
                </a:solidFill>
                <a:latin typeface="Calibri"/>
              </a:rPr>
              <a:t>Inicio de microservicios, registro en Eureka, conexion exitosa.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2670048"/>
            <a:ext cx="11247120" cy="621792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57200" y="2670048"/>
            <a:ext cx="1792224" cy="62179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7200" y="2670048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DEBUG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50592" y="2706624"/>
            <a:ext cx="3977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Información detallada para depuración interna.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56832" y="2706624"/>
            <a:ext cx="4709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1">
                <a:solidFill>
                  <a:srgbClr val="555555"/>
                </a:solidFill>
                <a:latin typeface="Calibri"/>
              </a:rPr>
              <a:t>Consultas SQL de Hibernate, configuración de HikariCP, JPA.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3328416"/>
            <a:ext cx="11247120" cy="621792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57200" y="3328416"/>
            <a:ext cx="1792224" cy="621792"/>
          </a:xfrm>
          <a:prstGeom prst="rect">
            <a:avLst/>
          </a:prstGeom>
          <a:solidFill>
            <a:srgbClr val="E6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57200" y="3328416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WARN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450592" y="3364992"/>
            <a:ext cx="3977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Advertencias que no detienen la ejecución.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56832" y="3364992"/>
            <a:ext cx="4709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1">
                <a:solidFill>
                  <a:srgbClr val="555555"/>
                </a:solidFill>
                <a:latin typeface="Calibri"/>
              </a:rPr>
              <a:t>Reintentos de conexión, timeouts de servicio.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3986784"/>
            <a:ext cx="11247120" cy="621792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457200" y="3986784"/>
            <a:ext cx="1792224" cy="621792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57200" y="3986784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ERROR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450592" y="4023360"/>
            <a:ext cx="3977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Errores que afectan el funcionamiento del sistema.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56832" y="4023360"/>
            <a:ext cx="4709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1">
                <a:solidFill>
                  <a:srgbClr val="555555"/>
                </a:solidFill>
                <a:latin typeface="Calibri"/>
              </a:rPr>
              <a:t>Connection refused, errores 404, fallos en Eureka Server.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822960"/>
          </a:xfrm>
          <a:prstGeom prst="rect">
            <a:avLst/>
          </a:prstGeom>
          <a:solidFill>
            <a:srgbClr val="124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488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Tipos de Logs Utilizados en el Sistema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058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Los diferentes tipos de logs implementados en Spring Boot permiten monitorear y validar cada capa del sistema distribuido: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1627632"/>
            <a:ext cx="2560320" cy="22860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11480" y="1627632"/>
            <a:ext cx="2560320" cy="9144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11480" y="173736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HTTP Logs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43000" y="2267712"/>
            <a:ext cx="109728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21208" y="2377440"/>
            <a:ext cx="2340864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DDF5FF"/>
                </a:solidFill>
                <a:latin typeface="Calibri"/>
              </a:rPr>
              <a:t>Registran peticiones HTTP entrantes/salientes,
métodos (GET/POST), rutas y códigos de respuesta.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19272" y="1627632"/>
            <a:ext cx="2560320" cy="22860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319272" y="1627632"/>
            <a:ext cx="2560320" cy="9144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319272" y="173736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SQL Logs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050792" y="2267712"/>
            <a:ext cx="109728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429000" y="2377440"/>
            <a:ext cx="2340864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DDF5FF"/>
                </a:solidFill>
                <a:latin typeface="Calibri"/>
              </a:rPr>
              <a:t>Hibernate muestra las consultas SQL generadas
automáticamente durante las peticiones REST.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27064" y="1627632"/>
            <a:ext cx="2560320" cy="2286000"/>
          </a:xfrm>
          <a:prstGeom prst="rect">
            <a:avLst/>
          </a:prstGeom>
          <a:solidFill>
            <a:srgbClr val="124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227064" y="1627632"/>
            <a:ext cx="2560320" cy="9144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227064" y="173736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Eureka Logs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958584" y="2267712"/>
            <a:ext cx="109728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336792" y="2377440"/>
            <a:ext cx="2340864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DDF5FF"/>
                </a:solidFill>
                <a:latin typeface="Calibri"/>
              </a:rPr>
              <a:t>Monitorean el registro, descubrimiento y estado
de los microservicios en el servidor Eureka.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34856" y="1627632"/>
            <a:ext cx="2560320" cy="22860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9134856" y="1627632"/>
            <a:ext cx="2560320" cy="9144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134856" y="173736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Error Logs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866376" y="2267712"/>
            <a:ext cx="109728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244584" y="2377440"/>
            <a:ext cx="2340864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DDF5FF"/>
                </a:solidFill>
                <a:latin typeface="Calibri"/>
              </a:rPr>
              <a:t>Capturan excepciones, fallos de conexión y errores
de comunicación (Connection refused, 404).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822960"/>
          </a:xfrm>
          <a:prstGeom prst="rect">
            <a:avLst/>
          </a:prstGeom>
          <a:solidFill>
            <a:srgbClr val="124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488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Configuración de Logs – Microservicio Student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005840"/>
            <a:ext cx="11247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500"/>
              </a:spcBef>
            </a:pPr>
            <a:r>
              <a:rPr sz="1400" b="0">
                <a:solidFill>
                  <a:srgbClr val="1A1A2E"/>
                </a:solidFill>
                <a:latin typeface="Calibri"/>
              </a:rPr>
              <a:t>Se configuraron logs en Spring Boot mediante el archivo application.yml, utilizando niveles INFO y DEBUG para monitorear el comportamiento del microservicio Student y validar conexiones, peticiones y procesos internos.</a:t>
            </a:r>
          </a:p>
          <a:p>
            <a:pPr algn="l">
              <a:spcBef>
                <a:spcPts val="500"/>
              </a:spcBef>
            </a:pPr>
            <a:endParaRPr sz="1400" b="0">
              <a:solidFill>
                <a:srgbClr val="1A1A2E"/>
              </a:solidFill>
              <a:latin typeface="Calibri"/>
            </a:endParaRPr>
          </a:p>
          <a:p>
            <a:pPr algn="l">
              <a:spcBef>
                <a:spcPts val="500"/>
              </a:spcBef>
            </a:pPr>
            <a:r>
              <a:rPr sz="1400" b="0">
                <a:solidFill>
                  <a:srgbClr val="1A1A2E"/>
                </a:solidFill>
                <a:latin typeface="Calibri"/>
              </a:rPr>
              <a:t>Configuración aplicada: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331720"/>
            <a:ext cx="5029200" cy="256032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7200" y="2331720"/>
            <a:ext cx="5029200" cy="256032"/>
          </a:xfrm>
          <a:prstGeom prst="rect">
            <a:avLst/>
          </a:prstGeom>
          <a:solidFill>
            <a:srgbClr val="30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48640" y="233172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88"/>
                </a:solidFill>
                <a:latin typeface="Calibri"/>
              </a:rPr>
              <a:t>application.yml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2624328"/>
            <a:ext cx="480060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EF089"/>
                </a:solidFill>
                <a:latin typeface="Calibri"/>
              </a:rPr>
              <a:t>logging:
  level:
    root: INFO
    com.example.student: DEBUG
    org.springframework.web: DEBUG
    org.hibernate.SQL: DEBUG
    org.hibernate.type.descriptor.sql: TRACE
    com.zaxxer.hikari: DEBUG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A69C82A1-F2D3-DF39-D092-AA4B0E4871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6426" y="2031109"/>
            <a:ext cx="6094412" cy="342671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822960"/>
          </a:xfrm>
          <a:prstGeom prst="rect">
            <a:avLst/>
          </a:prstGeom>
          <a:solidFill>
            <a:srgbClr val="124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488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Validación de Logs en Spring Boot – Student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00584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500"/>
              </a:spcBef>
            </a:pPr>
            <a:r>
              <a:rPr sz="1400" b="0">
                <a:solidFill>
                  <a:srgbClr val="1A1A2E"/>
                </a:solidFill>
                <a:latin typeface="Calibri"/>
              </a:rPr>
              <a:t>Durante la ejecución del microservicio Student, los logs generados por Spring Boot en la terminal de VS Code permitieron monitorear el inicio de la aplicación y la comunicación con el servidor de configuración.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1A487A79-5752-0053-4ED8-C94DC80042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9712" y="2136549"/>
            <a:ext cx="6929399" cy="389620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822960"/>
          </a:xfrm>
          <a:prstGeom prst="rect">
            <a:avLst/>
          </a:prstGeom>
          <a:solidFill>
            <a:srgbClr val="124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488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Validación de Conexión con MySQL Mediante Logs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005840"/>
            <a:ext cx="112471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500"/>
              </a:spcBef>
            </a:pPr>
            <a:r>
              <a:rPr sz="1350" b="0">
                <a:solidFill>
                  <a:srgbClr val="1A1A2E"/>
                </a:solidFill>
                <a:latin typeface="Calibri"/>
              </a:rPr>
              <a:t>Los logs permitieron validar la conexion exitosa entre el microservicio Student y la base de datos MySQL. Mediante HikariCP y Hibernate se comprobó la inicialización correcta del pool de conexiones y la configuración de JPA durante la ejecución del sistema.</a:t>
            </a:r>
          </a:p>
          <a:p>
            <a:pPr algn="l">
              <a:spcBef>
                <a:spcPts val="500"/>
              </a:spcBef>
            </a:pPr>
            <a:endParaRPr sz="1350" b="0">
              <a:solidFill>
                <a:srgbClr val="1A1A2E"/>
              </a:solidFill>
              <a:latin typeface="Calibri"/>
            </a:endParaRPr>
          </a:p>
          <a:p>
            <a:pPr algn="l">
              <a:spcBef>
                <a:spcPts val="500"/>
              </a:spcBef>
            </a:pPr>
            <a:r>
              <a:rPr sz="1350" b="0">
                <a:solidFill>
                  <a:srgbClr val="1A1A2E"/>
                </a:solidFill>
                <a:latin typeface="Calibri"/>
              </a:rPr>
              <a:t>Mensajes clave observados en la terminal de VS Code:</a:t>
            </a:r>
          </a:p>
          <a:p>
            <a:pPr algn="l">
              <a:spcBef>
                <a:spcPts val="500"/>
              </a:spcBef>
            </a:pPr>
            <a:r>
              <a:rPr sz="1350" b="0">
                <a:solidFill>
                  <a:srgbClr val="1A1A2E"/>
                </a:solidFill>
                <a:latin typeface="Calibri"/>
              </a:rPr>
              <a:t>  • HikariPool-1 – Starting: pool inicializando con MySQL</a:t>
            </a:r>
          </a:p>
          <a:p>
            <a:pPr algn="l">
              <a:spcBef>
                <a:spcPts val="500"/>
              </a:spcBef>
            </a:pPr>
            <a:r>
              <a:rPr sz="1350" b="0">
                <a:solidFill>
                  <a:srgbClr val="1A1A2E"/>
                </a:solidFill>
                <a:latin typeface="Calibri"/>
              </a:rPr>
              <a:t>  • HibernateJpaAutoConfiguration: configuring JPA/EntityManager</a:t>
            </a:r>
          </a:p>
          <a:p>
            <a:pPr algn="l">
              <a:spcBef>
                <a:spcPts val="500"/>
              </a:spcBef>
            </a:pPr>
            <a:r>
              <a:rPr sz="1350" b="0">
                <a:solidFill>
                  <a:srgbClr val="1A1A2E"/>
                </a:solidFill>
                <a:latin typeface="Calibri"/>
              </a:rPr>
              <a:t>  • Hibernate: create table / alter table...  (inicialización de esquema)</a:t>
            </a:r>
          </a:p>
          <a:p>
            <a:pPr algn="l">
              <a:spcBef>
                <a:spcPts val="500"/>
              </a:spcBef>
            </a:pPr>
            <a:r>
              <a:rPr sz="1350" b="0">
                <a:solidFill>
                  <a:srgbClr val="1A1A2E"/>
                </a:solidFill>
                <a:latin typeface="Calibri"/>
              </a:rPr>
              <a:t>  • HikariPool-1 – Start completed: conexión establecida exitosamente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62082861-158C-08BB-00E8-F688549197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" y="3687538"/>
            <a:ext cx="12188825" cy="152454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822960"/>
          </a:xfrm>
          <a:prstGeom prst="rect">
            <a:avLst/>
          </a:prstGeom>
          <a:solidFill>
            <a:srgbClr val="124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488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Detección de Errores en Student Mediante Logs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00584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500"/>
              </a:spcBef>
            </a:pPr>
            <a:r>
              <a:rPr sz="1400" b="0">
                <a:solidFill>
                  <a:srgbClr val="1A1A2E"/>
                </a:solidFill>
                <a:latin typeface="Calibri"/>
              </a:rPr>
              <a:t>Al detectar errores de comunicación entre el microservicio Student y Eureka Server, la terminal de VS Code mostró mensajes de error que permiten diagnosticar el problema.</a:t>
            </a:r>
          </a:p>
          <a:p>
            <a:pPr algn="l">
              <a:spcBef>
                <a:spcPts val="500"/>
              </a:spcBef>
            </a:pPr>
            <a:endParaRPr sz="1400" b="0">
              <a:solidFill>
                <a:srgbClr val="1A1A2E"/>
              </a:solidFill>
              <a:latin typeface="Calibri"/>
            </a:endParaRPr>
          </a:p>
          <a:p>
            <a:pPr algn="l">
              <a:spcBef>
                <a:spcPts val="500"/>
              </a:spcBef>
            </a:pPr>
            <a:r>
              <a:rPr sz="1400" b="0">
                <a:solidFill>
                  <a:srgbClr val="1A1A2E"/>
                </a:solidFill>
                <a:latin typeface="Calibri"/>
              </a:rPr>
              <a:t>Los logs registraron mensajes Connection refused, indicando que el servidor Eureka no se encontraba activo o en ejecución en el puerto 8761.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487168"/>
            <a:ext cx="11247120" cy="960120"/>
          </a:xfrm>
          <a:prstGeom prst="rect">
            <a:avLst/>
          </a:prstGeom>
          <a:solidFill>
            <a:srgbClr val="4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8640" y="253288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5555"/>
                </a:solidFill>
                <a:latin typeface="Calibri"/>
              </a:rPr>
              <a:t>ERROR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2532888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BBBB"/>
                </a:solidFill>
                <a:latin typeface="Calibri"/>
              </a:rPr>
              <a:t>c.n.d.s.EurekaHttpClientUtils - Request execution error: Connection refused (localhost:8761)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85292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A500"/>
                </a:solidFill>
                <a:latin typeface="Calibri"/>
              </a:rPr>
              <a:t>WARN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2852928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CC77"/>
                </a:solidFill>
                <a:latin typeface="Calibri"/>
              </a:rPr>
              <a:t>com.netflix.discovery.DiscoveryClient - Failed to connect to Eureka Server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B584B64E-DD63-1E52-24E9-4A4102F1A9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9341" y="3540429"/>
            <a:ext cx="6584438" cy="329603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822960"/>
          </a:xfrm>
          <a:prstGeom prst="rect">
            <a:avLst/>
          </a:prstGeom>
          <a:solidFill>
            <a:srgbClr val="124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488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Verificación del Funcionamiento – Microservicio Student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005840"/>
            <a:ext cx="65836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500"/>
              </a:spcBef>
            </a:pPr>
            <a:r>
              <a:rPr sz="1300" b="0">
                <a:solidFill>
                  <a:srgbClr val="1A1A2E"/>
                </a:solidFill>
                <a:latin typeface="Calibri"/>
              </a:rPr>
              <a:t>Se verificó el funcionamiento de los logs configurados mediante la ejecución de la petición GET http://localhost:8090/api/student/all en el navegador.</a:t>
            </a:r>
          </a:p>
          <a:p>
            <a:pPr algn="l">
              <a:spcBef>
                <a:spcPts val="500"/>
              </a:spcBef>
            </a:pPr>
            <a:endParaRPr sz="1300" b="0">
              <a:solidFill>
                <a:srgbClr val="1A1A2E"/>
              </a:solidFill>
              <a:latin typeface="Calibri"/>
            </a:endParaRPr>
          </a:p>
          <a:p>
            <a:pPr algn="l">
              <a:spcBef>
                <a:spcPts val="500"/>
              </a:spcBef>
            </a:pPr>
            <a:r>
              <a:rPr sz="1300" b="0">
                <a:solidFill>
                  <a:srgbClr val="1A1A2E"/>
                </a:solidFill>
                <a:latin typeface="Calibri"/>
              </a:rPr>
              <a:t>La terminal de VS Code mostró:</a:t>
            </a:r>
          </a:p>
          <a:p>
            <a:pPr algn="l">
              <a:spcBef>
                <a:spcPts val="500"/>
              </a:spcBef>
            </a:pPr>
            <a:r>
              <a:rPr sz="1300" b="0">
                <a:solidFill>
                  <a:srgbClr val="1A1A2E"/>
                </a:solidFill>
                <a:latin typeface="Calibri"/>
              </a:rPr>
              <a:t>  • Procesamiento de la solicitud HTTP y mapeo hacia StudentController</a:t>
            </a:r>
          </a:p>
          <a:p>
            <a:pPr algn="l">
              <a:spcBef>
                <a:spcPts val="500"/>
              </a:spcBef>
            </a:pPr>
            <a:r>
              <a:rPr sz="1300" b="0">
                <a:solidFill>
                  <a:srgbClr val="1A1A2E"/>
                </a:solidFill>
                <a:latin typeface="Calibri"/>
              </a:rPr>
              <a:t>  • Consulta SQL generada automáticamente por Hibernate</a:t>
            </a:r>
          </a:p>
          <a:p>
            <a:pPr algn="l">
              <a:spcBef>
                <a:spcPts val="500"/>
              </a:spcBef>
            </a:pPr>
            <a:r>
              <a:rPr sz="1300" b="0">
                <a:solidFill>
                  <a:srgbClr val="1A1A2E"/>
                </a:solidFill>
                <a:latin typeface="Calibri"/>
              </a:rPr>
              <a:t>  • Respuesta exitosa 200 OK confirmando la correcta comunicación con MySQL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F07B636B-1F60-7BB7-73E5-0D84F759A3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956" y="3429000"/>
            <a:ext cx="5364044" cy="2509333"/>
          </a:xfrm>
          <a:prstGeom prst="rect">
            <a:avLst/>
          </a:prstGeom>
        </p:spPr>
      </p:pic>
      <p:pic>
        <p:nvPicPr>
          <p:cNvPr id="19" name="Imagen 18">
            <a:extLst>
              <a:ext uri="{FF2B5EF4-FFF2-40B4-BE49-F238E27FC236}">
                <a16:creationId xmlns:a16="http://schemas.microsoft.com/office/drawing/2014/main" id="{A6898F1D-2046-04E1-B3D7-94A9641D89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4412" y="2261517"/>
            <a:ext cx="6012443" cy="1639431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822960"/>
          </a:xfrm>
          <a:prstGeom prst="rect">
            <a:avLst/>
          </a:prstGeom>
          <a:solidFill>
            <a:srgbClr val="124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488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Configuración de Logs – Microservicio Course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0058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500"/>
              </a:spcBef>
            </a:pPr>
            <a:r>
              <a:rPr sz="1400" b="0">
                <a:solidFill>
                  <a:srgbClr val="1A1A2E"/>
                </a:solidFill>
                <a:latin typeface="Calibri"/>
              </a:rPr>
              <a:t>Se configuraron logs en Spring Boot mediante el archivo application.yml, utilizando niveles INFO y DEBUG para monitorear el comportamiento del microservicio Course y validar conexiones con MySQL y procesos internos.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920240"/>
            <a:ext cx="5029200" cy="283464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7200" y="1920240"/>
            <a:ext cx="5029200" cy="256032"/>
          </a:xfrm>
          <a:prstGeom prst="rect">
            <a:avLst/>
          </a:prstGeom>
          <a:solidFill>
            <a:srgbClr val="30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48640" y="1920240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88"/>
                </a:solidFill>
                <a:latin typeface="Calibri"/>
              </a:rPr>
              <a:t>application.yml – course-service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2212848"/>
            <a:ext cx="4800600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EF089"/>
                </a:solidFill>
                <a:latin typeface="Calibri"/>
              </a:rPr>
              <a:t>logging:
  level:
    root: INFO
    com.example.course: DEBUG
    org.springframework.web: DEBUG
    org.hibernate.SQL: DEBUG
    org.hibernate.type.descriptor.sql: TRACE
    com.zaxxer.hikari: DEBUG
    org.mysql: DEBUG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6F02B4FB-2F1B-EEF3-3F0E-80FA1FAB31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6662" y="2300747"/>
            <a:ext cx="6462027" cy="3839497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822960"/>
          </a:xfrm>
          <a:prstGeom prst="rect">
            <a:avLst/>
          </a:prstGeom>
          <a:solidFill>
            <a:srgbClr val="124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488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Validación de Logs en Spring Boot – Course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00584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500"/>
              </a:spcBef>
            </a:pPr>
            <a:r>
              <a:rPr sz="1400" b="0">
                <a:solidFill>
                  <a:srgbClr val="1A1A2E"/>
                </a:solidFill>
                <a:latin typeface="Calibri"/>
              </a:rPr>
              <a:t>Durante la ejecución del microservicio Course, los logs generados por Spring Boot en la terminal de VS Code permitieron monitorear el inicio de la aplicación y la comunicación con el servidor de configuración.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EDF0B2D5-B47F-61AC-B17A-F09AD6845C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2258" y="4856706"/>
            <a:ext cx="7304308" cy="1854989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6BC92F38-7725-DA67-FA8D-D2F89CC66C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705" y="2121356"/>
            <a:ext cx="10510496" cy="2615288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822960"/>
          </a:xfrm>
          <a:prstGeom prst="rect">
            <a:avLst/>
          </a:prstGeom>
          <a:solidFill>
            <a:srgbClr val="124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488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Comunicación entre Microservicios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6324" y="458626"/>
            <a:ext cx="11548872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>
                <a:solidFill>
                  <a:srgbClr val="00BCD4"/>
                </a:solidFill>
                <a:latin typeface="Calibri"/>
              </a:rPr>
              <a:t>Logs de Eureka Server y Spring Cloud Config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00584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500"/>
              </a:spcBef>
            </a:pPr>
            <a:r>
              <a:rPr sz="1400" b="0">
                <a:solidFill>
                  <a:srgbClr val="1A1A2E"/>
                </a:solidFill>
                <a:latin typeface="Calibri"/>
              </a:rPr>
              <a:t>Los logs generados por Spring Boot en la terminal de VS Code permitieron validar la comunicación entre los microservicios Student y Course mediante Eureka Server y Spring Cloud Config, registrando peticiones HTTP y respuestas exitosas en consola.</a:t>
            </a:r>
          </a:p>
          <a:p>
            <a:pPr algn="l">
              <a:spcBef>
                <a:spcPts val="500"/>
              </a:spcBef>
            </a:pPr>
            <a:endParaRPr sz="1400" b="0">
              <a:solidFill>
                <a:srgbClr val="1A1A2E"/>
              </a:solidFill>
              <a:latin typeface="Calibri"/>
            </a:endParaRPr>
          </a:p>
          <a:p>
            <a:pPr algn="l">
              <a:spcBef>
                <a:spcPts val="500"/>
              </a:spcBef>
            </a:pPr>
            <a:r>
              <a:rPr sz="1400" b="0">
                <a:solidFill>
                  <a:srgbClr val="1A1A2E"/>
                </a:solidFill>
                <a:latin typeface="Calibri"/>
              </a:rPr>
              <a:t>Mensajes de comunicación inter-servicio observados: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487168"/>
            <a:ext cx="11247120" cy="347472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8640" y="2487168"/>
            <a:ext cx="822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9688"/>
                </a:solidFill>
                <a:latin typeface="Calibri"/>
              </a:rPr>
              <a:t>INFO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2487168"/>
            <a:ext cx="10058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  <a:latin typeface="Calibri"/>
              </a:rPr>
              <a:t>Eureka Server – Registered instance: STUDENT/localhost:student:8090 with status UP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871216"/>
            <a:ext cx="11247120" cy="347472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48640" y="2871216"/>
            <a:ext cx="822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9688"/>
                </a:solidFill>
                <a:latin typeface="Calibri"/>
              </a:rPr>
              <a:t>INFO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2871216"/>
            <a:ext cx="10058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  <a:latin typeface="Calibri"/>
              </a:rPr>
              <a:t>Eureka Server – Registered instance: COURSE/localhost:course:8080 with status UP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255264"/>
            <a:ext cx="11247120" cy="347472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48640" y="3255264"/>
            <a:ext cx="822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7ACC"/>
                </a:solidFill>
                <a:latin typeface="Calibri"/>
              </a:rPr>
              <a:t>INFO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3255264"/>
            <a:ext cx="10058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  <a:latin typeface="Calibri"/>
              </a:rPr>
              <a:t>DiscoveryClient - Registering application student with eureka: true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639312"/>
            <a:ext cx="11247120" cy="347472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48640" y="3639312"/>
            <a:ext cx="822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7ACC"/>
                </a:solidFill>
                <a:latin typeface="Calibri"/>
              </a:rPr>
              <a:t>INFO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17320" y="3639312"/>
            <a:ext cx="10058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  <a:latin typeface="Calibri"/>
              </a:rPr>
              <a:t>DispatcherServlet - Completed initialization in 3 ms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B11B5ABE-39B6-ABED-969C-85577D8481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717" y="4124267"/>
            <a:ext cx="9832257" cy="2406263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822960"/>
          </a:xfrm>
          <a:prstGeom prst="rect">
            <a:avLst/>
          </a:prstGeom>
          <a:solidFill>
            <a:srgbClr val="124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488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Conclusión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005840"/>
            <a:ext cx="64008" cy="457200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1005840"/>
            <a:ext cx="10881360" cy="35343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500"/>
              </a:spcBef>
            </a:pPr>
            <a:r>
              <a:rPr sz="1400" b="0" dirty="0">
                <a:solidFill>
                  <a:srgbClr val="1A1A2E"/>
                </a:solidFill>
                <a:latin typeface="Calibri"/>
              </a:rPr>
              <a:t>La </a:t>
            </a:r>
            <a:r>
              <a:rPr sz="1400" b="0" dirty="0" err="1">
                <a:solidFill>
                  <a:srgbClr val="1A1A2E"/>
                </a:solidFill>
                <a:latin typeface="Calibri"/>
              </a:rPr>
              <a:t>implementación</a:t>
            </a:r>
            <a:r>
              <a:rPr sz="1400" b="0" dirty="0">
                <a:solidFill>
                  <a:srgbClr val="1A1A2E"/>
                </a:solidFill>
                <a:latin typeface="Calibri"/>
              </a:rPr>
              <a:t> de logs </a:t>
            </a:r>
            <a:r>
              <a:rPr sz="1400" b="0" dirty="0" err="1">
                <a:solidFill>
                  <a:srgbClr val="1A1A2E"/>
                </a:solidFill>
                <a:latin typeface="Calibri"/>
              </a:rPr>
              <a:t>en</a:t>
            </a:r>
            <a:r>
              <a:rPr sz="1400" b="0" dirty="0">
                <a:solidFill>
                  <a:srgbClr val="1A1A2E"/>
                </a:solidFill>
                <a:latin typeface="Calibri"/>
              </a:rPr>
              <a:t> Spring Boot </a:t>
            </a:r>
            <a:r>
              <a:rPr sz="1400" b="0" dirty="0" err="1">
                <a:solidFill>
                  <a:srgbClr val="1A1A2E"/>
                </a:solidFill>
                <a:latin typeface="Calibri"/>
              </a:rPr>
              <a:t>usando</a:t>
            </a:r>
            <a:r>
              <a:rPr sz="1400" b="0" dirty="0">
                <a:solidFill>
                  <a:srgbClr val="1A1A2E"/>
                </a:solidFill>
                <a:latin typeface="Calibri"/>
              </a:rPr>
              <a:t> VS Code </a:t>
            </a:r>
            <a:r>
              <a:rPr sz="1400" b="0" dirty="0" err="1">
                <a:solidFill>
                  <a:srgbClr val="1A1A2E"/>
                </a:solidFill>
                <a:latin typeface="Calibri"/>
              </a:rPr>
              <a:t>permitió</a:t>
            </a:r>
            <a:r>
              <a:rPr sz="1400" b="0" dirty="0">
                <a:solidFill>
                  <a:srgbClr val="1A1A2E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1A1A2E"/>
                </a:solidFill>
                <a:latin typeface="Calibri"/>
              </a:rPr>
              <a:t>monitorear</a:t>
            </a:r>
            <a:r>
              <a:rPr sz="1400" b="0" dirty="0">
                <a:solidFill>
                  <a:srgbClr val="1A1A2E"/>
                </a:solidFill>
                <a:latin typeface="Calibri"/>
              </a:rPr>
              <a:t> y </a:t>
            </a:r>
            <a:r>
              <a:rPr sz="1400" b="0" dirty="0" err="1">
                <a:solidFill>
                  <a:srgbClr val="1A1A2E"/>
                </a:solidFill>
                <a:latin typeface="Calibri"/>
              </a:rPr>
              <a:t>validar</a:t>
            </a:r>
            <a:r>
              <a:rPr sz="1400" b="0" dirty="0">
                <a:solidFill>
                  <a:srgbClr val="1A1A2E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1A1A2E"/>
                </a:solidFill>
                <a:latin typeface="Calibri"/>
              </a:rPr>
              <a:t>el</a:t>
            </a:r>
            <a:r>
              <a:rPr sz="1400" b="0" dirty="0">
                <a:solidFill>
                  <a:srgbClr val="1A1A2E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1A1A2E"/>
                </a:solidFill>
                <a:latin typeface="Calibri"/>
              </a:rPr>
              <a:t>funcionamiento</a:t>
            </a:r>
            <a:r>
              <a:rPr sz="1400" b="0" dirty="0">
                <a:solidFill>
                  <a:srgbClr val="1A1A2E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1A1A2E"/>
                </a:solidFill>
                <a:latin typeface="Calibri"/>
              </a:rPr>
              <a:t>completo</a:t>
            </a:r>
            <a:r>
              <a:rPr sz="1400" b="0" dirty="0">
                <a:solidFill>
                  <a:srgbClr val="1A1A2E"/>
                </a:solidFill>
                <a:latin typeface="Calibri"/>
              </a:rPr>
              <a:t> de </a:t>
            </a:r>
            <a:r>
              <a:rPr sz="1400" b="0" dirty="0" err="1">
                <a:solidFill>
                  <a:srgbClr val="1A1A2E"/>
                </a:solidFill>
                <a:latin typeface="Calibri"/>
              </a:rPr>
              <a:t>los</a:t>
            </a:r>
            <a:r>
              <a:rPr sz="1400" b="0" dirty="0">
                <a:solidFill>
                  <a:srgbClr val="1A1A2E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1A1A2E"/>
                </a:solidFill>
                <a:latin typeface="Calibri"/>
              </a:rPr>
              <a:t>microservicios</a:t>
            </a:r>
            <a:r>
              <a:rPr sz="1400" b="0" dirty="0">
                <a:solidFill>
                  <a:srgbClr val="1A1A2E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1A1A2E"/>
                </a:solidFill>
                <a:latin typeface="Calibri"/>
              </a:rPr>
              <a:t>desarrollados</a:t>
            </a:r>
            <a:r>
              <a:rPr sz="1400" b="0" dirty="0">
                <a:solidFill>
                  <a:srgbClr val="1A1A2E"/>
                </a:solidFill>
                <a:latin typeface="Calibri"/>
              </a:rPr>
              <a:t>.</a:t>
            </a:r>
          </a:p>
          <a:p>
            <a:pPr algn="l">
              <a:spcBef>
                <a:spcPts val="500"/>
              </a:spcBef>
            </a:pPr>
            <a:endParaRPr sz="1400" b="0" dirty="0">
              <a:solidFill>
                <a:srgbClr val="1A1A2E"/>
              </a:solidFill>
              <a:latin typeface="Calibri"/>
            </a:endParaRPr>
          </a:p>
          <a:p>
            <a:pPr algn="l">
              <a:spcBef>
                <a:spcPts val="500"/>
              </a:spcBef>
            </a:pPr>
            <a:r>
              <a:rPr sz="1400" b="0" dirty="0">
                <a:solidFill>
                  <a:srgbClr val="1A1A2E"/>
                </a:solidFill>
                <a:latin typeface="Calibri"/>
              </a:rPr>
              <a:t>Mediante </a:t>
            </a:r>
            <a:r>
              <a:rPr sz="1400" b="0" dirty="0" err="1">
                <a:solidFill>
                  <a:srgbClr val="1A1A2E"/>
                </a:solidFill>
                <a:latin typeface="Calibri"/>
              </a:rPr>
              <a:t>los</a:t>
            </a:r>
            <a:r>
              <a:rPr sz="1400" b="0" dirty="0">
                <a:solidFill>
                  <a:srgbClr val="1A1A2E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1A1A2E"/>
                </a:solidFill>
                <a:latin typeface="Calibri"/>
              </a:rPr>
              <a:t>registros</a:t>
            </a:r>
            <a:r>
              <a:rPr sz="1400" b="0" dirty="0">
                <a:solidFill>
                  <a:srgbClr val="1A1A2E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1A1A2E"/>
                </a:solidFill>
                <a:latin typeface="Calibri"/>
              </a:rPr>
              <a:t>generados</a:t>
            </a:r>
            <a:r>
              <a:rPr sz="1400" b="0" dirty="0">
                <a:solidFill>
                  <a:srgbClr val="1A1A2E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1A1A2E"/>
                </a:solidFill>
                <a:latin typeface="Calibri"/>
              </a:rPr>
              <a:t>en</a:t>
            </a:r>
            <a:r>
              <a:rPr sz="1400" b="0" dirty="0">
                <a:solidFill>
                  <a:srgbClr val="1A1A2E"/>
                </a:solidFill>
                <a:latin typeface="Calibri"/>
              </a:rPr>
              <a:t> la terminal </a:t>
            </a:r>
            <a:r>
              <a:rPr sz="1400" b="0" dirty="0" err="1">
                <a:solidFill>
                  <a:srgbClr val="1A1A2E"/>
                </a:solidFill>
                <a:latin typeface="Calibri"/>
              </a:rPr>
              <a:t>integrada</a:t>
            </a:r>
            <a:r>
              <a:rPr sz="1400" b="0" dirty="0">
                <a:solidFill>
                  <a:srgbClr val="1A1A2E"/>
                </a:solidFill>
                <a:latin typeface="Calibri"/>
              </a:rPr>
              <a:t> de VS Code </a:t>
            </a:r>
            <a:r>
              <a:rPr sz="1400" b="0" dirty="0" err="1">
                <a:solidFill>
                  <a:srgbClr val="1A1A2E"/>
                </a:solidFill>
                <a:latin typeface="Calibri"/>
              </a:rPr>
              <a:t>fue</a:t>
            </a:r>
            <a:r>
              <a:rPr sz="1400" b="0" dirty="0">
                <a:solidFill>
                  <a:srgbClr val="1A1A2E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1A1A2E"/>
                </a:solidFill>
                <a:latin typeface="Calibri"/>
              </a:rPr>
              <a:t>posible</a:t>
            </a:r>
            <a:r>
              <a:rPr sz="1400" b="0" dirty="0">
                <a:solidFill>
                  <a:srgbClr val="1A1A2E"/>
                </a:solidFill>
                <a:latin typeface="Calibri"/>
              </a:rPr>
              <a:t>:</a:t>
            </a:r>
          </a:p>
          <a:p>
            <a:pPr algn="l">
              <a:spcBef>
                <a:spcPts val="500"/>
              </a:spcBef>
            </a:pPr>
            <a:endParaRPr sz="1400" b="0" dirty="0">
              <a:solidFill>
                <a:srgbClr val="1A1A2E"/>
              </a:solidFill>
              <a:latin typeface="Calibri"/>
            </a:endParaRPr>
          </a:p>
          <a:p>
            <a:pPr algn="l">
              <a:spcBef>
                <a:spcPts val="500"/>
              </a:spcBef>
            </a:pPr>
            <a:r>
              <a:rPr sz="1400" b="0" dirty="0">
                <a:solidFill>
                  <a:srgbClr val="1A1A2E"/>
                </a:solidFill>
                <a:latin typeface="Calibri"/>
              </a:rPr>
              <a:t>  ✔  </a:t>
            </a:r>
            <a:r>
              <a:rPr sz="1400" b="0" dirty="0" err="1">
                <a:solidFill>
                  <a:srgbClr val="1A1A2E"/>
                </a:solidFill>
                <a:latin typeface="Calibri"/>
              </a:rPr>
              <a:t>Comprobar</a:t>
            </a:r>
            <a:r>
              <a:rPr sz="1400" b="0" dirty="0">
                <a:solidFill>
                  <a:srgbClr val="1A1A2E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1A1A2E"/>
                </a:solidFill>
                <a:latin typeface="Calibri"/>
              </a:rPr>
              <a:t>conexiones</a:t>
            </a:r>
            <a:r>
              <a:rPr sz="1400" b="0" dirty="0">
                <a:solidFill>
                  <a:srgbClr val="1A1A2E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1A1A2E"/>
                </a:solidFill>
                <a:latin typeface="Calibri"/>
              </a:rPr>
              <a:t>exitosas</a:t>
            </a:r>
            <a:r>
              <a:rPr sz="1400" b="0" dirty="0">
                <a:solidFill>
                  <a:srgbClr val="1A1A2E"/>
                </a:solidFill>
                <a:latin typeface="Calibri"/>
              </a:rPr>
              <a:t> con MySQL </a:t>
            </a:r>
            <a:r>
              <a:rPr sz="1400" b="0" dirty="0" err="1">
                <a:solidFill>
                  <a:srgbClr val="1A1A2E"/>
                </a:solidFill>
                <a:latin typeface="Calibri"/>
              </a:rPr>
              <a:t>mediante</a:t>
            </a:r>
            <a:r>
              <a:rPr sz="1400" b="0" dirty="0">
                <a:solidFill>
                  <a:srgbClr val="1A1A2E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1A1A2E"/>
                </a:solidFill>
                <a:latin typeface="Calibri"/>
              </a:rPr>
              <a:t>HikariCP</a:t>
            </a:r>
            <a:r>
              <a:rPr sz="1400" b="0" dirty="0">
                <a:solidFill>
                  <a:srgbClr val="1A1A2E"/>
                </a:solidFill>
                <a:latin typeface="Calibri"/>
              </a:rPr>
              <a:t> e Hibernate.</a:t>
            </a:r>
          </a:p>
          <a:p>
            <a:pPr algn="l">
              <a:spcBef>
                <a:spcPts val="500"/>
              </a:spcBef>
            </a:pPr>
            <a:r>
              <a:rPr sz="1400" b="0" dirty="0">
                <a:solidFill>
                  <a:srgbClr val="1A1A2E"/>
                </a:solidFill>
                <a:latin typeface="Calibri"/>
              </a:rPr>
              <a:t>  ✔  </a:t>
            </a:r>
            <a:r>
              <a:rPr sz="1400" b="0" dirty="0" err="1">
                <a:solidFill>
                  <a:srgbClr val="1A1A2E"/>
                </a:solidFill>
                <a:latin typeface="Calibri"/>
              </a:rPr>
              <a:t>Detectar</a:t>
            </a:r>
            <a:r>
              <a:rPr sz="1400" b="0" dirty="0">
                <a:solidFill>
                  <a:srgbClr val="1A1A2E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1A1A2E"/>
                </a:solidFill>
                <a:latin typeface="Calibri"/>
              </a:rPr>
              <a:t>errores</a:t>
            </a:r>
            <a:r>
              <a:rPr sz="1400" b="0" dirty="0">
                <a:solidFill>
                  <a:srgbClr val="1A1A2E"/>
                </a:solidFill>
                <a:latin typeface="Calibri"/>
              </a:rPr>
              <a:t> de </a:t>
            </a:r>
            <a:r>
              <a:rPr sz="1400" b="0" dirty="0" err="1">
                <a:solidFill>
                  <a:srgbClr val="1A1A2E"/>
                </a:solidFill>
                <a:latin typeface="Calibri"/>
              </a:rPr>
              <a:t>comunicación</a:t>
            </a:r>
            <a:r>
              <a:rPr sz="1400" b="0" dirty="0">
                <a:solidFill>
                  <a:srgbClr val="1A1A2E"/>
                </a:solidFill>
                <a:latin typeface="Calibri"/>
              </a:rPr>
              <a:t> con Eureka Server (Connection refused).</a:t>
            </a:r>
          </a:p>
          <a:p>
            <a:pPr algn="l">
              <a:spcBef>
                <a:spcPts val="500"/>
              </a:spcBef>
            </a:pPr>
            <a:r>
              <a:rPr sz="1400" b="0" dirty="0">
                <a:solidFill>
                  <a:srgbClr val="1A1A2E"/>
                </a:solidFill>
                <a:latin typeface="Calibri"/>
              </a:rPr>
              <a:t>  ✔  </a:t>
            </a:r>
            <a:r>
              <a:rPr sz="1400" b="0" dirty="0" err="1">
                <a:solidFill>
                  <a:srgbClr val="1A1A2E"/>
                </a:solidFill>
                <a:latin typeface="Calibri"/>
              </a:rPr>
              <a:t>Verificar</a:t>
            </a:r>
            <a:r>
              <a:rPr sz="1400" b="0" dirty="0">
                <a:solidFill>
                  <a:srgbClr val="1A1A2E"/>
                </a:solidFill>
                <a:latin typeface="Calibri"/>
              </a:rPr>
              <a:t> la </a:t>
            </a:r>
            <a:r>
              <a:rPr sz="1400" b="0" dirty="0" err="1">
                <a:solidFill>
                  <a:srgbClr val="1A1A2E"/>
                </a:solidFill>
                <a:latin typeface="Calibri"/>
              </a:rPr>
              <a:t>ejecución</a:t>
            </a:r>
            <a:r>
              <a:rPr sz="1400" b="0" dirty="0">
                <a:solidFill>
                  <a:srgbClr val="1A1A2E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1A1A2E"/>
                </a:solidFill>
                <a:latin typeface="Calibri"/>
              </a:rPr>
              <a:t>correcta</a:t>
            </a:r>
            <a:r>
              <a:rPr sz="1400" b="0" dirty="0">
                <a:solidFill>
                  <a:srgbClr val="1A1A2E"/>
                </a:solidFill>
                <a:latin typeface="Calibri"/>
              </a:rPr>
              <a:t> de </a:t>
            </a:r>
            <a:r>
              <a:rPr sz="1400" b="0" dirty="0" err="1">
                <a:solidFill>
                  <a:srgbClr val="1A1A2E"/>
                </a:solidFill>
                <a:latin typeface="Calibri"/>
              </a:rPr>
              <a:t>peticiones</a:t>
            </a:r>
            <a:r>
              <a:rPr sz="1400" b="0" dirty="0">
                <a:solidFill>
                  <a:srgbClr val="1A1A2E"/>
                </a:solidFill>
                <a:latin typeface="Calibri"/>
              </a:rPr>
              <a:t> HTTP y </a:t>
            </a:r>
            <a:r>
              <a:rPr sz="1400" b="0" dirty="0" err="1">
                <a:solidFill>
                  <a:srgbClr val="1A1A2E"/>
                </a:solidFill>
                <a:latin typeface="Calibri"/>
              </a:rPr>
              <a:t>respuestas</a:t>
            </a:r>
            <a:r>
              <a:rPr sz="1400" b="0" dirty="0">
                <a:solidFill>
                  <a:srgbClr val="1A1A2E"/>
                </a:solidFill>
                <a:latin typeface="Calibri"/>
              </a:rPr>
              <a:t> 200 OK.</a:t>
            </a:r>
          </a:p>
          <a:p>
            <a:pPr algn="l">
              <a:spcBef>
                <a:spcPts val="500"/>
              </a:spcBef>
            </a:pPr>
            <a:r>
              <a:rPr sz="1400" b="0" dirty="0">
                <a:solidFill>
                  <a:srgbClr val="1A1A2E"/>
                </a:solidFill>
                <a:latin typeface="Calibri"/>
              </a:rPr>
              <a:t>  ✔  </a:t>
            </a:r>
            <a:r>
              <a:rPr sz="1400" b="0" dirty="0" err="1">
                <a:solidFill>
                  <a:srgbClr val="1A1A2E"/>
                </a:solidFill>
                <a:latin typeface="Calibri"/>
              </a:rPr>
              <a:t>Visualizar</a:t>
            </a:r>
            <a:r>
              <a:rPr sz="1400" b="0" dirty="0">
                <a:solidFill>
                  <a:srgbClr val="1A1A2E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1A1A2E"/>
                </a:solidFill>
                <a:latin typeface="Calibri"/>
              </a:rPr>
              <a:t>consultas</a:t>
            </a:r>
            <a:r>
              <a:rPr sz="1400" b="0" dirty="0">
                <a:solidFill>
                  <a:srgbClr val="1A1A2E"/>
                </a:solidFill>
                <a:latin typeface="Calibri"/>
              </a:rPr>
              <a:t> SQL </a:t>
            </a:r>
            <a:r>
              <a:rPr sz="1400" b="0" dirty="0" err="1">
                <a:solidFill>
                  <a:srgbClr val="1A1A2E"/>
                </a:solidFill>
                <a:latin typeface="Calibri"/>
              </a:rPr>
              <a:t>generadas</a:t>
            </a:r>
            <a:r>
              <a:rPr sz="1400" b="0" dirty="0">
                <a:solidFill>
                  <a:srgbClr val="1A1A2E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1A1A2E"/>
                </a:solidFill>
                <a:latin typeface="Calibri"/>
              </a:rPr>
              <a:t>automáticamente</a:t>
            </a:r>
            <a:r>
              <a:rPr sz="1400" b="0" dirty="0">
                <a:solidFill>
                  <a:srgbClr val="1A1A2E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1A1A2E"/>
                </a:solidFill>
                <a:latin typeface="Calibri"/>
              </a:rPr>
              <a:t>por</a:t>
            </a:r>
            <a:r>
              <a:rPr sz="1400" b="0" dirty="0">
                <a:solidFill>
                  <a:srgbClr val="1A1A2E"/>
                </a:solidFill>
                <a:latin typeface="Calibri"/>
              </a:rPr>
              <a:t> Hibernate.</a:t>
            </a:r>
          </a:p>
          <a:p>
            <a:pPr algn="l">
              <a:spcBef>
                <a:spcPts val="500"/>
              </a:spcBef>
            </a:pPr>
            <a:r>
              <a:rPr sz="1400" b="0" dirty="0">
                <a:solidFill>
                  <a:srgbClr val="1A1A2E"/>
                </a:solidFill>
                <a:latin typeface="Calibri"/>
              </a:rPr>
              <a:t>  ✔  </a:t>
            </a:r>
            <a:r>
              <a:rPr sz="1400" b="0" dirty="0" err="1">
                <a:solidFill>
                  <a:srgbClr val="1A1A2E"/>
                </a:solidFill>
                <a:latin typeface="Calibri"/>
              </a:rPr>
              <a:t>Confirmar</a:t>
            </a:r>
            <a:r>
              <a:rPr sz="1400" b="0" dirty="0">
                <a:solidFill>
                  <a:srgbClr val="1A1A2E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1A1A2E"/>
                </a:solidFill>
                <a:latin typeface="Calibri"/>
              </a:rPr>
              <a:t>el</a:t>
            </a:r>
            <a:r>
              <a:rPr sz="1400" b="0" dirty="0">
                <a:solidFill>
                  <a:srgbClr val="1A1A2E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1A1A2E"/>
                </a:solidFill>
                <a:latin typeface="Calibri"/>
              </a:rPr>
              <a:t>registro</a:t>
            </a:r>
            <a:r>
              <a:rPr sz="1400" b="0" dirty="0">
                <a:solidFill>
                  <a:srgbClr val="1A1A2E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1A1A2E"/>
                </a:solidFill>
                <a:latin typeface="Calibri"/>
              </a:rPr>
              <a:t>correcto</a:t>
            </a:r>
            <a:r>
              <a:rPr sz="1400" b="0" dirty="0">
                <a:solidFill>
                  <a:srgbClr val="1A1A2E"/>
                </a:solidFill>
                <a:latin typeface="Calibri"/>
              </a:rPr>
              <a:t> de </a:t>
            </a:r>
            <a:r>
              <a:rPr sz="1400" b="0" dirty="0" err="1">
                <a:solidFill>
                  <a:srgbClr val="1A1A2E"/>
                </a:solidFill>
                <a:latin typeface="Calibri"/>
              </a:rPr>
              <a:t>los</a:t>
            </a:r>
            <a:r>
              <a:rPr sz="1400" b="0" dirty="0">
                <a:solidFill>
                  <a:srgbClr val="1A1A2E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1A1A2E"/>
                </a:solidFill>
                <a:latin typeface="Calibri"/>
              </a:rPr>
              <a:t>microservicios</a:t>
            </a:r>
            <a:r>
              <a:rPr sz="1400" b="0" dirty="0">
                <a:solidFill>
                  <a:srgbClr val="1A1A2E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1A1A2E"/>
                </a:solidFill>
                <a:latin typeface="Calibri"/>
              </a:rPr>
              <a:t>en</a:t>
            </a:r>
            <a:r>
              <a:rPr sz="1400" b="0" dirty="0">
                <a:solidFill>
                  <a:srgbClr val="1A1A2E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1A1A2E"/>
                </a:solidFill>
                <a:latin typeface="Calibri"/>
              </a:rPr>
              <a:t>el</a:t>
            </a:r>
            <a:r>
              <a:rPr sz="1400" b="0" dirty="0">
                <a:solidFill>
                  <a:srgbClr val="1A1A2E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1A1A2E"/>
                </a:solidFill>
                <a:latin typeface="Calibri"/>
              </a:rPr>
              <a:t>servidor</a:t>
            </a:r>
            <a:r>
              <a:rPr sz="1400" b="0" dirty="0">
                <a:solidFill>
                  <a:srgbClr val="1A1A2E"/>
                </a:solidFill>
                <a:latin typeface="Calibri"/>
              </a:rPr>
              <a:t> Eureka.</a:t>
            </a:r>
          </a:p>
          <a:p>
            <a:pPr algn="l">
              <a:spcBef>
                <a:spcPts val="500"/>
              </a:spcBef>
            </a:pPr>
            <a:endParaRPr sz="1400" b="0" dirty="0">
              <a:solidFill>
                <a:srgbClr val="1A1A2E"/>
              </a:solidFill>
              <a:latin typeface="Calibri"/>
            </a:endParaRPr>
          </a:p>
          <a:p>
            <a:pPr algn="l">
              <a:spcBef>
                <a:spcPts val="500"/>
              </a:spcBef>
            </a:pPr>
            <a:r>
              <a:rPr sz="1400" b="0" dirty="0">
                <a:solidFill>
                  <a:srgbClr val="1A1A2E"/>
                </a:solidFill>
                <a:latin typeface="Calibri"/>
              </a:rPr>
              <a:t>El </a:t>
            </a:r>
            <a:r>
              <a:rPr sz="1400" b="0" dirty="0" err="1">
                <a:solidFill>
                  <a:srgbClr val="1A1A2E"/>
                </a:solidFill>
                <a:latin typeface="Calibri"/>
              </a:rPr>
              <a:t>uso</a:t>
            </a:r>
            <a:r>
              <a:rPr sz="1400" b="0" dirty="0">
                <a:solidFill>
                  <a:srgbClr val="1A1A2E"/>
                </a:solidFill>
                <a:latin typeface="Calibri"/>
              </a:rPr>
              <a:t> de VS Code </a:t>
            </a:r>
            <a:r>
              <a:rPr sz="1400" b="0" dirty="0" err="1">
                <a:solidFill>
                  <a:srgbClr val="1A1A2E"/>
                </a:solidFill>
                <a:latin typeface="Calibri"/>
              </a:rPr>
              <a:t>como</a:t>
            </a:r>
            <a:r>
              <a:rPr sz="1400" b="0" dirty="0">
                <a:solidFill>
                  <a:srgbClr val="1A1A2E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1A1A2E"/>
                </a:solidFill>
                <a:latin typeface="Calibri"/>
              </a:rPr>
              <a:t>entorno</a:t>
            </a:r>
            <a:r>
              <a:rPr sz="1400" b="0" dirty="0">
                <a:solidFill>
                  <a:srgbClr val="1A1A2E"/>
                </a:solidFill>
                <a:latin typeface="Calibri"/>
              </a:rPr>
              <a:t> de </a:t>
            </a:r>
            <a:r>
              <a:rPr sz="1400" b="0" dirty="0" err="1">
                <a:solidFill>
                  <a:srgbClr val="1A1A2E"/>
                </a:solidFill>
                <a:latin typeface="Calibri"/>
              </a:rPr>
              <a:t>desarrollo</a:t>
            </a:r>
            <a:r>
              <a:rPr sz="1400" b="0" dirty="0">
                <a:solidFill>
                  <a:srgbClr val="1A1A2E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1A1A2E"/>
                </a:solidFill>
                <a:latin typeface="Calibri"/>
              </a:rPr>
              <a:t>demostró</a:t>
            </a:r>
            <a:r>
              <a:rPr sz="1400" b="0" dirty="0">
                <a:solidFill>
                  <a:srgbClr val="1A1A2E"/>
                </a:solidFill>
                <a:latin typeface="Calibri"/>
              </a:rPr>
              <a:t> ser </a:t>
            </a:r>
            <a:r>
              <a:rPr sz="1400" b="0" dirty="0" err="1">
                <a:solidFill>
                  <a:srgbClr val="1A1A2E"/>
                </a:solidFill>
                <a:latin typeface="Calibri"/>
              </a:rPr>
              <a:t>completamente</a:t>
            </a:r>
            <a:r>
              <a:rPr sz="1400" b="0" dirty="0">
                <a:solidFill>
                  <a:srgbClr val="1A1A2E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1A1A2E"/>
                </a:solidFill>
                <a:latin typeface="Calibri"/>
              </a:rPr>
              <a:t>funcional</a:t>
            </a:r>
            <a:r>
              <a:rPr sz="1400" b="0" dirty="0">
                <a:solidFill>
                  <a:srgbClr val="1A1A2E"/>
                </a:solidFill>
                <a:latin typeface="Calibri"/>
              </a:rPr>
              <a:t> para </a:t>
            </a:r>
            <a:r>
              <a:rPr sz="1400" b="0" dirty="0" err="1">
                <a:solidFill>
                  <a:srgbClr val="1A1A2E"/>
                </a:solidFill>
                <a:latin typeface="Calibri"/>
              </a:rPr>
              <a:t>el</a:t>
            </a:r>
            <a:r>
              <a:rPr sz="1400" b="0" dirty="0">
                <a:solidFill>
                  <a:srgbClr val="1A1A2E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1A1A2E"/>
                </a:solidFill>
                <a:latin typeface="Calibri"/>
              </a:rPr>
              <a:t>desarrollo</a:t>
            </a:r>
            <a:r>
              <a:rPr sz="1400" b="0" dirty="0">
                <a:solidFill>
                  <a:srgbClr val="1A1A2E"/>
                </a:solidFill>
                <a:latin typeface="Calibri"/>
              </a:rPr>
              <a:t> de </a:t>
            </a:r>
            <a:r>
              <a:rPr sz="1400" b="0" dirty="0" err="1">
                <a:solidFill>
                  <a:srgbClr val="1A1A2E"/>
                </a:solidFill>
                <a:latin typeface="Calibri"/>
              </a:rPr>
              <a:t>microservicios</a:t>
            </a:r>
            <a:r>
              <a:rPr sz="1400" b="0" dirty="0">
                <a:solidFill>
                  <a:srgbClr val="1A1A2E"/>
                </a:solidFill>
                <a:latin typeface="Calibri"/>
              </a:rPr>
              <a:t> Spring Boot, con </a:t>
            </a:r>
            <a:r>
              <a:rPr sz="1400" b="0" dirty="0" err="1">
                <a:solidFill>
                  <a:srgbClr val="1A1A2E"/>
                </a:solidFill>
                <a:latin typeface="Calibri"/>
              </a:rPr>
              <a:t>soporte</a:t>
            </a:r>
            <a:r>
              <a:rPr sz="1400" b="0" dirty="0">
                <a:solidFill>
                  <a:srgbClr val="1A1A2E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1A1A2E"/>
                </a:solidFill>
                <a:latin typeface="Calibri"/>
              </a:rPr>
              <a:t>equivalente</a:t>
            </a:r>
            <a:r>
              <a:rPr sz="1400" b="0" dirty="0">
                <a:solidFill>
                  <a:srgbClr val="1A1A2E"/>
                </a:solidFill>
                <a:latin typeface="Calibri"/>
              </a:rPr>
              <a:t> al de IntelliJ IDEA.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01168" y="0"/>
            <a:ext cx="54864" cy="685800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56032" y="0"/>
            <a:ext cx="11932920" cy="54864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Repositorio del Proyecto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868680"/>
            <a:ext cx="7315200" cy="36576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48640" y="2651760"/>
            <a:ext cx="11109960" cy="1005840"/>
          </a:xfrm>
          <a:prstGeom prst="rect">
            <a:avLst/>
          </a:prstGeom>
          <a:solidFill>
            <a:srgbClr val="0D3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48640" y="2651760"/>
            <a:ext cx="91440" cy="100584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60" y="26974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CD4"/>
                </a:solidFill>
                <a:latin typeface="Calibri"/>
              </a:rPr>
              <a:t>Ubicación en el repositorio: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063240"/>
            <a:ext cx="105156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MX" sz="1500" b="1" i="0" dirty="0">
                <a:solidFill>
                  <a:srgbClr val="FFFFFF"/>
                </a:solidFill>
                <a:latin typeface="Calibri"/>
                <a:hlinkClick r:id="rId2"/>
              </a:rPr>
              <a:t>https://github.com/amaurycolochos-cpu/ADMINISTRACION-BASE-DE-DATOS/tree/master/ABD-Tema-4</a:t>
            </a:r>
            <a:endParaRPr lang="es-MX" sz="1500" b="1" i="0" dirty="0">
              <a:solidFill>
                <a:srgbClr val="FFFFFF"/>
              </a:solidFill>
              <a:latin typeface="Calibri"/>
            </a:endParaRPr>
          </a:p>
          <a:p>
            <a:pPr algn="l"/>
            <a:endParaRPr sz="1500" b="1" i="0" dirty="0">
              <a:solidFill>
                <a:srgbClr val="FFFFFF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01168" y="0"/>
            <a:ext cx="54864" cy="685800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Fuentes de Información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05840"/>
            <a:ext cx="6400800" cy="36576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1170432"/>
            <a:ext cx="64008" cy="45720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8640" y="1856232"/>
            <a:ext cx="64008" cy="45720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48640" y="2542032"/>
            <a:ext cx="64008" cy="45720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48640" y="3227832"/>
            <a:ext cx="64008" cy="45720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48640" y="3913632"/>
            <a:ext cx="64008" cy="45720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48640" y="1170432"/>
            <a:ext cx="64008" cy="45720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77240" y="1170432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BBDEFF"/>
                </a:solidFill>
                <a:latin typeface="Calibri"/>
              </a:rPr>
              <a:t>LaMalditaProgramadora. (2023, 3 de diciembre). Spring Boot 3 + Log4j2 + Lombok (logs en archivo)
  [Video]. YouTube. https://youtu.be/qYaun41gTN0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1856232"/>
            <a:ext cx="64008" cy="45720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77240" y="1856232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BBDEFF"/>
                </a:solidFill>
                <a:latin typeface="Calibri"/>
              </a:rPr>
              <a:t>Morsa Programando. (2022, 8 de septiembre). Aprende Spring Boot de una vez por todas! #2 Logs I
  [Video]. YouTube. https://youtu.be/Jy0bLQE4NfA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2542032"/>
            <a:ext cx="64008" cy="45720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77240" y="2542032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 dirty="0" err="1">
                <a:solidFill>
                  <a:srgbClr val="BBDEFF"/>
                </a:solidFill>
                <a:latin typeface="Calibri"/>
              </a:rPr>
              <a:t>Morsa</a:t>
            </a:r>
            <a:r>
              <a:rPr sz="1100" b="0" i="1" dirty="0">
                <a:solidFill>
                  <a:srgbClr val="BBDEFF"/>
                </a:solidFill>
                <a:latin typeface="Calibri"/>
              </a:rPr>
              <a:t> </a:t>
            </a:r>
            <a:r>
              <a:rPr sz="1100" b="0" i="1" dirty="0" err="1">
                <a:solidFill>
                  <a:srgbClr val="BBDEFF"/>
                </a:solidFill>
                <a:latin typeface="Calibri"/>
              </a:rPr>
              <a:t>Programando</a:t>
            </a:r>
            <a:r>
              <a:rPr sz="1100" b="0" i="1" dirty="0">
                <a:solidFill>
                  <a:srgbClr val="BBDEFF"/>
                </a:solidFill>
                <a:latin typeface="Calibri"/>
              </a:rPr>
              <a:t>. (2022, 9 de </a:t>
            </a:r>
            <a:r>
              <a:rPr sz="1100" b="0" i="1" dirty="0" err="1">
                <a:solidFill>
                  <a:srgbClr val="BBDEFF"/>
                </a:solidFill>
                <a:latin typeface="Calibri"/>
              </a:rPr>
              <a:t>septiembre</a:t>
            </a:r>
            <a:r>
              <a:rPr sz="1100" b="0" i="1" dirty="0">
                <a:solidFill>
                  <a:srgbClr val="BBDEFF"/>
                </a:solidFill>
                <a:latin typeface="Calibri"/>
              </a:rPr>
              <a:t>). </a:t>
            </a:r>
            <a:r>
              <a:rPr sz="1100" b="0" i="1" dirty="0" err="1">
                <a:solidFill>
                  <a:srgbClr val="BBDEFF"/>
                </a:solidFill>
                <a:latin typeface="Calibri"/>
              </a:rPr>
              <a:t>Aprende</a:t>
            </a:r>
            <a:r>
              <a:rPr sz="1100" b="0" i="1" dirty="0">
                <a:solidFill>
                  <a:srgbClr val="BBDEFF"/>
                </a:solidFill>
                <a:latin typeface="Calibri"/>
              </a:rPr>
              <a:t> Spring Boot de </a:t>
            </a:r>
            <a:r>
              <a:rPr sz="1100" b="0" i="1" dirty="0" err="1">
                <a:solidFill>
                  <a:srgbClr val="BBDEFF"/>
                </a:solidFill>
                <a:latin typeface="Calibri"/>
              </a:rPr>
              <a:t>una</a:t>
            </a:r>
            <a:r>
              <a:rPr sz="1100" b="0" i="1" dirty="0">
                <a:solidFill>
                  <a:srgbClr val="BBDEFF"/>
                </a:solidFill>
                <a:latin typeface="Calibri"/>
              </a:rPr>
              <a:t> </a:t>
            </a:r>
            <a:r>
              <a:rPr sz="1100" b="0" i="1" dirty="0" err="1">
                <a:solidFill>
                  <a:srgbClr val="BBDEFF"/>
                </a:solidFill>
                <a:latin typeface="Calibri"/>
              </a:rPr>
              <a:t>vez</a:t>
            </a:r>
            <a:r>
              <a:rPr sz="1100" b="0" i="1" dirty="0">
                <a:solidFill>
                  <a:srgbClr val="BBDEFF"/>
                </a:solidFill>
                <a:latin typeface="Calibri"/>
              </a:rPr>
              <a:t> </a:t>
            </a:r>
            <a:r>
              <a:rPr sz="1100" b="0" i="1" dirty="0" err="1">
                <a:solidFill>
                  <a:srgbClr val="BBDEFF"/>
                </a:solidFill>
                <a:latin typeface="Calibri"/>
              </a:rPr>
              <a:t>por</a:t>
            </a:r>
            <a:r>
              <a:rPr sz="1100" b="0" i="1" dirty="0">
                <a:solidFill>
                  <a:srgbClr val="BBDEFF"/>
                </a:solidFill>
                <a:latin typeface="Calibri"/>
              </a:rPr>
              <a:t> </a:t>
            </a:r>
            <a:r>
              <a:rPr sz="1100" b="0" i="1" dirty="0" err="1">
                <a:solidFill>
                  <a:srgbClr val="BBDEFF"/>
                </a:solidFill>
                <a:latin typeface="Calibri"/>
              </a:rPr>
              <a:t>todas</a:t>
            </a:r>
            <a:r>
              <a:rPr sz="1100" b="0" i="1" dirty="0">
                <a:solidFill>
                  <a:srgbClr val="BBDEFF"/>
                </a:solidFill>
                <a:latin typeface="Calibri"/>
              </a:rPr>
              <a:t>! #3 Logs II
  [Video]. YouTube. https://youtu.be/xUvzCDLtXik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3227832"/>
            <a:ext cx="64008" cy="45720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77240" y="3227832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 dirty="0">
                <a:solidFill>
                  <a:srgbClr val="BBDEFF"/>
                </a:solidFill>
                <a:latin typeface="Calibri"/>
              </a:rPr>
              <a:t>Spring Boot Reference Documentation. (2024). Logging.
  https://docs.spring.io/spring-boot/docs/current/reference/html/features.html#features.logging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3913632"/>
            <a:ext cx="64008" cy="45720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77240" y="3913632"/>
            <a:ext cx="1078992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 dirty="0">
                <a:solidFill>
                  <a:srgbClr val="BBDEFF"/>
                </a:solidFill>
                <a:latin typeface="Calibri"/>
              </a:rPr>
              <a:t>Microsoft. (2024). VS Code – Spring Boot Extension Pack.
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389</TotalTime>
  <Words>1629</Words>
  <Application>Microsoft Office PowerPoint</Application>
  <PresentationFormat>Personalizado</PresentationFormat>
  <Paragraphs>172</Paragraphs>
  <Slides>19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19</vt:i4>
      </vt:variant>
    </vt:vector>
  </HeadingPairs>
  <TitlesOfParts>
    <vt:vector size="25" baseType="lpstr">
      <vt:lpstr>-apple-system</vt:lpstr>
      <vt:lpstr>Aptos</vt:lpstr>
      <vt:lpstr>Arial</vt:lpstr>
      <vt:lpstr>Calibri</vt:lpstr>
      <vt:lpstr>Montserrat Bold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amaury rokete</cp:lastModifiedBy>
  <cp:revision>8</cp:revision>
  <dcterms:created xsi:type="dcterms:W3CDTF">2013-01-27T09:14:16Z</dcterms:created>
  <dcterms:modified xsi:type="dcterms:W3CDTF">2026-06-12T10:03:23Z</dcterms:modified>
  <cp:category/>
</cp:coreProperties>
</file>