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9" r:id="rId17"/>
    <p:sldId id="271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72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5AF85-41C9-41D2-AB00-B16BE34AFA28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14838-CDF3-4500-AA63-CB0AA24BFA1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827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aurycolochos-cpu/ADMINISTRACION-BASE-DE-DATOS/tree/master/ABD-Tema-4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14" y="161905"/>
            <a:ext cx="1461833" cy="1049220"/>
          </a:xfrm>
          <a:custGeom>
            <a:avLst/>
            <a:gdLst/>
            <a:ahLst/>
            <a:cxnLst/>
            <a:rect l="l" t="t" r="r" b="b"/>
            <a:pathLst>
              <a:path w="2193321" h="1574239">
                <a:moveTo>
                  <a:pt x="0" y="0"/>
                </a:moveTo>
                <a:lnTo>
                  <a:pt x="2193321" y="0"/>
                </a:lnTo>
                <a:lnTo>
                  <a:pt x="2193321" y="1574238"/>
                </a:lnTo>
                <a:lnTo>
                  <a:pt x="0" y="1574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715388" y="119052"/>
            <a:ext cx="2334759" cy="1025318"/>
          </a:xfrm>
          <a:custGeom>
            <a:avLst/>
            <a:gdLst/>
            <a:ahLst/>
            <a:cxnLst/>
            <a:rect l="l" t="t" r="r" b="b"/>
            <a:pathLst>
              <a:path w="3503050" h="1538377">
                <a:moveTo>
                  <a:pt x="0" y="0"/>
                </a:moveTo>
                <a:lnTo>
                  <a:pt x="3503050" y="0"/>
                </a:lnTo>
                <a:lnTo>
                  <a:pt x="3503050" y="1538377"/>
                </a:lnTo>
                <a:lnTo>
                  <a:pt x="0" y="15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356648" y="612665"/>
            <a:ext cx="5475529" cy="86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TECNOLÓGICO NACIONAL DE MÉXICO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UNIDAD ACADÉMICA VENUSTIANO CARRANZA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275" y="1443749"/>
            <a:ext cx="9497126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“INGENIERÍA EN SISTEMAS COMPUTACIONALES”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ADMINISTRACION DE BASE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5405" y="2293085"/>
            <a:ext cx="7429984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</a:t>
            </a:r>
          </a:p>
          <a:p>
            <a:pPr algn="ctr"/>
            <a:r>
              <a:rPr lang="es-MX" sz="1600" b="1" dirty="0">
                <a:latin typeface="-apple-system"/>
              </a:rPr>
              <a:t>ACTIVIDAD 4.3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3956" y="3132126"/>
            <a:ext cx="2437765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RPESENTA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99567" y="4815497"/>
            <a:ext cx="6094413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ING. FRANCISCO JAVIER MINGO VELAZQUEZ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9401" y="6083702"/>
            <a:ext cx="8339464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29 DE MAYO DE 2026 VENUSTIANO CARRANZA, CHIAPAS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3F15EB-498F-21AC-540F-B4832C9E5A89}"/>
              </a:ext>
            </a:extLst>
          </p:cNvPr>
          <p:cNvGraphicFramePr>
            <a:graphicFrameLocks noGrp="1"/>
          </p:cNvGraphicFramePr>
          <p:nvPr/>
        </p:nvGraphicFramePr>
        <p:xfrm>
          <a:off x="3656647" y="3803787"/>
          <a:ext cx="5484972" cy="670386"/>
        </p:xfrm>
        <a:graphic>
          <a:graphicData uri="http://schemas.openxmlformats.org/drawingml/2006/table">
            <a:tbl>
              <a:tblPr/>
              <a:tblGrid>
                <a:gridCol w="2742486">
                  <a:extLst>
                    <a:ext uri="{9D8B030D-6E8A-4147-A177-3AD203B41FA5}">
                      <a16:colId xmlns:a16="http://schemas.microsoft.com/office/drawing/2014/main" val="3099188907"/>
                    </a:ext>
                  </a:extLst>
                </a:gridCol>
                <a:gridCol w="2742486">
                  <a:extLst>
                    <a:ext uri="{9D8B030D-6E8A-4147-A177-3AD203B41FA5}">
                      <a16:colId xmlns:a16="http://schemas.microsoft.com/office/drawing/2014/main" val="3475046580"/>
                    </a:ext>
                  </a:extLst>
                </a:gridCol>
              </a:tblGrid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NOMBRE DEL ALUMNO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MATRICULA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15266"/>
                  </a:ext>
                </a:extLst>
              </a:tr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Amaury Jahaziel Gordillo Hernandez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effectLst/>
                        </a:rPr>
                        <a:t>231260074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13360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04D78428-F81B-1E82-50A7-BDB098FC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647" y="3681028"/>
            <a:ext cx="123143" cy="24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0944" tIns="30472" rIns="60944" bIns="30472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01  Introducción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02  Objetivo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03  Justificación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04  Ejercicio 1 – Creación básica de logs en Java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05  Ejercicio 2 – Manejo de errores mediante logs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06  Ejercicio 3 – Configuración de logs en Spring Boot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07  Ejercicio 4 – Validación de conexión con 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0515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08  Ejercicio 5 – Monitoreo de consultas SQL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09  Ejercicio 6 – Detección de errores con Eureka Server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10  Ejercicio 7 – Registro de microservicios en Eureka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11  Ejercicio 8 – Detección de errores HTTP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12  Ejercicio 9 – Apagado y desconexión de Eureka Server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13  Conclusión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14  Fuentes de información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051560"/>
            <a:ext cx="27432" cy="5029200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Introducción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64008" cy="3657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24128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Los logs permiten monitorear el comportamiento interno de aplicaciones desarrolladas con Spring Boot.</a:t>
            </a:r>
          </a:p>
          <a:p>
            <a:pPr algn="l">
              <a:spcBef>
                <a:spcPts val="500"/>
              </a:spcBef>
            </a:pPr>
            <a:endParaRPr sz="145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Mediante los registros generados en la terminal integrada de VS Code es posible:</a:t>
            </a:r>
          </a:p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  • Validar conexiones con bases de datos relacionales (MySQL, MySQL)</a:t>
            </a:r>
          </a:p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  • Detectar errores de servicio y excepciones en tiempo real</a:t>
            </a:r>
          </a:p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  • Supervisar la comunicación entre microservicios a través de Eureka Server</a:t>
            </a:r>
          </a:p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  • Visualizar consultas SQL generadas automáticamente por Hibernate</a:t>
            </a:r>
          </a:p>
          <a:p>
            <a:pPr algn="l">
              <a:spcBef>
                <a:spcPts val="500"/>
              </a:spcBef>
            </a:pPr>
            <a:endParaRPr sz="145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Este banco de ejercicios comprende 9 ejercicios prácticos que cubren desde la creación básica de logs en Java hasta el monitoreo avanzado de una arquitectura de microservicios completa en VS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280160"/>
            <a:ext cx="9966960" cy="320040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1280160"/>
            <a:ext cx="109728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1371600"/>
            <a:ext cx="932688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600" b="1" dirty="0" err="1">
                <a:solidFill>
                  <a:srgbClr val="FFFFFF"/>
                </a:solidFill>
                <a:latin typeface="Calibri"/>
              </a:rPr>
              <a:t>Objetivo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 General</a:t>
            </a:r>
          </a:p>
          <a:p>
            <a:pPr algn="l">
              <a:spcBef>
                <a:spcPts val="800"/>
              </a:spcBef>
            </a:pPr>
            <a:endParaRPr sz="1600" b="1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800"/>
              </a:spcBef>
            </a:pPr>
            <a:r>
              <a:rPr sz="1600" b="0" dirty="0" err="1">
                <a:solidFill>
                  <a:srgbClr val="FFFFFF"/>
                </a:solidFill>
                <a:latin typeface="Calibri"/>
              </a:rPr>
              <a:t>Realizar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ejercicios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prácticos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utilizando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logs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microservicios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Spring Boot (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desarrollados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VS Code) para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validar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peticiones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HTTP,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conexiones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con bases de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datos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(MySQL) y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comunicación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entre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servicios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mediante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Eureka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Justificación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64008" cy="4114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La implementación de logs es fundamental en el desarrollo de aplicaciones distribuidas porque:</a:t>
            </a:r>
          </a:p>
          <a:p>
            <a:pPr algn="l">
              <a:spcBef>
                <a:spcPts val="500"/>
              </a:spcBef>
            </a:pPr>
            <a:endParaRPr sz="145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  • Permite supervisar el funcionamiento en tiempo real sin interrumpir la ejecución.</a:t>
            </a:r>
          </a:p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  • Facilita la detección temprana de errores de conexión, excepciones y fallos de servicio.</a:t>
            </a:r>
          </a:p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  • Proporciona trazabilidad completa de la ejecución de consultas SQL e interacciones HTTP.</a:t>
            </a:r>
          </a:p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  • Es una práctica estándar en la industria del desarrollo de software empresarial.</a:t>
            </a:r>
          </a:p>
          <a:p>
            <a:pPr algn="l">
              <a:spcBef>
                <a:spcPts val="500"/>
              </a:spcBef>
            </a:pPr>
            <a:endParaRPr sz="145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500"/>
              </a:spcBef>
            </a:pPr>
            <a:r>
              <a:rPr sz="1450" b="0">
                <a:solidFill>
                  <a:srgbClr val="1A1A2E"/>
                </a:solidFill>
                <a:latin typeface="Calibri"/>
              </a:rPr>
              <a:t>El uso de VS Code con el Spring Boot Extension Pack proporciona una terminal integrada y herramientas de depuración equivalentes a cualquier IDE especializado, permitiendo realizar estos ejercicios con el mismo nivel de detalle y precisión.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Ejercicio 1 — Creación básica de logs en Java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024128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dirty="0">
                <a:solidFill>
                  <a:srgbClr val="1A1A2E"/>
                </a:solidFill>
                <a:latin typeface="Calibri"/>
              </a:rPr>
              <a:t>Se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creó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la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clase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LogExample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dentro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del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proyecto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Spring Boot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VS Code para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implementar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un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ejemplo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básico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de logs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utilizando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la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clase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Logger de Java.</a:t>
            </a:r>
          </a:p>
          <a:p>
            <a:pPr algn="l">
              <a:spcBef>
                <a:spcPts val="400"/>
              </a:spcBef>
            </a:pPr>
            <a:endParaRPr sz="130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0" dirty="0">
                <a:solidFill>
                  <a:srgbClr val="1A1A2E"/>
                </a:solidFill>
                <a:latin typeface="Calibri"/>
              </a:rPr>
              <a:t>Se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ejecutó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método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main()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desde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la terminal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integrada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de VS Code,</a:t>
            </a:r>
          </a:p>
          <a:p>
            <a:pPr algn="l">
              <a:spcBef>
                <a:spcPts val="400"/>
              </a:spcBef>
            </a:pPr>
            <a:r>
              <a:rPr sz="1300" b="0" dirty="0" err="1">
                <a:solidFill>
                  <a:srgbClr val="1A1A2E"/>
                </a:solidFill>
                <a:latin typeface="Calibri"/>
              </a:rPr>
              <a:t>generando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mensajes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de log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la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consola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3127248"/>
            <a:ext cx="521208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2608" y="3127248"/>
            <a:ext cx="521208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1272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VS Code · Terminal / Editor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419856"/>
            <a:ext cx="498348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6D364"/>
                </a:solidFill>
                <a:latin typeface="Calibri"/>
              </a:rPr>
              <a:t>import java.util.logging.Logger;
public class LogExample {
    private static final Logger logger =
        Logger.getLogger(LogExample.class.getName());
    public static void main(String[] args) {
        logger.info("Hola desde Java Logger – VS Code");
        logger.warning("Esto es una advertencia");
    }
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024128"/>
            <a:ext cx="5166360" cy="4937760"/>
          </a:xfrm>
          <a:prstGeom prst="rect">
            <a:avLst/>
          </a:prstGeom>
          <a:solidFill>
            <a:srgbClr val="E8F4FF"/>
          </a:solidFill>
          <a:ln w="19050">
            <a:solidFill>
              <a:srgbClr val="42A5F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1CF383E-6837-6DDB-C1C8-A278EAC44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522" y="1965559"/>
            <a:ext cx="5042827" cy="2835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Ejercicio 2 — Manejo de errores mediante logs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024128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Se implementó el manejo de errores utilizando Java Logger con los niveles INFO y SEVERE para registrar eventos y excepciones durante la ejecución.</a:t>
            </a:r>
          </a:p>
          <a:p>
            <a:pPr algn="l">
              <a:spcBef>
                <a:spcPts val="400"/>
              </a:spcBef>
            </a:pPr>
            <a:endParaRPr sz="130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La terminal de VS Code mostró la ArithmeticException (división entre cero):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8" y="3127248"/>
            <a:ext cx="521208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15568" y="3127248"/>
            <a:ext cx="521208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31272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VS Code · Terminal / Editor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19856"/>
            <a:ext cx="498348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6D364"/>
                </a:solidFill>
                <a:latin typeface="Calibri"/>
              </a:rPr>
              <a:t>public class ErrorLogExample {
    private static final Logger logger =
        Logger.getLogger(ErrorLogExample.class.getName());
    public static void main(String[] args) {
        try {
            int result = 10 / 0;
        } catch (ArithmeticException e) {
            logger.severe("Error: " + e.getMessage());
            logger.info("Proceso continúa después del error");
        }
    }
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024128"/>
            <a:ext cx="5166360" cy="4937760"/>
          </a:xfrm>
          <a:prstGeom prst="rect">
            <a:avLst/>
          </a:prstGeom>
          <a:solidFill>
            <a:srgbClr val="E8F4FF"/>
          </a:solidFill>
          <a:ln w="19050">
            <a:solidFill>
              <a:srgbClr val="42A5F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AF7CA82-5D7F-4F2D-4B93-062FAC8D5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512" y="2161780"/>
            <a:ext cx="5126528" cy="28825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Ejercicio 3 — Configuración de logs en Spring Boot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024128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Se configuraron niveles INFO y DEBUG en Spring Boot mediante el archivo application.yml en VS Code para monitorear eventos y procesos internos del sistema.</a:t>
            </a:r>
          </a:p>
          <a:p>
            <a:pPr algn="l">
              <a:spcBef>
                <a:spcPts val="400"/>
              </a:spcBef>
            </a:pPr>
            <a:endParaRPr sz="130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Configuración aplicada en el microservicio Student: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8" y="3127248"/>
            <a:ext cx="521208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15568" y="3127248"/>
            <a:ext cx="521208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31272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VS Code · Terminal / Editor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19856"/>
            <a:ext cx="498348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6D364"/>
                </a:solidFill>
                <a:latin typeface="Calibri"/>
              </a:rPr>
              <a:t># application.yml – Configuración de logs Spring Boot
logging:
  level:
    root: INFO
    com.example: DEBUG
    org.springframework.web: DEBUG
    org.hibernate.SQL: DEBUG
  pattern:
    console: "%d{yyyy-MM-dd HH:mm:ss} %-5level %logger{36} - %msg%n"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024128"/>
            <a:ext cx="5166360" cy="4937760"/>
          </a:xfrm>
          <a:prstGeom prst="rect">
            <a:avLst/>
          </a:prstGeom>
          <a:solidFill>
            <a:srgbClr val="E8F4FF"/>
          </a:solidFill>
          <a:ln w="19050">
            <a:solidFill>
              <a:srgbClr val="42A5F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EEBC222-2F10-91BE-BF38-7D4589FD6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926" y="2281084"/>
            <a:ext cx="5005867" cy="28146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Ejercicio 4 — Validación de conexión con MySQL mediante logs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024128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Los logs generados por Spring Boot en VS Code permitieron validar la conexión correcta entre el microservicio Student y la base de datos MySQL.</a:t>
            </a:r>
          </a:p>
          <a:p>
            <a:pPr algn="l">
              <a:spcBef>
                <a:spcPts val="400"/>
              </a:spcBef>
            </a:pPr>
            <a:endParaRPr sz="135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Mediante Hibernate y HikariCP se comprobó la inicialización del pool de conexiones: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1824228"/>
            <a:ext cx="11247120" cy="302830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5488" y="1824228"/>
            <a:ext cx="11247120" cy="37685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1824228"/>
            <a:ext cx="54864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888888"/>
                </a:solidFill>
                <a:latin typeface="Calibri"/>
              </a:rPr>
              <a:t>VS Code · 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116836"/>
            <a:ext cx="109728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6D364"/>
                </a:solidFill>
                <a:latin typeface="Calibri"/>
              </a:rPr>
              <a:t>INFO  HikariPool-1 – Starting...
INFO  com.zaxxer.hikari.HikariDataSource - HikariPool-1 - Start completed.
DEBUG org.hibernate.SQL - create table student (...)
INFO  o.s.b.web.embedded.tomcat.TomcatWebServer - Tomcat started on port(s): 8090
INFO  c.e.student.StudentApplication - Started StudentApplication in 4.23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954780"/>
            <a:ext cx="11247120" cy="2691826"/>
          </a:xfrm>
          <a:prstGeom prst="rect">
            <a:avLst/>
          </a:prstGeom>
          <a:solidFill>
            <a:srgbClr val="E8F4FF"/>
          </a:solidFill>
          <a:ln w="19050">
            <a:solidFill>
              <a:srgbClr val="42A5F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52C827C-03AB-7784-5172-1DBBEC3AB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435" y="3993077"/>
            <a:ext cx="9117622" cy="26131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Ejercicio 5 — Monitoreo de consultas SQL mediante logs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024128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Hibernate generó automáticamente consultas SQL mostradas en la terminal de VS Code durante las peticiones realizadas al microservicio Student.</a:t>
            </a:r>
          </a:p>
          <a:p>
            <a:pPr algn="l">
              <a:spcBef>
                <a:spcPts val="400"/>
              </a:spcBef>
            </a:pPr>
            <a:endParaRPr sz="135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Esto permite monitorear la comunicación con MySQL en tiempo real: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11247120" cy="2057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1124712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87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VS Code · Terminal integrada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79776"/>
            <a:ext cx="109728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6D364"/>
                </a:solidFill>
                <a:latin typeface="Calibri"/>
              </a:rPr>
              <a:t>DEBUG org.hibernate.SQL - 
    select s1_0.id, s1_0.name, s1_0.email
    from student s1_0
TRACE o.h.t.d.s.BasicBinder - binding parameter [1] as [VARCHAR] - [null]
DEBUG HikariPool - Connection acquired from pool (MySQL)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A07C494-F9A9-B636-C3D4-A7229DA7E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251" y="4582302"/>
            <a:ext cx="7369017" cy="22563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Ejercicio 6 — Detección de errores de comunicación con Eureka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024128"/>
            <a:ext cx="10607040" cy="818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Los logs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generados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por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Spring Boot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permitieron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detectar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errores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comunicación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entre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microservicio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Student y Eureka Server.</a:t>
            </a:r>
          </a:p>
          <a:p>
            <a:pPr algn="l">
              <a:spcBef>
                <a:spcPts val="400"/>
              </a:spcBef>
            </a:pPr>
            <a:endParaRPr sz="135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Se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registraron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fallas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conexión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al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intentar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acceder al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servidor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Eureka (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puerto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8761):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417" y="1947379"/>
            <a:ext cx="11247120" cy="2057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9417" y="1947379"/>
            <a:ext cx="1124712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6577" y="194737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VS Code · Terminal integrada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77" y="2239987"/>
            <a:ext cx="109728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56D364"/>
                </a:solidFill>
                <a:latin typeface="Calibri"/>
              </a:rPr>
              <a:t>ERROR </a:t>
            </a:r>
            <a:r>
              <a:rPr sz="1050" b="0" i="0" dirty="0" err="1">
                <a:solidFill>
                  <a:srgbClr val="56D364"/>
                </a:solidFill>
                <a:latin typeface="Calibri"/>
              </a:rPr>
              <a:t>c.n.d.s.TransportClientFactories</a:t>
            </a:r>
            <a:r>
              <a:rPr sz="1050" b="0" i="0" dirty="0">
                <a:solidFill>
                  <a:srgbClr val="56D364"/>
                </a:solidFill>
                <a:latin typeface="Calibri"/>
              </a:rPr>
              <a:t> - ...
      </a:t>
            </a:r>
            <a:r>
              <a:rPr sz="1050" b="0" i="0" dirty="0" err="1">
                <a:solidFill>
                  <a:srgbClr val="56D364"/>
                </a:solidFill>
                <a:latin typeface="Calibri"/>
              </a:rPr>
              <a:t>java.net.ConnectException</a:t>
            </a:r>
            <a:r>
              <a:rPr sz="1050" b="0" i="0" dirty="0">
                <a:solidFill>
                  <a:srgbClr val="56D364"/>
                </a:solidFill>
                <a:latin typeface="Calibri"/>
              </a:rPr>
              <a:t>: Connection refused (localhost:8761)
WARN  </a:t>
            </a:r>
            <a:r>
              <a:rPr sz="1050" b="0" i="0" dirty="0" err="1">
                <a:solidFill>
                  <a:srgbClr val="56D364"/>
                </a:solidFill>
                <a:latin typeface="Calibri"/>
              </a:rPr>
              <a:t>c.n.d.DiscoveryClient</a:t>
            </a:r>
            <a:r>
              <a:rPr sz="1050" b="0" i="0" dirty="0">
                <a:solidFill>
                  <a:srgbClr val="56D364"/>
                </a:solidFill>
                <a:latin typeface="Calibri"/>
              </a:rPr>
              <a:t> - </a:t>
            </a:r>
            <a:r>
              <a:rPr sz="1050" b="0" i="0" dirty="0" err="1">
                <a:solidFill>
                  <a:srgbClr val="56D364"/>
                </a:solidFill>
                <a:latin typeface="Calibri"/>
              </a:rPr>
              <a:t>DiscoveryClient_STUDENT</a:t>
            </a:r>
            <a:r>
              <a:rPr sz="1050" b="0" i="0" dirty="0">
                <a:solidFill>
                  <a:srgbClr val="56D364"/>
                </a:solidFill>
                <a:latin typeface="Calibri"/>
              </a:rPr>
              <a:t>/... -
      was unable to send heartbeat!
ERROR </a:t>
            </a:r>
            <a:r>
              <a:rPr sz="1050" b="0" i="0" dirty="0" err="1">
                <a:solidFill>
                  <a:srgbClr val="56D364"/>
                </a:solidFill>
                <a:latin typeface="Calibri"/>
              </a:rPr>
              <a:t>c.n.d.s.EurekaHttpClientUtils</a:t>
            </a:r>
            <a:r>
              <a:rPr sz="1050" b="0" i="0" dirty="0">
                <a:solidFill>
                  <a:srgbClr val="56D364"/>
                </a:solidFill>
                <a:latin typeface="Calibri"/>
              </a:rPr>
              <a:t> - Request execution failed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74A30B8-AFF6-0EC6-F323-25DF1A6E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913" y="4093806"/>
            <a:ext cx="6835592" cy="27641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Ejercicio 7 — Registro de microservicios en Eureka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024128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Los logs del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servidor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Eureka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VS Code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permitieron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validar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registro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correcto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Student y Gateway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dentro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de la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arquitectura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distribuida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.</a:t>
            </a:r>
          </a:p>
          <a:p>
            <a:pPr algn="l">
              <a:spcBef>
                <a:spcPts val="400"/>
              </a:spcBef>
            </a:pPr>
            <a:endParaRPr sz="135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La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consola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mostró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mensajes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con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estado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UP,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confirmando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la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disponibilidad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11247120" cy="2057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1124712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87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VS Code · Terminal integrada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79776"/>
            <a:ext cx="109728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6D364"/>
                </a:solidFill>
                <a:latin typeface="Calibri"/>
              </a:rPr>
              <a:t>INFO  c.n.e.r.PeerAwareInstanceRegistryImpl - Registered instance
      STUDENT/localhost:student:8090 with status: UP
INFO  c.n.e.r.PeerAwareInstanceRegistryImpl - Registered instance
      GATEWAY/localhost:gateway:8888 with status: UP
INFO  c.n.e.registry.AbstractInstanceRegistry - Registrations: STUDENT, GATEWAY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F96F1D2-4C93-A6D7-AAC8-D10A100E6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20" y="4634386"/>
            <a:ext cx="7599680" cy="21321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Ejercicio 8 — Detección de errores HTTP mediante logs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024128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Los logs generados por Spring Boot en VS Code permitieron detectar errores HTTP 404 durante la ejecución del sistema.</a:t>
            </a:r>
          </a:p>
          <a:p>
            <a:pPr algn="l">
              <a:spcBef>
                <a:spcPts val="400"/>
              </a:spcBef>
            </a:pPr>
            <a:endParaRPr sz="135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La terminal mostró mensajes relacionados con recursos no encontrados y respuestas NOT_FOUND: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38528"/>
            <a:ext cx="11247120" cy="2057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38528"/>
            <a:ext cx="1124712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9385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VS Code · Terminal integrada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109728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6D364"/>
                </a:solidFill>
                <a:latin typeface="Calibri"/>
              </a:rPr>
              <a:t>WARN  o.s.web.servlet.PageNotFound -
      No mapping for GET /favicon.ico
DEBUG o.s.w.s.DispatcherServlet - Completed 404 NOT_FOUND
INFO  o.s.w.s.DispatcherServlet - Resolved [NoResourceFoundException:
      No static resource favicon.ico]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3135050-C677-26CA-0371-B07EF126A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87" y="4032504"/>
            <a:ext cx="7637145" cy="28594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Ejercicio 9 — Apagado y desconexión de Eureka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0058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024128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Los logs en VS Code permitieron monitorear el proceso de cierre del servidor Eureka y la desconexión de los microservicios registrados.</a:t>
            </a:r>
          </a:p>
          <a:p>
            <a:pPr algn="l">
              <a:spcBef>
                <a:spcPts val="400"/>
              </a:spcBef>
            </a:pPr>
            <a:endParaRPr sz="1350" b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1A1A2E"/>
                </a:solidFill>
                <a:latin typeface="Calibri"/>
              </a:rPr>
              <a:t>La terminal mostró mensajes de DiscoveryClient y el apagado correcto de todos los servicios: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1933956"/>
            <a:ext cx="11247120" cy="2057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5488" y="1933956"/>
            <a:ext cx="1124712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19339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VS Code · Terminal integrada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226564"/>
            <a:ext cx="109728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6D364"/>
                </a:solidFill>
                <a:latin typeface="Calibri"/>
              </a:rPr>
              <a:t>INFO  c.n.d.DiscoveryClient - Shutting down DiscoveryClient ...
INFO  c.n.d.DiscoveryClient - Unregistering ...
INFO  c.n.e.EurekaServerInitializerConfiguration - Shutting down Eureka Server ...
INFO  o.s.b.web.embedded.tomcat.TomcatWebServer - Tomcat stopped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A30EDEB-0EA9-4994-9A66-D6210C408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919" y="4027932"/>
            <a:ext cx="9404985" cy="27031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22960"/>
          </a:xfrm>
          <a:prstGeom prst="rect">
            <a:avLst/>
          </a:prstGeom>
          <a:solidFill>
            <a:srgbClr val="12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Conclusión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05840"/>
            <a:ext cx="64008" cy="4572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10881360" cy="3667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Los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ejercicios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realizados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permitieron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validar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funcionamiento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completo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logs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implementados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Spring Boot.</a:t>
            </a:r>
          </a:p>
          <a:p>
            <a:pPr algn="l">
              <a:spcBef>
                <a:spcPts val="400"/>
              </a:spcBef>
            </a:pPr>
            <a:endParaRPr sz="135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A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través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los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ejercicios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se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logró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:</a:t>
            </a:r>
          </a:p>
          <a:p>
            <a:pPr algn="l">
              <a:spcBef>
                <a:spcPts val="400"/>
              </a:spcBef>
            </a:pPr>
            <a:endParaRPr sz="1350" b="0" dirty="0">
              <a:solidFill>
                <a:srgbClr val="1A1A2E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Crear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y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configurar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logs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básicos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Java con la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clase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Logger.</a:t>
            </a: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Manejar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excepciones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y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errores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con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niveles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INFO, WARN y SEVERE.</a:t>
            </a: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Configurar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niveles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de logging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Spring Boot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mediante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application.yml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.</a:t>
            </a: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  ✔  Validar la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conexión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exitosa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con MySQL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mediante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HikariCP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e Hibernate.</a:t>
            </a: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Monitorear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consultas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SQL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generadas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automáticamente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por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Hibernate.</a:t>
            </a: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Detectar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errores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comunicación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con Eureka Server (Connection refused).</a:t>
            </a: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Verificar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registro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correcto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Eureka con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estado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UP.</a:t>
            </a: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Identificar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errores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HTTP 404 y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recursos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no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encontrados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.</a:t>
            </a:r>
          </a:p>
          <a:p>
            <a:pPr algn="l">
              <a:spcBef>
                <a:spcPts val="400"/>
              </a:spcBef>
            </a:pPr>
            <a:r>
              <a:rPr sz="1350" b="0" dirty="0">
                <a:solidFill>
                  <a:srgbClr val="1A1A2E"/>
                </a:solidFill>
                <a:latin typeface="Calibri"/>
              </a:rPr>
              <a:t>  ✔ 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Monitorear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el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apagado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correcto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 de Eureka Server y sus </a:t>
            </a:r>
            <a:r>
              <a:rPr sz="1350" b="0" dirty="0" err="1">
                <a:solidFill>
                  <a:srgbClr val="1A1A2E"/>
                </a:solidFill>
                <a:latin typeface="Calibri"/>
              </a:rPr>
              <a:t>microservicios</a:t>
            </a:r>
            <a:r>
              <a:rPr sz="1350" b="0" dirty="0">
                <a:solidFill>
                  <a:srgbClr val="1A1A2E"/>
                </a:solidFill>
                <a:latin typeface="Calibri"/>
              </a:rPr>
              <a:t>.</a:t>
            </a:r>
          </a:p>
          <a:p>
            <a:pPr algn="l">
              <a:spcBef>
                <a:spcPts val="400"/>
              </a:spcBef>
            </a:pPr>
            <a:endParaRPr sz="1350" b="0" dirty="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" y="0"/>
            <a:ext cx="119329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Repositorio 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7315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9432" y="1947672"/>
            <a:ext cx="11109960" cy="1005840"/>
          </a:xfrm>
          <a:prstGeom prst="rect">
            <a:avLst/>
          </a:prstGeom>
          <a:solidFill>
            <a:srgbClr val="0D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9432" y="1947672"/>
            <a:ext cx="91440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752" y="1993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0FFA0"/>
                </a:solidFill>
                <a:latin typeface="Calibri"/>
              </a:rPr>
              <a:t>Ubicación en el repositorio: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752" y="2295144"/>
            <a:ext cx="10515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500" b="1" i="0" dirty="0">
                <a:solidFill>
                  <a:srgbClr val="FFFFFF"/>
                </a:solidFill>
                <a:latin typeface="Calibri"/>
                <a:hlinkClick r:id="rId2"/>
              </a:rPr>
              <a:t>https://github.com/amaurycolochos-cpu/ADMINISTRACION-BASE-DE-DATOS/tree/master/ABD-Tema-4</a:t>
            </a:r>
            <a:endParaRPr lang="es-MX" sz="1500" b="1" i="0" dirty="0">
              <a:solidFill>
                <a:srgbClr val="FFFFFF"/>
              </a:solidFill>
              <a:latin typeface="Calibri"/>
            </a:endParaRPr>
          </a:p>
          <a:p>
            <a:pPr algn="l"/>
            <a:endParaRPr lang="es-MX" sz="1500" b="1" i="0" dirty="0">
              <a:solidFill>
                <a:schemeClr val="bg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0627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Fuentes de Información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64008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8562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5420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2278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11704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11704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BBDEFF"/>
                </a:solidFill>
                <a:latin typeface="Calibri"/>
              </a:rPr>
              <a:t>LaMalditaProgramadora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. (2023, 3 de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diciembre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). Spring Boot 3 + Log4j2 + Lombok (logs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en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BBDEFF"/>
                </a:solidFill>
                <a:latin typeface="Calibri"/>
              </a:rPr>
              <a:t>archivo</a:t>
            </a:r>
            <a:r>
              <a:rPr sz="1100" b="0" i="1" dirty="0">
                <a:solidFill>
                  <a:srgbClr val="BBDEFF"/>
                </a:solidFill>
                <a:latin typeface="Calibri"/>
              </a:rPr>
              <a:t>)
  [Video]. YouTube. https://youtu.be/qYaun41gTN0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18562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1856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F"/>
                </a:solidFill>
                <a:latin typeface="Calibri"/>
              </a:rPr>
              <a:t>Morsa Programando. (2022, 8 de septiembre). Aprende Spring Boot de una vez por todas! #2 Logs I
  [Video]. YouTube. https://youtu.be/Jy0bLQE4NfA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420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5420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F"/>
                </a:solidFill>
                <a:latin typeface="Calibri"/>
              </a:rPr>
              <a:t>Morsa Programando. (2022, 9 de septiembre). Aprende Spring Boot de una vez por todas! #3 Logs II
  [Video]. YouTube. https://youtu.be/xUvzCDLtXik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278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2278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F"/>
                </a:solidFill>
                <a:latin typeface="Calibri"/>
              </a:rPr>
              <a:t>Spring Boot Reference Documentation. (2024). Logging.
  https://docs.spring.io/spring-boot/docs/current/reference/html/features.html#features.logging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9136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F"/>
                </a:solidFill>
                <a:latin typeface="Calibri"/>
              </a:rPr>
              <a:t>Microsoft. (2024). VS Code – Spring Boot Extension Pack.
  https://marketplace.visualstudio.com/items?itemName=vmware.vscode-boot-dev-pack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599432"/>
            <a:ext cx="64008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5994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F"/>
                </a:solidFill>
                <a:latin typeface="Calibri"/>
              </a:rPr>
              <a:t>Gordillo, A. (2026). abd-microservicios [Repositorio].
  GitHub. https://github.com/AmauryGordillo/abd-microservicios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1887</Words>
  <Application>Microsoft Office PowerPoint</Application>
  <PresentationFormat>Personalizado</PresentationFormat>
  <Paragraphs>143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-apple-system</vt:lpstr>
      <vt:lpstr>Aptos</vt:lpstr>
      <vt:lpstr>Arial</vt:lpstr>
      <vt:lpstr>Calibri</vt:lpstr>
      <vt:lpstr>Montserrat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amaury rokete</cp:lastModifiedBy>
  <cp:revision>7</cp:revision>
  <dcterms:created xsi:type="dcterms:W3CDTF">2013-01-27T09:14:16Z</dcterms:created>
  <dcterms:modified xsi:type="dcterms:W3CDTF">2026-06-12T10:04:42Z</dcterms:modified>
  <cp:category/>
</cp:coreProperties>
</file>