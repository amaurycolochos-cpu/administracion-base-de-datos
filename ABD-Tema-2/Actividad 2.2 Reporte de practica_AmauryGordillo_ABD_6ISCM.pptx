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87" r:id="rId17"/>
    <p:sldId id="279" r:id="rId18"/>
    <p:sldId id="280" r:id="rId19"/>
    <p:sldId id="281" r:id="rId20"/>
    <p:sldId id="288" r:id="rId21"/>
    <p:sldId id="289" r:id="rId22"/>
    <p:sldId id="290" r:id="rId23"/>
    <p:sldId id="291" r:id="rId24"/>
    <p:sldId id="284" r:id="rId25"/>
    <p:sldId id="285" r:id="rId26"/>
    <p:sldId id="292" r:id="rId27"/>
    <p:sldId id="293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DDEB1-CEBA-4767-A231-47D7A90EB387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8EDEC-984A-4C2B-9907-155DB3A01D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7530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aurycolochos-cpu/ADMINISTRACION-BASE-DE-DATOS/tree/master/UNIDAD%202/practica-sgbd-api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aurycolochos-cpu/ADMINISTRACION-BASE-DE-DATOS/tree/master/UNIDAD%202/practica-sgbd-api-oracl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4" y="161905"/>
            <a:ext cx="1461833" cy="1049220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715388" y="119052"/>
            <a:ext cx="2334759" cy="1025318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56648" y="612665"/>
            <a:ext cx="5475529" cy="86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75" y="1443749"/>
            <a:ext cx="9497126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ADMINISTRACION DE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5405" y="2293085"/>
            <a:ext cx="74299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dirty="0">
                <a:latin typeface="-apple-system"/>
              </a:rPr>
              <a:t>ACTIVIDAD 2.2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3956" y="3132126"/>
            <a:ext cx="2437765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9567" y="4815497"/>
            <a:ext cx="6094413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401" y="6083702"/>
            <a:ext cx="8339464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DE MAYO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3803787"/>
          <a:ext cx="5484972" cy="670386"/>
        </p:xfrm>
        <a:graphic>
          <a:graphicData uri="http://schemas.openxmlformats.org/drawingml/2006/table">
            <a:tbl>
              <a:tblPr/>
              <a:tblGrid>
                <a:gridCol w="2742486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2486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47" y="3681028"/>
            <a:ext cx="123143" cy="24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44" tIns="30472" rIns="60944" bIns="304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Indice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210312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0904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965960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Introduccion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07208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" y="29443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9316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07208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Justificacion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48456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" y="37856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37729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648456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Marco Teorico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89704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4672" y="46268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46141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89704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Objetivo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330952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4672" y="54681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54554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30952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Procedimiento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1965960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28232" y="210312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2" y="20904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1965960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Desarrollo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1928" y="2807208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28232" y="29443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29316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807208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Resultados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1928" y="3648456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28232" y="37856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28232" y="37729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648456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Conclusiones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81928" y="4489704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428232" y="46268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28232" y="46141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489704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Fuentes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81928" y="5330952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28232" y="54681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28232" y="54554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5330952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Paso a Paso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SECCION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Introduccion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783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783080"/>
            <a:ext cx="91440" cy="7315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78308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3A8A"/>
                </a:solidFill>
                <a:latin typeface="Segoe UI"/>
              </a:rPr>
              <a:t>Un SGBD requiere herramientas de verificacion. Esta practica desarrolla un microservicio REST que demuestra como acceder, verificar el estado y realizar operaciones sobre una base de datos en tiempo real.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97480"/>
            <a:ext cx="5321808" cy="3584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553" y="2790198"/>
            <a:ext cx="4773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>
                <a:solidFill>
                  <a:srgbClr val="111827"/>
                </a:solidFill>
                <a:latin typeface="Segoe UI Semibold"/>
              </a:rPr>
              <a:t>Terminal: </a:t>
            </a:r>
            <a:r>
              <a:rPr sz="1350" b="1" i="0" dirty="0" err="1">
                <a:solidFill>
                  <a:srgbClr val="111827"/>
                </a:solidFill>
                <a:latin typeface="Segoe UI Semibold"/>
              </a:rPr>
              <a:t>servidor</a:t>
            </a:r>
            <a:r>
              <a:rPr sz="13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35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3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350" b="1" i="0" dirty="0" err="1">
                <a:solidFill>
                  <a:srgbClr val="111827"/>
                </a:solidFill>
                <a:latin typeface="Segoe UI Semibold"/>
              </a:rPr>
              <a:t>ejecucion</a:t>
            </a:r>
            <a:endParaRPr sz="1350" b="1" i="0" dirty="0">
              <a:solidFill>
                <a:srgbClr val="111827"/>
              </a:solidFill>
              <a:latin typeface="Segoe UI Semibold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99632" y="2697480"/>
            <a:ext cx="5321808" cy="3584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1537" y="2790198"/>
            <a:ext cx="4773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solidFill>
                  <a:srgbClr val="111827"/>
                </a:solidFill>
                <a:latin typeface="Segoe UI Semibold"/>
              </a:rPr>
              <a:t>Diagrama</a:t>
            </a:r>
            <a:r>
              <a:rPr sz="1350" b="1" i="0" dirty="0">
                <a:solidFill>
                  <a:srgbClr val="111827"/>
                </a:solidFill>
                <a:latin typeface="Segoe UI Semibold"/>
              </a:rPr>
              <a:t> de </a:t>
            </a:r>
            <a:r>
              <a:rPr sz="1350" b="1" i="0" dirty="0" err="1">
                <a:solidFill>
                  <a:srgbClr val="111827"/>
                </a:solidFill>
                <a:latin typeface="Segoe UI Semibold"/>
              </a:rPr>
              <a:t>arquitectura</a:t>
            </a:r>
            <a:endParaRPr sz="1350" b="1" i="0" dirty="0">
              <a:solidFill>
                <a:srgbClr val="111827"/>
              </a:solidFill>
              <a:latin typeface="Segoe UI Semibold"/>
            </a:endParaRP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BC28DEF9-36EF-E516-7846-C1A86B107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4" y="3096149"/>
            <a:ext cx="5090418" cy="2862199"/>
          </a:xfrm>
          <a:prstGeom prst="rect">
            <a:avLst/>
          </a:prstGeom>
        </p:spPr>
      </p:pic>
      <p:pic>
        <p:nvPicPr>
          <p:cNvPr id="45" name="Picture 44" descr="diagrama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069" y="3475687"/>
            <a:ext cx="5102934" cy="1964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 dirty="0">
                <a:solidFill>
                  <a:srgbClr val="EEF2FF"/>
                </a:solidFill>
                <a:latin typeface="Segoe UI Semibol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SECCION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Justificacion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108813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91440" cy="8778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2688" y="21854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1727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11226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Verificacion de instancia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441448"/>
            <a:ext cx="9692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Confirmar que la instancia del SGBD se levanta correctamente.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90088"/>
            <a:ext cx="108813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" y="2990088"/>
            <a:ext cx="91440" cy="877824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" y="32095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1968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136392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Monitoreo de conexion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465576"/>
            <a:ext cx="9692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Validar la conectividad entre la aplicacion y la base de datos.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14216"/>
            <a:ext cx="108813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14216"/>
            <a:ext cx="91440" cy="87782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2688" y="42336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2209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052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Operaciones CRUD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489704"/>
            <a:ext cx="9692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Demostrar la creacion, lectura, actualizacion y eliminacion de datos.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38344"/>
            <a:ext cx="108813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8368" y="5038344"/>
            <a:ext cx="91440" cy="87782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32688" y="5257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2451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184648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Aplicacion 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513832"/>
            <a:ext cx="9692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Implementar los conceptos teoricos con tecnologia actual de la industria.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Marco Teorico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2688" y="2258568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2458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2276856"/>
            <a:ext cx="4133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827"/>
                </a:solidFill>
                <a:latin typeface="Segoe UI Semibold"/>
              </a:rPr>
              <a:t>SGBD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8346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Sistema que gestiona el almacenamiento, recuperacion y proteccion de los datos con integridad.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21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92240" y="2258568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2458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276856"/>
            <a:ext cx="4133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827"/>
                </a:solidFill>
                <a:latin typeface="Segoe UI Semibold"/>
              </a:rPr>
              <a:t>REST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346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Interfaz que usa HTTP para la comunicacion cliente-servidor mediante metodos estandar.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05072"/>
            <a:ext cx="5321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0507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2688" y="429768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2849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315968"/>
            <a:ext cx="4133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827"/>
                </a:solidFill>
                <a:latin typeface="Segoe UI Semibold"/>
              </a:rPr>
              <a:t>Microservicios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87375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Servicios pequenos, independientes y desplegables que cumplen una funcion concreta.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05072"/>
            <a:ext cx="5321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400507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92240" y="429768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2849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315968"/>
            <a:ext cx="4133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827"/>
                </a:solidFill>
                <a:latin typeface="Segoe UI Semibold"/>
              </a:rPr>
              <a:t>Pool de conexiones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87375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Conjunto reutilizable de conexiones abiertas que optimiza el acceso a la BD.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SECCION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20240"/>
            <a:ext cx="10881360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148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00">
                <a:solidFill>
                  <a:srgbClr val="7C3AED"/>
                </a:solidFill>
                <a:latin typeface="Segoe UI Semibold"/>
              </a:rPr>
              <a:t>OBJETIVO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Desarrollar un microservicio REST que permita verificar el funcionamiento correcto de un SGBD, demostrando la capacidad de establecer conexiones, realizar operaciones CRUD y monitorear el estado de la instancia.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611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00">
                <a:solidFill>
                  <a:srgbClr val="F45A5A"/>
                </a:solidFill>
                <a:latin typeface="Segoe UI Semibold"/>
              </a:rPr>
              <a:t>OBJETIVOS ESPECIFICOS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41648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4160520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416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Establecer una conexion exitosa con la base de datos MySQL.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08576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727448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0001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0857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Implementar endpoints REST para verificar el estado del SGBD.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75504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5294376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26694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1755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Crear operaciones CRUD sobre una tabla de estudiantes.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742432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8680" y="5861304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7424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Documentar el procedimiento y los resultados obtenidos.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97706"/>
                </a:solidFill>
                <a:latin typeface="Segoe UI Semibold"/>
              </a:rPr>
              <a:t>SECCION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Procedimiento: Creacion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0976" y="2103120"/>
            <a:ext cx="27940" cy="38221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4088" y="20116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199898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7048" y="1975104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01368" y="204825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Crear el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23591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Crear la carpeta del proyecto y ejecutar npm init -y (genera package.json).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" y="2852928"/>
            <a:ext cx="530352" cy="530352"/>
          </a:xfrm>
          <a:prstGeom prst="ellipse">
            <a:avLst/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8402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27048" y="2816352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1368" y="288950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Instalar dependencias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1368" y="32004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Instalar las librerias: npm install express mysql2 dotenv.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" y="369417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6814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7048" y="3657600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01368" y="3730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Codificar el microservicio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40416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Programar src/app.js, src/db.js y las rutas REST en src/routes/.</a:t>
            </a:r>
          </a:p>
        </p:txBody>
      </p:sp>
      <p:sp>
        <p:nvSpPr>
          <p:cNvPr id="28" name="Oval 27"/>
          <p:cNvSpPr/>
          <p:nvPr/>
        </p:nvSpPr>
        <p:spPr>
          <a:xfrm>
            <a:off x="704088" y="45354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45227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27048" y="4498848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01368" y="45720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Configurar la base de datos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1368" y="488289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Ejecutar setup.sql en MySQL para crear la base y la tabla estudiantes.</a:t>
            </a:r>
          </a:p>
        </p:txBody>
      </p:sp>
      <p:sp>
        <p:nvSpPr>
          <p:cNvPr id="33" name="Oval 32"/>
          <p:cNvSpPr/>
          <p:nvPr/>
        </p:nvSpPr>
        <p:spPr>
          <a:xfrm>
            <a:off x="704088" y="5376672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" y="536397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27048" y="5340096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01368" y="541324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Configurar variables y ejecutar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1368" y="572414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Definir .env con las credenciales y arrancar con npm 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SECCION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Desarrollo de la Practica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240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180">
                <a:solidFill>
                  <a:srgbClr val="0D9488"/>
                </a:solidFill>
                <a:latin typeface="Segoe UI Semibold"/>
              </a:rPr>
              <a:t>STACK TECNOLOGICO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285292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0175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Entorno de ejecucion de JavaScript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363016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5204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947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Framework para construir la API REST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440740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2976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MySQL2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7200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Driver de conexion al SGBD</a:t>
            </a:r>
          </a:p>
        </p:txBody>
      </p:sp>
      <p:sp>
        <p:nvSpPr>
          <p:cNvPr id="24" name="Oval 23"/>
          <p:cNvSpPr/>
          <p:nvPr/>
        </p:nvSpPr>
        <p:spPr>
          <a:xfrm>
            <a:off x="960120" y="518464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0749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Dotenv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492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Gestion de variables de ambiente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965960"/>
            <a:ext cx="5340096" cy="411480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99632" y="1965960"/>
            <a:ext cx="5340096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0800" y="2093976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638544" y="2093976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76288" y="2093976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9632" y="1965960"/>
            <a:ext cx="53400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estructura  /  tree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2441448"/>
            <a:ext cx="4837176" cy="3547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1  </a:t>
            </a:r>
            <a:r>
              <a:rPr sz="1150" dirty="0" err="1">
                <a:solidFill>
                  <a:srgbClr val="E2E8F0"/>
                </a:solidFill>
                <a:latin typeface="Consolas"/>
              </a:rPr>
              <a:t>practica-sgbd-api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/</a:t>
            </a: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2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|-- </a:t>
            </a:r>
            <a:r>
              <a:rPr sz="1150" dirty="0" err="1">
                <a:solidFill>
                  <a:srgbClr val="E2E8F0"/>
                </a:solidFill>
                <a:latin typeface="Consolas"/>
              </a:rPr>
              <a:t>src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/</a:t>
            </a: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3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|   |-- app.js</a:t>
            </a: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4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|   |-- db.js</a:t>
            </a: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5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|   +-- routes/</a:t>
            </a: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6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|       |-- salud.js</a:t>
            </a: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7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|       +-- estudiantes.js</a:t>
            </a: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8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|-- .env</a:t>
            </a: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 9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|-- </a:t>
            </a:r>
            <a:r>
              <a:rPr sz="1150" dirty="0" err="1">
                <a:solidFill>
                  <a:srgbClr val="E2E8F0"/>
                </a:solidFill>
                <a:latin typeface="Consolas"/>
              </a:rPr>
              <a:t>package.json</a:t>
            </a:r>
            <a:endParaRPr sz="1150" dirty="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8000"/>
              </a:lnSpc>
            </a:pPr>
            <a:r>
              <a:rPr sz="1150" dirty="0">
                <a:solidFill>
                  <a:srgbClr val="475569"/>
                </a:solidFill>
                <a:latin typeface="Consolas"/>
              </a:rPr>
              <a:t>10  </a:t>
            </a:r>
            <a:r>
              <a:rPr sz="1150" dirty="0">
                <a:solidFill>
                  <a:srgbClr val="E2E8F0"/>
                </a:solidFill>
                <a:latin typeface="Consolas"/>
              </a:rPr>
              <a:t>+-- </a:t>
            </a:r>
            <a:r>
              <a:rPr sz="1150" dirty="0" err="1">
                <a:solidFill>
                  <a:srgbClr val="E2E8F0"/>
                </a:solidFill>
                <a:latin typeface="Consolas"/>
              </a:rPr>
              <a:t>setup.sql</a:t>
            </a:r>
            <a:endParaRPr sz="1150" dirty="0">
              <a:solidFill>
                <a:srgbClr val="E2E8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SECCION 06 .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Codigo: Servidor Principal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10881360" cy="434340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src / app.js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50007"/>
            <a:ext cx="10378440" cy="3776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1  </a:t>
            </a:r>
            <a:r>
              <a:rPr sz="1150">
                <a:solidFill>
                  <a:srgbClr val="A78BFA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express = </a:t>
            </a:r>
            <a:r>
              <a:rPr sz="1150">
                <a:solidFill>
                  <a:srgbClr val="A78BFA"/>
                </a:solidFill>
                <a:latin typeface="Consolas"/>
              </a:rPr>
              <a:t>require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86EFAC"/>
                </a:solidFill>
                <a:latin typeface="Consolas"/>
              </a:rPr>
              <a:t>'express'</a:t>
            </a:r>
            <a:r>
              <a:rPr sz="11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2  </a:t>
            </a:r>
            <a:r>
              <a:rPr sz="1150">
                <a:solidFill>
                  <a:srgbClr val="A78BFA"/>
                </a:solidFill>
                <a:latin typeface="Consolas"/>
              </a:rPr>
              <a:t>require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86EFAC"/>
                </a:solidFill>
                <a:latin typeface="Consolas"/>
              </a:rPr>
              <a:t>'dotenv'</a:t>
            </a:r>
            <a:r>
              <a:rPr sz="1150">
                <a:solidFill>
                  <a:srgbClr val="E2E8F0"/>
                </a:solidFill>
                <a:latin typeface="Consolas"/>
              </a:rPr>
              <a:t>).config();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3 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4  </a:t>
            </a:r>
            <a:r>
              <a:rPr sz="1150">
                <a:solidFill>
                  <a:srgbClr val="A78BFA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app = express();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5  </a:t>
            </a:r>
            <a:r>
              <a:rPr sz="1150">
                <a:solidFill>
                  <a:srgbClr val="A78BFA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PORT = process.env.API_PORT || </a:t>
            </a:r>
            <a:r>
              <a:rPr sz="1150">
                <a:solidFill>
                  <a:srgbClr val="FBBF24"/>
                </a:solidFill>
                <a:latin typeface="Consolas"/>
              </a:rPr>
              <a:t>3000</a:t>
            </a:r>
            <a:r>
              <a:rPr sz="11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6 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7  </a:t>
            </a:r>
            <a:r>
              <a:rPr sz="1150">
                <a:solidFill>
                  <a:srgbClr val="A78BFA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rutasSalud = </a:t>
            </a:r>
            <a:r>
              <a:rPr sz="1150">
                <a:solidFill>
                  <a:srgbClr val="A78BFA"/>
                </a:solidFill>
                <a:latin typeface="Consolas"/>
              </a:rPr>
              <a:t>require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86EFAC"/>
                </a:solidFill>
                <a:latin typeface="Consolas"/>
              </a:rPr>
              <a:t>'./routes/salud'</a:t>
            </a:r>
            <a:r>
              <a:rPr sz="11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8  </a:t>
            </a:r>
            <a:r>
              <a:rPr sz="1150">
                <a:solidFill>
                  <a:srgbClr val="A78BFA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rutasEstudiantes = </a:t>
            </a:r>
            <a:r>
              <a:rPr sz="1150">
                <a:solidFill>
                  <a:srgbClr val="A78BFA"/>
                </a:solidFill>
                <a:latin typeface="Consolas"/>
              </a:rPr>
              <a:t>require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86EFAC"/>
                </a:solidFill>
                <a:latin typeface="Consolas"/>
              </a:rPr>
              <a:t>'./routes/estudiantes'</a:t>
            </a:r>
            <a:r>
              <a:rPr sz="11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9 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10  </a:t>
            </a:r>
            <a:r>
              <a:rPr sz="1150">
                <a:solidFill>
                  <a:srgbClr val="E2E8F0"/>
                </a:solidFill>
                <a:latin typeface="Consolas"/>
              </a:rPr>
              <a:t>app.use(express.json());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11  </a:t>
            </a:r>
            <a:r>
              <a:rPr sz="1150">
                <a:solidFill>
                  <a:srgbClr val="E2E8F0"/>
                </a:solidFill>
                <a:latin typeface="Consolas"/>
              </a:rPr>
              <a:t>app.use(rutasSalud);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12  </a:t>
            </a:r>
            <a:r>
              <a:rPr sz="1150">
                <a:solidFill>
                  <a:srgbClr val="E2E8F0"/>
                </a:solidFill>
                <a:latin typeface="Consolas"/>
              </a:rPr>
              <a:t>app.use(rutasEstudiantes);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13 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14  </a:t>
            </a:r>
            <a:r>
              <a:rPr sz="1150">
                <a:solidFill>
                  <a:srgbClr val="E2E8F0"/>
                </a:solidFill>
                <a:latin typeface="Consolas"/>
              </a:rPr>
              <a:t>app.listen(PORT, () =&gt; {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15  </a:t>
            </a:r>
            <a:r>
              <a:rPr sz="1150">
                <a:solidFill>
                  <a:srgbClr val="E2E8F0"/>
                </a:solidFill>
                <a:latin typeface="Consolas"/>
              </a:rPr>
              <a:t>  console.log(</a:t>
            </a:r>
            <a:r>
              <a:rPr sz="1150">
                <a:solidFill>
                  <a:srgbClr val="86EFAC"/>
                </a:solidFill>
                <a:latin typeface="Consolas"/>
              </a:rPr>
              <a:t>'Servidor en puerto '</a:t>
            </a:r>
            <a:r>
              <a:rPr sz="1150">
                <a:solidFill>
                  <a:srgbClr val="E2E8F0"/>
                </a:solidFill>
                <a:latin typeface="Consolas"/>
              </a:rPr>
              <a:t> + PORT);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16  </a:t>
            </a:r>
            <a:r>
              <a:rPr sz="115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06 .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Codigo: Conexion a la BD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10881360" cy="434340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src / db.js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50007"/>
            <a:ext cx="10378440" cy="3776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1  </a:t>
            </a:r>
            <a:r>
              <a:rPr sz="1000">
                <a:solidFill>
                  <a:srgbClr val="A78BFA"/>
                </a:solidFill>
                <a:latin typeface="Consolas"/>
              </a:rPr>
              <a:t>const</a:t>
            </a:r>
            <a:r>
              <a:rPr sz="1000">
                <a:solidFill>
                  <a:srgbClr val="E2E8F0"/>
                </a:solidFill>
                <a:latin typeface="Consolas"/>
              </a:rPr>
              <a:t> mysql = </a:t>
            </a:r>
            <a:r>
              <a:rPr sz="1000">
                <a:solidFill>
                  <a:srgbClr val="A78BFA"/>
                </a:solidFill>
                <a:latin typeface="Consolas"/>
              </a:rPr>
              <a:t>require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86EFAC"/>
                </a:solidFill>
                <a:latin typeface="Consolas"/>
              </a:rPr>
              <a:t>'mysql2/promise'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2  </a:t>
            </a:r>
            <a:r>
              <a:rPr sz="1000">
                <a:solidFill>
                  <a:srgbClr val="A78BFA"/>
                </a:solidFill>
                <a:latin typeface="Consolas"/>
              </a:rPr>
              <a:t>require</a:t>
            </a:r>
            <a:r>
              <a:rPr sz="1000">
                <a:solidFill>
                  <a:srgbClr val="E2E8F0"/>
                </a:solidFill>
                <a:latin typeface="Consolas"/>
              </a:rPr>
              <a:t>(</a:t>
            </a:r>
            <a:r>
              <a:rPr sz="1000">
                <a:solidFill>
                  <a:srgbClr val="86EFAC"/>
                </a:solidFill>
                <a:latin typeface="Consolas"/>
              </a:rPr>
              <a:t>'dotenv'</a:t>
            </a:r>
            <a:r>
              <a:rPr sz="1000">
                <a:solidFill>
                  <a:srgbClr val="E2E8F0"/>
                </a:solidFill>
                <a:latin typeface="Consolas"/>
              </a:rPr>
              <a:t>).config();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3  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4  </a:t>
            </a:r>
            <a:r>
              <a:rPr sz="1000">
                <a:solidFill>
                  <a:srgbClr val="A78BFA"/>
                </a:solidFill>
                <a:latin typeface="Consolas"/>
              </a:rPr>
              <a:t>const</a:t>
            </a:r>
            <a:r>
              <a:rPr sz="1000">
                <a:solidFill>
                  <a:srgbClr val="E2E8F0"/>
                </a:solidFill>
                <a:latin typeface="Consolas"/>
              </a:rPr>
              <a:t> pool = mysql.createPool({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5  </a:t>
            </a:r>
            <a:r>
              <a:rPr sz="1000">
                <a:solidFill>
                  <a:srgbClr val="E2E8F0"/>
                </a:solidFill>
                <a:latin typeface="Consolas"/>
              </a:rPr>
              <a:t>  host: process.env.DB_HOST,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6  </a:t>
            </a:r>
            <a:r>
              <a:rPr sz="1000">
                <a:solidFill>
                  <a:srgbClr val="E2E8F0"/>
                </a:solidFill>
                <a:latin typeface="Consolas"/>
              </a:rPr>
              <a:t>  user: process.env.DB_USER,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7  </a:t>
            </a:r>
            <a:r>
              <a:rPr sz="1000">
                <a:solidFill>
                  <a:srgbClr val="E2E8F0"/>
                </a:solidFill>
                <a:latin typeface="Consolas"/>
              </a:rPr>
              <a:t>  password: process.env.DB_PASSWORD,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8  </a:t>
            </a:r>
            <a:r>
              <a:rPr sz="1000">
                <a:solidFill>
                  <a:srgbClr val="E2E8F0"/>
                </a:solidFill>
                <a:latin typeface="Consolas"/>
              </a:rPr>
              <a:t>  database: process.env.DB_NAME,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 9  </a:t>
            </a:r>
            <a:r>
              <a:rPr sz="1000">
                <a:solidFill>
                  <a:srgbClr val="E2E8F0"/>
                </a:solidFill>
                <a:latin typeface="Consolas"/>
              </a:rPr>
              <a:t>  connectionLimit: </a:t>
            </a:r>
            <a:r>
              <a:rPr sz="1000">
                <a:solidFill>
                  <a:srgbClr val="FBBF24"/>
                </a:solidFill>
                <a:latin typeface="Consolas"/>
              </a:rPr>
              <a:t>10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10  </a:t>
            </a:r>
            <a:r>
              <a:rPr sz="10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11  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12  </a:t>
            </a:r>
            <a:r>
              <a:rPr sz="1000">
                <a:solidFill>
                  <a:srgbClr val="A78BFA"/>
                </a:solidFill>
                <a:latin typeface="Consolas"/>
              </a:rPr>
              <a:t>async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A78BFA"/>
                </a:solidFill>
                <a:latin typeface="Consolas"/>
              </a:rPr>
              <a:t>function</a:t>
            </a:r>
            <a:r>
              <a:rPr sz="1000">
                <a:solidFill>
                  <a:srgbClr val="E2E8F0"/>
                </a:solidFill>
                <a:latin typeface="Consolas"/>
              </a:rPr>
              <a:t> verificarConexion() {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13  </a:t>
            </a:r>
            <a:r>
              <a:rPr sz="1000">
                <a:solidFill>
                  <a:srgbClr val="E2E8F0"/>
                </a:solidFill>
                <a:latin typeface="Consolas"/>
              </a:rPr>
              <a:t>  </a:t>
            </a:r>
            <a:r>
              <a:rPr sz="1000">
                <a:solidFill>
                  <a:srgbClr val="A78BFA"/>
                </a:solidFill>
                <a:latin typeface="Consolas"/>
              </a:rPr>
              <a:t>const</a:t>
            </a:r>
            <a:r>
              <a:rPr sz="1000">
                <a:solidFill>
                  <a:srgbClr val="E2E8F0"/>
                </a:solidFill>
                <a:latin typeface="Consolas"/>
              </a:rPr>
              <a:t> conn = </a:t>
            </a:r>
            <a:r>
              <a:rPr sz="1000">
                <a:solidFill>
                  <a:srgbClr val="A78BFA"/>
                </a:solidFill>
                <a:latin typeface="Consolas"/>
              </a:rPr>
              <a:t>await</a:t>
            </a:r>
            <a:r>
              <a:rPr sz="1000">
                <a:solidFill>
                  <a:srgbClr val="E2E8F0"/>
                </a:solidFill>
                <a:latin typeface="Consolas"/>
              </a:rPr>
              <a:t> pool.getConnection();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14  </a:t>
            </a:r>
            <a:r>
              <a:rPr sz="1000">
                <a:solidFill>
                  <a:srgbClr val="E2E8F0"/>
                </a:solidFill>
                <a:latin typeface="Consolas"/>
              </a:rPr>
              <a:t>  conn.release();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15  </a:t>
            </a:r>
            <a:r>
              <a:rPr sz="1000">
                <a:solidFill>
                  <a:srgbClr val="E2E8F0"/>
                </a:solidFill>
                <a:latin typeface="Consolas"/>
              </a:rPr>
              <a:t>  </a:t>
            </a:r>
            <a:r>
              <a:rPr sz="1000">
                <a:solidFill>
                  <a:srgbClr val="A78BFA"/>
                </a:solidFill>
                <a:latin typeface="Consolas"/>
              </a:rPr>
              <a:t>return</a:t>
            </a:r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  <a:r>
              <a:rPr sz="1000">
                <a:solidFill>
                  <a:srgbClr val="A78BFA"/>
                </a:solidFill>
                <a:latin typeface="Consolas"/>
              </a:rPr>
              <a:t>true</a:t>
            </a:r>
            <a:r>
              <a:rPr sz="100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16  </a:t>
            </a: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17  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475569"/>
                </a:solidFill>
                <a:latin typeface="Consolas"/>
              </a:rPr>
              <a:t>18  </a:t>
            </a:r>
            <a:r>
              <a:rPr sz="1000">
                <a:solidFill>
                  <a:srgbClr val="A78BFA"/>
                </a:solidFill>
                <a:latin typeface="Consolas"/>
              </a:rPr>
              <a:t>module</a:t>
            </a:r>
            <a:r>
              <a:rPr sz="1000">
                <a:solidFill>
                  <a:srgbClr val="E2E8F0"/>
                </a:solidFill>
                <a:latin typeface="Consolas"/>
              </a:rPr>
              <a:t>.</a:t>
            </a:r>
            <a:r>
              <a:rPr sz="1000">
                <a:solidFill>
                  <a:srgbClr val="A78BFA"/>
                </a:solidFill>
                <a:latin typeface="Consolas"/>
              </a:rPr>
              <a:t>exports</a:t>
            </a:r>
            <a:r>
              <a:rPr sz="1000">
                <a:solidFill>
                  <a:srgbClr val="E2E8F0"/>
                </a:solidFill>
                <a:latin typeface="Consolas"/>
              </a:rPr>
              <a:t> = { pool, verificarConexion };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SECCION 06 .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Codigo: Endpoints 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10881360" cy="434340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src / routes / estudiantes.js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50007"/>
            <a:ext cx="10378440" cy="3776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1  </a:t>
            </a:r>
            <a:r>
              <a:rPr sz="1150">
                <a:solidFill>
                  <a:srgbClr val="64748B"/>
                </a:solidFill>
                <a:latin typeface="Consolas"/>
              </a:rPr>
              <a:t>// GET: obtener todos los registros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2  </a:t>
            </a:r>
            <a:r>
              <a:rPr sz="1150">
                <a:solidFill>
                  <a:srgbClr val="E2E8F0"/>
                </a:solidFill>
                <a:latin typeface="Consolas"/>
              </a:rPr>
              <a:t>router.get(</a:t>
            </a:r>
            <a:r>
              <a:rPr sz="1150">
                <a:solidFill>
                  <a:srgbClr val="86EFAC"/>
                </a:solidFill>
                <a:latin typeface="Consolas"/>
              </a:rPr>
              <a:t>'/api/estudiantes'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A78BFA"/>
                </a:solidFill>
                <a:latin typeface="Consolas"/>
              </a:rPr>
              <a:t>async</a:t>
            </a:r>
            <a:r>
              <a:rPr sz="1150">
                <a:solidFill>
                  <a:srgbClr val="E2E8F0"/>
                </a:solidFill>
                <a:latin typeface="Consolas"/>
              </a:rPr>
              <a:t> (req, res) =&gt; {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3  </a:t>
            </a: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A78BFA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[datos] = </a:t>
            </a:r>
            <a:r>
              <a:rPr sz="1150">
                <a:solidFill>
                  <a:srgbClr val="A78BFA"/>
                </a:solidFill>
                <a:latin typeface="Consolas"/>
              </a:rPr>
              <a:t>await</a:t>
            </a:r>
            <a:r>
              <a:rPr sz="1150">
                <a:solidFill>
                  <a:srgbClr val="E2E8F0"/>
                </a:solidFill>
                <a:latin typeface="Consolas"/>
              </a:rPr>
              <a:t> pool.query(</a:t>
            </a:r>
            <a:r>
              <a:rPr sz="1150">
                <a:solidFill>
                  <a:srgbClr val="86EFAC"/>
                </a:solidFill>
                <a:latin typeface="Consolas"/>
              </a:rPr>
              <a:t>'SELECT * FROM estudiantes'</a:t>
            </a:r>
            <a:r>
              <a:rPr sz="11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4  </a:t>
            </a:r>
            <a:r>
              <a:rPr sz="1150">
                <a:solidFill>
                  <a:srgbClr val="E2E8F0"/>
                </a:solidFill>
                <a:latin typeface="Consolas"/>
              </a:rPr>
              <a:t>  res.json({ exito: </a:t>
            </a:r>
            <a:r>
              <a:rPr sz="1150">
                <a:solidFill>
                  <a:srgbClr val="A78BFA"/>
                </a:solidFill>
                <a:latin typeface="Consolas"/>
              </a:rPr>
              <a:t>true</a:t>
            </a:r>
            <a:r>
              <a:rPr sz="1150">
                <a:solidFill>
                  <a:srgbClr val="E2E8F0"/>
                </a:solidFill>
                <a:latin typeface="Consolas"/>
              </a:rPr>
              <a:t>, datos: datos });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5  </a:t>
            </a:r>
            <a:r>
              <a:rPr sz="115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6 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7  </a:t>
            </a:r>
            <a:r>
              <a:rPr sz="1150">
                <a:solidFill>
                  <a:srgbClr val="64748B"/>
                </a:solidFill>
                <a:latin typeface="Consolas"/>
              </a:rPr>
              <a:t>// POST: crear un nuevo registro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8  </a:t>
            </a:r>
            <a:r>
              <a:rPr sz="1150">
                <a:solidFill>
                  <a:srgbClr val="E2E8F0"/>
                </a:solidFill>
                <a:latin typeface="Consolas"/>
              </a:rPr>
              <a:t>router.post(</a:t>
            </a:r>
            <a:r>
              <a:rPr sz="1150">
                <a:solidFill>
                  <a:srgbClr val="86EFAC"/>
                </a:solidFill>
                <a:latin typeface="Consolas"/>
              </a:rPr>
              <a:t>'/api/estudiantes'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A78BFA"/>
                </a:solidFill>
                <a:latin typeface="Consolas"/>
              </a:rPr>
              <a:t>async</a:t>
            </a:r>
            <a:r>
              <a:rPr sz="1150">
                <a:solidFill>
                  <a:srgbClr val="E2E8F0"/>
                </a:solidFill>
                <a:latin typeface="Consolas"/>
              </a:rPr>
              <a:t> (req, res) =&gt; {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 9  </a:t>
            </a: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A78BFA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{ nombre, email, matricula } = req.body;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10  </a:t>
            </a: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A78BFA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[r] = </a:t>
            </a:r>
            <a:r>
              <a:rPr sz="1150">
                <a:solidFill>
                  <a:srgbClr val="A78BFA"/>
                </a:solidFill>
                <a:latin typeface="Consolas"/>
              </a:rPr>
              <a:t>await</a:t>
            </a:r>
            <a:r>
              <a:rPr sz="1150">
                <a:solidFill>
                  <a:srgbClr val="E2E8F0"/>
                </a:solidFill>
                <a:latin typeface="Consolas"/>
              </a:rPr>
              <a:t> pool.query(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11  </a:t>
            </a:r>
            <a:r>
              <a:rPr sz="1150">
                <a:solidFill>
                  <a:srgbClr val="E2E8F0"/>
                </a:solidFill>
                <a:latin typeface="Consolas"/>
              </a:rPr>
              <a:t>    </a:t>
            </a:r>
            <a:r>
              <a:rPr sz="1150">
                <a:solidFill>
                  <a:srgbClr val="86EFAC"/>
                </a:solidFill>
                <a:latin typeface="Consolas"/>
              </a:rPr>
              <a:t>'INSERT INTO estudiantes VALUES (?, ?, ?)'</a:t>
            </a:r>
            <a:r>
              <a:rPr sz="11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12  </a:t>
            </a:r>
            <a:r>
              <a:rPr sz="1150">
                <a:solidFill>
                  <a:srgbClr val="E2E8F0"/>
                </a:solidFill>
                <a:latin typeface="Consolas"/>
              </a:rPr>
              <a:t>    [nombre, email, matricula]);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13  </a:t>
            </a:r>
            <a:r>
              <a:rPr sz="1150">
                <a:solidFill>
                  <a:srgbClr val="E2E8F0"/>
                </a:solidFill>
                <a:latin typeface="Consolas"/>
              </a:rPr>
              <a:t>  res.json({ exito: </a:t>
            </a:r>
            <a:r>
              <a:rPr sz="1150">
                <a:solidFill>
                  <a:srgbClr val="A78BFA"/>
                </a:solidFill>
                <a:latin typeface="Consolas"/>
              </a:rPr>
              <a:t>true</a:t>
            </a:r>
            <a:r>
              <a:rPr sz="1150">
                <a:solidFill>
                  <a:srgbClr val="E2E8F0"/>
                </a:solidFill>
                <a:latin typeface="Consolas"/>
              </a:rPr>
              <a:t>, id: r.insertId });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475569"/>
                </a:solidFill>
                <a:latin typeface="Consolas"/>
              </a:rPr>
              <a:t>14  </a:t>
            </a:r>
            <a:r>
              <a:rPr sz="115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SECCION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Resultados Obtenidos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553" y="2029968"/>
            <a:ext cx="4773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>
                <a:solidFill>
                  <a:srgbClr val="111827"/>
                </a:solidFill>
                <a:latin typeface="Segoe UI Semibold"/>
              </a:rPr>
              <a:t>Postman: GET /</a:t>
            </a:r>
            <a:r>
              <a:rPr sz="1350" b="1" i="0" dirty="0" err="1">
                <a:solidFill>
                  <a:srgbClr val="111827"/>
                </a:solidFill>
                <a:latin typeface="Segoe UI Semibold"/>
              </a:rPr>
              <a:t>api</a:t>
            </a:r>
            <a:r>
              <a:rPr sz="1350" b="1" i="0" dirty="0">
                <a:solidFill>
                  <a:srgbClr val="111827"/>
                </a:solidFill>
                <a:latin typeface="Segoe UI Semibold"/>
              </a:rPr>
              <a:t>/</a:t>
            </a:r>
            <a:r>
              <a:rPr sz="1350" b="1" i="0" dirty="0" err="1">
                <a:solidFill>
                  <a:srgbClr val="111827"/>
                </a:solidFill>
                <a:latin typeface="Segoe UI Semibold"/>
              </a:rPr>
              <a:t>salud</a:t>
            </a:r>
            <a:endParaRPr sz="1350" b="1" i="0" dirty="0">
              <a:solidFill>
                <a:srgbClr val="111827"/>
              </a:solidFill>
              <a:latin typeface="Segoe UI Semibol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99632" y="1965960"/>
            <a:ext cx="532180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5630" y="2066544"/>
            <a:ext cx="4773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Respuesta JSON de estudiantes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3862F582-E285-F467-45E3-478EBB1C8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50" y="2670048"/>
            <a:ext cx="5031465" cy="2829052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015CF8D-8CDD-ACD1-6520-734D96BDC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630" y="2670049"/>
            <a:ext cx="5031465" cy="28290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32688" y="227685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2585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295144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Verificacion del SGBD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86207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Se creo un microservicio que verifica el funcionamiento del SGBD de forma exitosa.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2276856"/>
            <a:ext cx="457200" cy="457200"/>
          </a:xfrm>
          <a:prstGeom prst="ellipse">
            <a:avLst/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2585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295144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Arquitectura 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6207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Los endpoints ofrecen una interfaz clara y estandar para acceder a los datos.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50792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5079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436168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379976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Operaciones CRUD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946904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Se implementaron y probaron todas las operaciones basicas sobre la base de datos.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50792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405079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92240" y="43616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379976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Escalabilidad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946904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El modelo puede extenderse a aplicaciones complejas con multiples tablas y relaciones.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 dirty="0">
                <a:solidFill>
                  <a:srgbClr val="D97706"/>
                </a:solidFill>
                <a:latin typeface="Segoe UI Semibold"/>
              </a:rPr>
              <a:t>SECCION </a:t>
            </a:r>
            <a:r>
              <a:rPr lang="es-MX" sz="1150" b="1" spc="220" dirty="0">
                <a:solidFill>
                  <a:srgbClr val="D97706"/>
                </a:solidFill>
                <a:latin typeface="Segoe UI Semibold"/>
              </a:rPr>
              <a:t>9</a:t>
            </a:r>
            <a:endParaRPr sz="1150" b="1" i="0" spc="220" dirty="0">
              <a:solidFill>
                <a:srgbClr val="D97706"/>
              </a:solidFill>
              <a:latin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Paso a Paso de Ejecucion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82296" cy="6766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9536" y="210312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0904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2057400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cd practica-sgbd-api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2350008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Abrir terminal en la carpeta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82296" cy="67665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19088" y="210312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20904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057400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npm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350008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Instalar dependencias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807208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2807208"/>
            <a:ext cx="82296" cy="6766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9536" y="29443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29316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2898648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setup.sql en 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3191256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Crear BD y tabla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07208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2807208"/>
            <a:ext cx="82296" cy="6766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19088" y="29443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088" y="29316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898648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editar .env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191256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Configurar credenciales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648456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8368" y="3648456"/>
            <a:ext cx="82296" cy="6766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9536" y="37856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9536" y="37729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8176" y="3739896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npm start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8176" y="4032504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Iniciar servidor (puerto 3000)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648456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17920" y="3648456"/>
            <a:ext cx="82296" cy="6766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419088" y="37856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19088" y="37729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3739896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localhost:3000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4032504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Acceder a la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489704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58368" y="4489704"/>
            <a:ext cx="82296" cy="67665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9536" y="46268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46141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08176" y="4581144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GET /api/salud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8176" y="4873752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Verificar estado activo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489704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217920" y="4489704"/>
            <a:ext cx="82296" cy="6766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419088" y="46268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19088" y="46141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7728" y="4581144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GET /api/estudiantes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7728" y="4873752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Obtener datos de la BD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5330952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58368" y="5330952"/>
            <a:ext cx="82296" cy="6766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59536" y="54681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9536" y="54554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08176" y="5422392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POST /api/estudiantes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08176" y="5715000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Crear nuevos registros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5330952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217920" y="5330952"/>
            <a:ext cx="82296" cy="6766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6419088" y="54681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19088" y="54554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67728" y="5422392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Consolas"/>
              </a:rPr>
              <a:t>SELECT en MySQL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67728" y="5715000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Comprobar cambios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 dirty="0">
                <a:solidFill>
                  <a:srgbClr val="7C3AED"/>
                </a:solidFill>
                <a:latin typeface="Segoe UI Semibold"/>
              </a:rPr>
              <a:t>SECCION </a:t>
            </a:r>
            <a:r>
              <a:rPr lang="es-MX" sz="1150" b="1" i="0" spc="220" dirty="0">
                <a:solidFill>
                  <a:srgbClr val="7C3AED"/>
                </a:solidFill>
                <a:latin typeface="Segoe UI Semibold"/>
              </a:rPr>
              <a:t>10</a:t>
            </a:r>
            <a:endParaRPr sz="1150" b="1" i="0" spc="220" dirty="0">
              <a:solidFill>
                <a:srgbClr val="7C3AED"/>
              </a:solidFill>
              <a:latin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Fuentes de Informacion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08483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721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9659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Express.js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965960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Documentacion oficial (2024). expressjs.com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79192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279806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7853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679192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67919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Reference Manual 8.0 (2024). dev.mysql.com/doc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392424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3511296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49859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392424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392424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Documentacion oficial (2024). nodejs.org/docs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105656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4224528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2118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10565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MDN Web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105656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HTTP request methods (2024). developer.mozilla.org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18888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68680" y="493776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9250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81888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M. Fowler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81888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Microservices (2014). martinfowler.com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68680" y="565099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56382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53212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REST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5532120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Design best practices (2024). restfulapi.net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84080" y="164592"/>
            <a:ext cx="1920240" cy="1067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s-MX" sz="6600" b="1" i="0" dirty="0">
                <a:solidFill>
                  <a:srgbClr val="EEF2FF"/>
                </a:solidFill>
                <a:latin typeface="Segoe UI Semibold"/>
              </a:rPr>
              <a:t>11</a:t>
            </a:r>
            <a:endParaRPr sz="6600" b="1" i="0" dirty="0">
              <a:solidFill>
                <a:srgbClr val="EEF2FF"/>
              </a:solidFill>
              <a:latin typeface="Segoe UI Semibold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6C567BF-7386-F1BA-D422-3CFEE4B4F012}"/>
              </a:ext>
            </a:extLst>
          </p:cNvPr>
          <p:cNvSpPr txBox="1"/>
          <p:nvPr/>
        </p:nvSpPr>
        <p:spPr>
          <a:xfrm>
            <a:off x="1986116" y="2180687"/>
            <a:ext cx="96159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LINK DE LA PRACTICA REALIZADA MYSQL</a:t>
            </a:r>
          </a:p>
          <a:p>
            <a:br>
              <a:rPr lang="es-MX" sz="2800" dirty="0"/>
            </a:br>
            <a:r>
              <a:rPr lang="es-MX" sz="2800" dirty="0">
                <a:hlinkClick r:id="rId2"/>
              </a:rPr>
              <a:t>https://github.com/amaurycolochos-cpu/ADMINISTRACION-BASE-DE-DATOS/tree/master/UNIDAD%202/practica-sgbd-api</a:t>
            </a:r>
            <a:endParaRPr lang="es-MX" sz="2800" dirty="0"/>
          </a:p>
          <a:p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607759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spc="400">
                <a:solidFill>
                  <a:srgbClr val="D97706"/>
                </a:solidFill>
                <a:latin typeface="Segoe UI Semibold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Segundo Microservicio: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87171"/>
                </a:solidFill>
                <a:latin typeface="Segoe UI Semibold"/>
              </a:rPr>
              <a:t>Oracle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3291840" cy="2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97706"/>
                </a:solidFill>
                <a:latin typeface="Segoe UI Semibold"/>
              </a:rPr>
              <a:t>PARTE 2 .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11827"/>
                </a:solidFill>
                <a:latin typeface="Segoe UI Semibold"/>
              </a:rPr>
              <a:t>Por que dos motores: MySQL vs Oracle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874519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CARACTERISTICA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74519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8" y="1874519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MySQL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9288" y="1874519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1874519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Oracle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41447"/>
            <a:ext cx="10881360" cy="548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244144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Tipo de licencia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441447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Open source (gratuito)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441447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Comercial (edicion Free)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990087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299008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Driver Node.js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2990087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mysql2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990087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oracledb (thin mode)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38727"/>
            <a:ext cx="10881360" cy="548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353872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Puerto por defecto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538727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3306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3538727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1521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087367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408736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Unidad de BD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4087367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Base de datos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087367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Esquema / PDB (FREEPDB1)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636007"/>
            <a:ext cx="10881360" cy="548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463600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Autoincremento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4636007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AUTO_INCREMENT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4636007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GENERATED AS IDENTITY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184647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" y="518464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Parametros en consulta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5374039"/>
            <a:ext cx="3429000" cy="1698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 dirty="0">
                <a:solidFill>
                  <a:srgbClr val="374151"/>
                </a:solidFill>
                <a:latin typeface="Segoe UI"/>
              </a:rPr>
              <a:t>(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posicional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5374039"/>
            <a:ext cx="3246120" cy="1698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 dirty="0">
                <a:solidFill>
                  <a:srgbClr val="374151"/>
                </a:solidFill>
                <a:latin typeface="Segoe UI"/>
              </a:rPr>
              <a:t>(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nombrado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733287"/>
            <a:ext cx="10881360" cy="548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73328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Cuota de disco real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5733287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Por privilegios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5733287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QUOTA n ON tablespace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C2626"/>
                </a:solidFill>
                <a:latin typeface="Segoe UI Semibold"/>
              </a:rPr>
              <a:t>PARTE 2 .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11827"/>
                </a:solidFill>
                <a:latin typeface="Segoe UI Semibold"/>
              </a:rPr>
              <a:t>Configuracion de Oracle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057400"/>
            <a:ext cx="27940" cy="3246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8368" y="1965960"/>
            <a:ext cx="493776" cy="493776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95326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89888" y="1947672"/>
            <a:ext cx="4297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72768" y="202082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Levantar Oracle en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5000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Se usa la imagen oficial gvenzl/oracle-free (Oracle 23ai).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2926080"/>
            <a:ext cx="493776" cy="493776"/>
          </a:xfrm>
          <a:prstGeom prst="ellipse">
            <a:avLst/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91338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89888" y="2907792"/>
            <a:ext cx="4297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72768" y="298094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Crear usuario con cuota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31012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alumno_sgbd con QUOTA 100M sobre el tablespace USERS.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3886200"/>
            <a:ext cx="493776" cy="493776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8735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9888" y="3867912"/>
            <a:ext cx="4297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72768" y="394106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Otorgar privilegios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7024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GRANT CONNECT, RESOURCE para crear y manejar tablas.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" y="4846320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83362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89888" y="4828032"/>
            <a:ext cx="4297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72768" y="490118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Crear tabla estudiantes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3036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Misma estructura que en MySQL, sintaxis Oracle.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32120" y="1920240"/>
            <a:ext cx="5989320" cy="429768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532120" y="1920240"/>
            <a:ext cx="598932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33288" y="2048256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971032" y="2048256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208776" y="2048256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32120" y="1920240"/>
            <a:ext cx="5989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setup-oracle.sql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2395728"/>
            <a:ext cx="5486400" cy="37307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1  </a:t>
            </a:r>
            <a:r>
              <a:rPr sz="1100">
                <a:solidFill>
                  <a:srgbClr val="64748B"/>
                </a:solidFill>
                <a:latin typeface="Consolas"/>
              </a:rPr>
              <a:t>-- 1) Contenedor Oracle (una sola vez)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2  </a:t>
            </a:r>
            <a:r>
              <a:rPr sz="1100">
                <a:solidFill>
                  <a:srgbClr val="E2E8F0"/>
                </a:solidFill>
                <a:latin typeface="Consolas"/>
              </a:rPr>
              <a:t>docker run -d </a:t>
            </a:r>
            <a:r>
              <a:rPr sz="1100">
                <a:solidFill>
                  <a:srgbClr val="64748B"/>
                </a:solidFill>
                <a:latin typeface="Consolas"/>
              </a:rPr>
              <a:t>--name oracle-abd \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3  </a:t>
            </a:r>
            <a:r>
              <a:rPr sz="1100">
                <a:solidFill>
                  <a:srgbClr val="E2E8F0"/>
                </a:solidFill>
                <a:latin typeface="Consolas"/>
              </a:rPr>
              <a:t>  -p </a:t>
            </a:r>
            <a:r>
              <a:rPr sz="1100">
                <a:solidFill>
                  <a:srgbClr val="FBBF24"/>
                </a:solidFill>
                <a:latin typeface="Consolas"/>
              </a:rPr>
              <a:t>1521</a:t>
            </a:r>
            <a:r>
              <a:rPr sz="1100">
                <a:solidFill>
                  <a:srgbClr val="E2E8F0"/>
                </a:solidFill>
                <a:latin typeface="Consolas"/>
              </a:rPr>
              <a:t>:</a:t>
            </a:r>
            <a:r>
              <a:rPr sz="1100">
                <a:solidFill>
                  <a:srgbClr val="FBBF24"/>
                </a:solidFill>
                <a:latin typeface="Consolas"/>
              </a:rPr>
              <a:t>1521</a:t>
            </a:r>
            <a:r>
              <a:rPr sz="1100">
                <a:solidFill>
                  <a:srgbClr val="E2E8F0"/>
                </a:solidFill>
                <a:latin typeface="Consolas"/>
              </a:rPr>
              <a:t> \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4  </a:t>
            </a:r>
            <a:r>
              <a:rPr sz="1100">
                <a:solidFill>
                  <a:srgbClr val="E2E8F0"/>
                </a:solidFill>
                <a:latin typeface="Consolas"/>
              </a:rPr>
              <a:t>  -e APP_USER=alumno_sgbd \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5  </a:t>
            </a:r>
            <a:r>
              <a:rPr sz="1100">
                <a:solidFill>
                  <a:srgbClr val="E2E8F0"/>
                </a:solidFill>
                <a:latin typeface="Consolas"/>
              </a:rPr>
              <a:t>  -e APP_USER_PASSWORD=Alumno123 \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6  </a:t>
            </a:r>
            <a:r>
              <a:rPr sz="1100">
                <a:solidFill>
                  <a:srgbClr val="E2E8F0"/>
                </a:solidFill>
                <a:latin typeface="Consolas"/>
              </a:rPr>
              <a:t>  gvenzl/oracle-free:slim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7 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8  </a:t>
            </a:r>
            <a:r>
              <a:rPr sz="1100">
                <a:solidFill>
                  <a:srgbClr val="64748B"/>
                </a:solidFill>
                <a:latin typeface="Consolas"/>
              </a:rPr>
              <a:t>-- 2) Tabla en Oracle (usuario alumno_sgbd)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9  </a:t>
            </a:r>
            <a:r>
              <a:rPr sz="1100">
                <a:solidFill>
                  <a:srgbClr val="A78BFA"/>
                </a:solidFill>
                <a:latin typeface="Consolas"/>
              </a:rPr>
              <a:t>CREATE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A78BFA"/>
                </a:solidFill>
                <a:latin typeface="Consolas"/>
              </a:rPr>
              <a:t>TABLE</a:t>
            </a:r>
            <a:r>
              <a:rPr sz="1100">
                <a:solidFill>
                  <a:srgbClr val="E2E8F0"/>
                </a:solidFill>
                <a:latin typeface="Consolas"/>
              </a:rPr>
              <a:t> estudiantes (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10  </a:t>
            </a:r>
            <a:r>
              <a:rPr sz="1100">
                <a:solidFill>
                  <a:srgbClr val="E2E8F0"/>
                </a:solidFill>
                <a:latin typeface="Consolas"/>
              </a:rPr>
              <a:t>  id        </a:t>
            </a:r>
            <a:r>
              <a:rPr sz="1100">
                <a:solidFill>
                  <a:srgbClr val="A78BFA"/>
                </a:solidFill>
                <a:latin typeface="Consolas"/>
              </a:rPr>
              <a:t>NUMBER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A78BFA"/>
                </a:solidFill>
                <a:latin typeface="Consolas"/>
              </a:rPr>
              <a:t>GENERATED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A78BFA"/>
                </a:solidFill>
                <a:latin typeface="Consolas"/>
              </a:rPr>
              <a:t>AS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A78BFA"/>
                </a:solidFill>
                <a:latin typeface="Consolas"/>
              </a:rPr>
              <a:t>IDENTITY</a:t>
            </a:r>
            <a:r>
              <a:rPr sz="11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11  </a:t>
            </a:r>
            <a:r>
              <a:rPr sz="1100">
                <a:solidFill>
                  <a:srgbClr val="E2E8F0"/>
                </a:solidFill>
                <a:latin typeface="Consolas"/>
              </a:rPr>
              <a:t>  nombre    </a:t>
            </a:r>
            <a:r>
              <a:rPr sz="1100">
                <a:solidFill>
                  <a:srgbClr val="A78BFA"/>
                </a:solidFill>
                <a:latin typeface="Consolas"/>
              </a:rPr>
              <a:t>VARCHAR2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FBBF24"/>
                </a:solidFill>
                <a:latin typeface="Consolas"/>
              </a:rPr>
              <a:t>100</a:t>
            </a:r>
            <a:r>
              <a:rPr sz="1100">
                <a:solidFill>
                  <a:srgbClr val="E2E8F0"/>
                </a:solidFill>
                <a:latin typeface="Consolas"/>
              </a:rPr>
              <a:t>) </a:t>
            </a:r>
            <a:r>
              <a:rPr sz="1100">
                <a:solidFill>
                  <a:srgbClr val="A78BFA"/>
                </a:solidFill>
                <a:latin typeface="Consolas"/>
              </a:rPr>
              <a:t>NOT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A78BFA"/>
                </a:solidFill>
                <a:latin typeface="Consolas"/>
              </a:rPr>
              <a:t>NULL</a:t>
            </a:r>
            <a:r>
              <a:rPr sz="11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12  </a:t>
            </a:r>
            <a:r>
              <a:rPr sz="1100">
                <a:solidFill>
                  <a:srgbClr val="E2E8F0"/>
                </a:solidFill>
                <a:latin typeface="Consolas"/>
              </a:rPr>
              <a:t>  email     </a:t>
            </a:r>
            <a:r>
              <a:rPr sz="1100">
                <a:solidFill>
                  <a:srgbClr val="A78BFA"/>
                </a:solidFill>
                <a:latin typeface="Consolas"/>
              </a:rPr>
              <a:t>VARCHAR2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FBBF24"/>
                </a:solidFill>
                <a:latin typeface="Consolas"/>
              </a:rPr>
              <a:t>100</a:t>
            </a:r>
            <a:r>
              <a:rPr sz="1100">
                <a:solidFill>
                  <a:srgbClr val="E2E8F0"/>
                </a:solidFill>
                <a:latin typeface="Consolas"/>
              </a:rPr>
              <a:t>) </a:t>
            </a:r>
            <a:r>
              <a:rPr sz="1100">
                <a:solidFill>
                  <a:srgbClr val="A78BFA"/>
                </a:solidFill>
                <a:latin typeface="Consolas"/>
              </a:rPr>
              <a:t>UNIQUE</a:t>
            </a:r>
            <a:r>
              <a:rPr sz="11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13  </a:t>
            </a:r>
            <a:r>
              <a:rPr sz="1100">
                <a:solidFill>
                  <a:srgbClr val="E2E8F0"/>
                </a:solidFill>
                <a:latin typeface="Consolas"/>
              </a:rPr>
              <a:t>  matricula </a:t>
            </a:r>
            <a:r>
              <a:rPr sz="1100">
                <a:solidFill>
                  <a:srgbClr val="A78BFA"/>
                </a:solidFill>
                <a:latin typeface="Consolas"/>
              </a:rPr>
              <a:t>VARCHAR2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FBBF24"/>
                </a:solidFill>
                <a:latin typeface="Consolas"/>
              </a:rPr>
              <a:t>20</a:t>
            </a:r>
            <a:r>
              <a:rPr sz="1100">
                <a:solidFill>
                  <a:srgbClr val="E2E8F0"/>
                </a:solidFill>
                <a:latin typeface="Consolas"/>
              </a:rPr>
              <a:t>)  </a:t>
            </a:r>
            <a:r>
              <a:rPr sz="1100">
                <a:solidFill>
                  <a:srgbClr val="A78BFA"/>
                </a:solidFill>
                <a:latin typeface="Consolas"/>
              </a:rPr>
              <a:t>UNIQUE</a:t>
            </a:r>
            <a:r>
              <a:rPr sz="11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14  </a:t>
            </a:r>
            <a:r>
              <a:rPr sz="1100">
                <a:solidFill>
                  <a:srgbClr val="E2E8F0"/>
                </a:solidFill>
                <a:latin typeface="Consolas"/>
              </a:rPr>
              <a:t>  estado    </a:t>
            </a:r>
            <a:r>
              <a:rPr sz="1100">
                <a:solidFill>
                  <a:srgbClr val="A78BFA"/>
                </a:solidFill>
                <a:latin typeface="Consolas"/>
              </a:rPr>
              <a:t>VARCHAR2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FBBF24"/>
                </a:solidFill>
                <a:latin typeface="Consolas"/>
              </a:rPr>
              <a:t>10</a:t>
            </a:r>
            <a:r>
              <a:rPr sz="1100">
                <a:solidFill>
                  <a:srgbClr val="E2E8F0"/>
                </a:solidFill>
                <a:latin typeface="Consolas"/>
              </a:rPr>
              <a:t>) </a:t>
            </a:r>
            <a:r>
              <a:rPr sz="1100">
                <a:solidFill>
                  <a:srgbClr val="A78BFA"/>
                </a:solidFill>
                <a:latin typeface="Consolas"/>
              </a:rPr>
              <a:t>DEFAULT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86EFAC"/>
                </a:solidFill>
                <a:latin typeface="Consolas"/>
              </a:rPr>
              <a:t>'activo'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15  </a:t>
            </a:r>
            <a:r>
              <a:rPr sz="110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97706"/>
                </a:solidFill>
                <a:latin typeface="Segoe UI Semibold"/>
              </a:rPr>
              <a:t>PARTE 2 -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Como se Elaboro: Comandos Paso a Paso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91440" cy="6400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2400E"/>
                </a:solidFill>
                <a:latin typeface="Segoe UI"/>
              </a:rPr>
              <a:t>Estos son los comandos reales que se usaron, en orden, para construir el microservicio Oracle desde cero: crear el proyecto, instalar librerias, levantar la base y arrancarlo.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60320"/>
            <a:ext cx="10881360" cy="370332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2560320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59536" y="2688336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2688336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335024" y="2688336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56032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terminal  /  PowerShell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035808"/>
            <a:ext cx="10378440" cy="31363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1  </a:t>
            </a:r>
            <a:r>
              <a:rPr sz="1100">
                <a:solidFill>
                  <a:srgbClr val="64748B"/>
                </a:solidFill>
                <a:latin typeface="Consolas"/>
              </a:rPr>
              <a:t># 1) Creo la carpeta del proyecto y el package.json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2  </a:t>
            </a:r>
            <a:r>
              <a:rPr sz="1100">
                <a:solidFill>
                  <a:srgbClr val="7DD3FC"/>
                </a:solidFill>
                <a:latin typeface="Consolas"/>
              </a:rPr>
              <a:t>mkdir</a:t>
            </a:r>
            <a:r>
              <a:rPr sz="1100">
                <a:solidFill>
                  <a:srgbClr val="E2E8F0"/>
                </a:solidFill>
                <a:latin typeface="Consolas"/>
              </a:rPr>
              <a:t> practica-sgbd-api-oracle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3  </a:t>
            </a:r>
            <a:r>
              <a:rPr sz="1100">
                <a:solidFill>
                  <a:srgbClr val="7DD3FC"/>
                </a:solidFill>
                <a:latin typeface="Consolas"/>
              </a:rPr>
              <a:t>cd</a:t>
            </a:r>
            <a:r>
              <a:rPr sz="1100">
                <a:solidFill>
                  <a:srgbClr val="E2E8F0"/>
                </a:solidFill>
                <a:latin typeface="Consolas"/>
              </a:rPr>
              <a:t> practica-sgbd-api-oracle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4  </a:t>
            </a:r>
            <a:r>
              <a:rPr sz="1100">
                <a:solidFill>
                  <a:srgbClr val="7DD3FC"/>
                </a:solidFill>
                <a:latin typeface="Consolas"/>
              </a:rPr>
              <a:t>npm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7DD3FC"/>
                </a:solidFill>
                <a:latin typeface="Consolas"/>
              </a:rPr>
              <a:t>init</a:t>
            </a:r>
            <a:r>
              <a:rPr sz="1100">
                <a:solidFill>
                  <a:srgbClr val="E2E8F0"/>
                </a:solidFill>
                <a:latin typeface="Consolas"/>
              </a:rPr>
              <a:t> -y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5 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6  </a:t>
            </a:r>
            <a:r>
              <a:rPr sz="1100">
                <a:solidFill>
                  <a:srgbClr val="64748B"/>
                </a:solidFill>
                <a:latin typeface="Consolas"/>
              </a:rPr>
              <a:t># 2) Instalo las librerias que voy a usar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7  </a:t>
            </a:r>
            <a:r>
              <a:rPr sz="1100">
                <a:solidFill>
                  <a:srgbClr val="7DD3FC"/>
                </a:solidFill>
                <a:latin typeface="Consolas"/>
              </a:rPr>
              <a:t>npm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7DD3FC"/>
                </a:solidFill>
                <a:latin typeface="Consolas"/>
              </a:rPr>
              <a:t>install</a:t>
            </a:r>
            <a:r>
              <a:rPr sz="1100">
                <a:solidFill>
                  <a:srgbClr val="E2E8F0"/>
                </a:solidFill>
                <a:latin typeface="Consolas"/>
              </a:rPr>
              <a:t> express oracledb dotenv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8 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9  </a:t>
            </a:r>
            <a:r>
              <a:rPr sz="1100">
                <a:solidFill>
                  <a:srgbClr val="64748B"/>
                </a:solidFill>
                <a:latin typeface="Consolas"/>
              </a:rPr>
              <a:t># 3) Levanto Oracle Database 23ai en un contenedor Docker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10  </a:t>
            </a:r>
            <a:r>
              <a:rPr sz="1100">
                <a:solidFill>
                  <a:srgbClr val="7DD3FC"/>
                </a:solidFill>
                <a:latin typeface="Consolas"/>
              </a:rPr>
              <a:t>docker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7DD3FC"/>
                </a:solidFill>
                <a:latin typeface="Consolas"/>
              </a:rPr>
              <a:t>run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7DD3FC"/>
                </a:solidFill>
                <a:latin typeface="Consolas"/>
              </a:rPr>
              <a:t>-d</a:t>
            </a:r>
            <a:r>
              <a:rPr sz="1100">
                <a:solidFill>
                  <a:srgbClr val="E2E8F0"/>
                </a:solidFill>
                <a:latin typeface="Consolas"/>
              </a:rPr>
              <a:t> --name oracle-abd </a:t>
            </a:r>
            <a:r>
              <a:rPr sz="1100">
                <a:solidFill>
                  <a:srgbClr val="7DD3FC"/>
                </a:solidFill>
                <a:latin typeface="Consolas"/>
              </a:rPr>
              <a:t>-p</a:t>
            </a:r>
            <a:r>
              <a:rPr sz="1100">
                <a:solidFill>
                  <a:srgbClr val="E2E8F0"/>
                </a:solidFill>
                <a:latin typeface="Consolas"/>
              </a:rPr>
              <a:t> 1521:1521 \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11  </a:t>
            </a: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7DD3FC"/>
                </a:solidFill>
                <a:latin typeface="Consolas"/>
              </a:rPr>
              <a:t>-e</a:t>
            </a:r>
            <a:r>
              <a:rPr sz="1100">
                <a:solidFill>
                  <a:srgbClr val="E2E8F0"/>
                </a:solidFill>
                <a:latin typeface="Consolas"/>
              </a:rPr>
              <a:t> APP_USER=alumno_sgbd </a:t>
            </a:r>
            <a:r>
              <a:rPr sz="1100">
                <a:solidFill>
                  <a:srgbClr val="7DD3FC"/>
                </a:solidFill>
                <a:latin typeface="Consolas"/>
              </a:rPr>
              <a:t>-e</a:t>
            </a:r>
            <a:r>
              <a:rPr sz="1100">
                <a:solidFill>
                  <a:srgbClr val="E2E8F0"/>
                </a:solidFill>
                <a:latin typeface="Consolas"/>
              </a:rPr>
              <a:t> APP_USER_PASSWORD=Alumno123 \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12  </a:t>
            </a:r>
            <a:r>
              <a:rPr sz="1100">
                <a:solidFill>
                  <a:srgbClr val="E2E8F0"/>
                </a:solidFill>
                <a:latin typeface="Consolas"/>
              </a:rPr>
              <a:t>  gvenzl/oracle-free:slim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13 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14  </a:t>
            </a:r>
            <a:r>
              <a:rPr sz="1100">
                <a:solidFill>
                  <a:srgbClr val="64748B"/>
                </a:solidFill>
                <a:latin typeface="Consolas"/>
              </a:rPr>
              <a:t># 4) Entro a Oracle y creo la tabla estudiantes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15  </a:t>
            </a:r>
            <a:r>
              <a:rPr sz="1100">
                <a:solidFill>
                  <a:srgbClr val="7DD3FC"/>
                </a:solidFill>
                <a:latin typeface="Consolas"/>
              </a:rPr>
              <a:t>docker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7DD3FC"/>
                </a:solidFill>
                <a:latin typeface="Consolas"/>
              </a:rPr>
              <a:t>exec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7DD3FC"/>
                </a:solidFill>
                <a:latin typeface="Consolas"/>
              </a:rPr>
              <a:t>-it</a:t>
            </a:r>
            <a:r>
              <a:rPr sz="1100">
                <a:solidFill>
                  <a:srgbClr val="E2E8F0"/>
                </a:solidFill>
                <a:latin typeface="Consolas"/>
              </a:rPr>
              <a:t> oracle-abd </a:t>
            </a:r>
            <a:r>
              <a:rPr sz="1100">
                <a:solidFill>
                  <a:srgbClr val="7DD3FC"/>
                </a:solidFill>
                <a:latin typeface="Consolas"/>
              </a:rPr>
              <a:t>sqlplus</a:t>
            </a:r>
            <a:r>
              <a:rPr sz="1100">
                <a:solidFill>
                  <a:srgbClr val="E2E8F0"/>
                </a:solidFill>
                <a:latin typeface="Consolas"/>
              </a:rPr>
              <a:t> alumno_sgbd/Alumno123@localhost:1521/FREEPDB1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16 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17  </a:t>
            </a:r>
            <a:r>
              <a:rPr sz="1100">
                <a:solidFill>
                  <a:srgbClr val="64748B"/>
                </a:solidFill>
                <a:latin typeface="Consolas"/>
              </a:rPr>
              <a:t># 5) Arranco el microservicio (queda escuchando en el puerto 3010)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18  </a:t>
            </a:r>
            <a:r>
              <a:rPr sz="1100">
                <a:solidFill>
                  <a:srgbClr val="7DD3FC"/>
                </a:solidFill>
                <a:latin typeface="Consolas"/>
              </a:rPr>
              <a:t>node</a:t>
            </a:r>
            <a:r>
              <a:rPr sz="1100">
                <a:solidFill>
                  <a:srgbClr val="E2E8F0"/>
                </a:solidFill>
                <a:latin typeface="Consolas"/>
              </a:rPr>
              <a:t> src/app.js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PARTE 2 - TECNOLOGIAS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Tecnologias Usadas y Por 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157984"/>
            <a:ext cx="3090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563EB"/>
                </a:solidFill>
                <a:latin typeface="Segoe UI Semibold"/>
              </a:rPr>
              <a:t>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88920"/>
            <a:ext cx="3090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Para crear el servidor y la API REST. Es ligero, rapido y muy usado en la industria.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92024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52544" y="192024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157984"/>
            <a:ext cx="3090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oracledb (thin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88920"/>
            <a:ext cx="3090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Driver que conecta Node con Oracle. En modo thin NO necesita instalar el Instant Client.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157984"/>
            <a:ext cx="3090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D97706"/>
                </a:solidFill>
                <a:latin typeface="Segoe UI Semibold"/>
              </a:rPr>
              <a:t>Oracle Database 23ai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88920"/>
            <a:ext cx="3090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El segundo SGBD que pide la materia. Es la edicion Free, gratuita para practicar.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6908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406908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4306824"/>
            <a:ext cx="3090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7C3AED"/>
                </a:solidFill>
                <a:latin typeface="Segoe UI Semibold"/>
              </a:rPr>
              <a:t>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937760"/>
            <a:ext cx="3090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Levanta Oracle en un contenedor sin instalacion manual. Mismo entorno en cualquier PC.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406908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352544" y="406908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712" y="4306824"/>
            <a:ext cx="3090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D9488"/>
                </a:solidFill>
                <a:latin typeface="Segoe UI Semibold"/>
              </a:rPr>
              <a:t>Pool de conexiones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937760"/>
            <a:ext cx="3090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Reutiliza conexiones ya abiertas en vez de crear una por peticion. Mejora el rendimiento.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06908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46720" y="406908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4306824"/>
            <a:ext cx="3090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6A34A"/>
                </a:solidFill>
                <a:latin typeface="Segoe UI Semibold"/>
              </a:rPr>
              <a:t>dotenv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937760"/>
            <a:ext cx="3090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Guarda datos sensibles (usuario, contrasena, puerto) en el archivo .env, fuera del codigo.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PARTE 2 - CODIGO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420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 err="1">
                <a:solidFill>
                  <a:srgbClr val="111827"/>
                </a:solidFill>
                <a:latin typeface="Segoe UI Semibold"/>
              </a:rPr>
              <a:t>Codigo</a:t>
            </a:r>
            <a:r>
              <a:rPr sz="2600" b="1" i="0" dirty="0">
                <a:solidFill>
                  <a:srgbClr val="111827"/>
                </a:solidFill>
                <a:latin typeface="Segoe UI Semibold"/>
              </a:rPr>
              <a:t>: db.js (Oracle)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0881360" cy="443484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src/db.js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350007"/>
            <a:ext cx="10378440" cy="3867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1  </a:t>
            </a:r>
            <a:r>
              <a:rPr sz="950">
                <a:solidFill>
                  <a:srgbClr val="64748B"/>
                </a:solidFill>
                <a:latin typeface="Consolas"/>
              </a:rPr>
              <a:t>// db.js -&gt; maneja la conexion con Oracle (driver oracledb, modo thin)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2  </a:t>
            </a:r>
            <a:r>
              <a:rPr sz="950">
                <a:solidFill>
                  <a:srgbClr val="A78BFA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oracledb = </a:t>
            </a:r>
            <a:r>
              <a:rPr sz="950">
                <a:solidFill>
                  <a:srgbClr val="A78BFA"/>
                </a:solidFill>
                <a:latin typeface="Consolas"/>
              </a:rPr>
              <a:t>require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86EFAC"/>
                </a:solidFill>
                <a:latin typeface="Consolas"/>
              </a:rPr>
              <a:t>'oracledb'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3  </a:t>
            </a:r>
            <a:r>
              <a:rPr sz="950">
                <a:solidFill>
                  <a:srgbClr val="A78BFA"/>
                </a:solidFill>
                <a:latin typeface="Consolas"/>
              </a:rPr>
              <a:t>require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86EFAC"/>
                </a:solidFill>
                <a:latin typeface="Consolas"/>
              </a:rPr>
              <a:t>'dotenv'</a:t>
            </a:r>
            <a:r>
              <a:rPr sz="950">
                <a:solidFill>
                  <a:srgbClr val="E2E8F0"/>
                </a:solidFill>
                <a:latin typeface="Consolas"/>
              </a:rPr>
              <a:t>).config();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4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5  </a:t>
            </a:r>
            <a:r>
              <a:rPr sz="950">
                <a:solidFill>
                  <a:srgbClr val="E2E8F0"/>
                </a:solidFill>
                <a:latin typeface="Consolas"/>
              </a:rPr>
              <a:t>oracledb.outFormat = oracledb.OUT_FORMAT_OBJECT; </a:t>
            </a:r>
            <a:r>
              <a:rPr sz="950">
                <a:solidFill>
                  <a:srgbClr val="64748B"/>
                </a:solidFill>
                <a:latin typeface="Consolas"/>
              </a:rPr>
              <a:t>// filas como objeto JSON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6  </a:t>
            </a:r>
            <a:r>
              <a:rPr sz="950">
                <a:solidFill>
                  <a:srgbClr val="E2E8F0"/>
                </a:solidFill>
                <a:latin typeface="Consolas"/>
              </a:rPr>
              <a:t>oracledb.autoCommit = true;       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// guarda solo cada cambio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7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8  </a:t>
            </a:r>
            <a:r>
              <a:rPr sz="950">
                <a:solidFill>
                  <a:srgbClr val="64748B"/>
                </a:solidFill>
                <a:latin typeface="Consolas"/>
              </a:rPr>
              <a:t>// creo el pool: bolsa de conexiones reutilizables (mas rapido)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9  </a:t>
            </a:r>
            <a:r>
              <a:rPr sz="950">
                <a:solidFill>
                  <a:srgbClr val="A78BFA"/>
                </a:solidFill>
                <a:latin typeface="Consolas"/>
              </a:rPr>
              <a:t>async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function</a:t>
            </a:r>
            <a:r>
              <a:rPr sz="950">
                <a:solidFill>
                  <a:srgbClr val="E2E8F0"/>
                </a:solidFill>
                <a:latin typeface="Consolas"/>
              </a:rPr>
              <a:t> iniciarPool() {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10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 oracledb.createPool({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11  </a:t>
            </a:r>
            <a:r>
              <a:rPr sz="950">
                <a:solidFill>
                  <a:srgbClr val="E2E8F0"/>
                </a:solidFill>
                <a:latin typeface="Consolas"/>
              </a:rPr>
              <a:t>    user: process.env.DB_USER,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12  </a:t>
            </a:r>
            <a:r>
              <a:rPr sz="950">
                <a:solidFill>
                  <a:srgbClr val="E2E8F0"/>
                </a:solidFill>
                <a:latin typeface="Consolas"/>
              </a:rPr>
              <a:t>    password: process.env.DB_PASSWORD,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13  </a:t>
            </a:r>
            <a:r>
              <a:rPr sz="950">
                <a:solidFill>
                  <a:srgbClr val="E2E8F0"/>
                </a:solidFill>
                <a:latin typeface="Consolas"/>
              </a:rPr>
              <a:t>    connectString: process.env.DB_CONNECT, </a:t>
            </a:r>
            <a:r>
              <a:rPr sz="950">
                <a:solidFill>
                  <a:srgbClr val="64748B"/>
                </a:solidFill>
                <a:latin typeface="Consolas"/>
              </a:rPr>
              <a:t>// localhost:1521/FREEPDB1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14  </a:t>
            </a:r>
            <a:r>
              <a:rPr sz="950">
                <a:solidFill>
                  <a:srgbClr val="E2E8F0"/>
                </a:solidFill>
                <a:latin typeface="Consolas"/>
              </a:rPr>
              <a:t>    poolMin: </a:t>
            </a:r>
            <a:r>
              <a:rPr sz="950">
                <a:solidFill>
                  <a:srgbClr val="FBBF24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, poolMax: </a:t>
            </a:r>
            <a:r>
              <a:rPr sz="950">
                <a:solidFill>
                  <a:srgbClr val="FBBF24"/>
                </a:solidFill>
                <a:latin typeface="Consolas"/>
              </a:rPr>
              <a:t>10</a:t>
            </a:r>
            <a:r>
              <a:rPr sz="950">
                <a:solidFill>
                  <a:srgbClr val="E2E8F0"/>
                </a:solidFill>
                <a:latin typeface="Consolas"/>
              </a:rPr>
              <a:t>, poolIncrement: </a:t>
            </a:r>
            <a:r>
              <a:rPr sz="950">
                <a:solidFill>
                  <a:srgbClr val="FBBF24"/>
                </a:solidFill>
                <a:latin typeface="Consolas"/>
              </a:rPr>
              <a:t>1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15  </a:t>
            </a:r>
            <a:r>
              <a:rPr sz="950">
                <a:solidFill>
                  <a:srgbClr val="E2E8F0"/>
                </a:solidFill>
                <a:latin typeface="Consolas"/>
              </a:rPr>
              <a:t>  });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16  </a:t>
            </a: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17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18  </a:t>
            </a:r>
            <a:r>
              <a:rPr sz="950">
                <a:solidFill>
                  <a:srgbClr val="64748B"/>
                </a:solidFill>
                <a:latin typeface="Consolas"/>
              </a:rPr>
              <a:t>// saca una conexion, ejecuta la consulta y la regresa al pool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19  </a:t>
            </a:r>
            <a:r>
              <a:rPr sz="950">
                <a:solidFill>
                  <a:srgbClr val="A78BFA"/>
                </a:solidFill>
                <a:latin typeface="Consolas"/>
              </a:rPr>
              <a:t>async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function</a:t>
            </a:r>
            <a:r>
              <a:rPr sz="950">
                <a:solidFill>
                  <a:srgbClr val="E2E8F0"/>
                </a:solidFill>
                <a:latin typeface="Consolas"/>
              </a:rPr>
              <a:t> consulta(sql, binds = {}) {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20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conn = </a:t>
            </a:r>
            <a:r>
              <a:rPr sz="950">
                <a:solidFill>
                  <a:srgbClr val="A78BF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 oracledb.getConnection();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21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try</a:t>
            </a:r>
            <a:r>
              <a:rPr sz="950">
                <a:solidFill>
                  <a:srgbClr val="E2E8F0"/>
                </a:solidFill>
                <a:latin typeface="Consolas"/>
              </a:rPr>
              <a:t> { </a:t>
            </a:r>
            <a:r>
              <a:rPr sz="950">
                <a:solidFill>
                  <a:srgbClr val="A78BFA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 conn.execute(sql, binds); }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22  </a:t>
            </a:r>
            <a:r>
              <a:rPr sz="950">
                <a:solidFill>
                  <a:srgbClr val="E2E8F0"/>
                </a:solidFill>
                <a:latin typeface="Consolas"/>
              </a:rPr>
              <a:t>  finally { </a:t>
            </a:r>
            <a:r>
              <a:rPr sz="950">
                <a:solidFill>
                  <a:srgbClr val="A78BF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 conn.close(); }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23  </a:t>
            </a: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PARTE 2 - CODIGO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420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 err="1">
                <a:solidFill>
                  <a:srgbClr val="111827"/>
                </a:solidFill>
                <a:latin typeface="Segoe UI Semibold"/>
              </a:rPr>
              <a:t>Codigo</a:t>
            </a:r>
            <a:r>
              <a:rPr sz="2600" b="1" i="0" dirty="0">
                <a:solidFill>
                  <a:srgbClr val="111827"/>
                </a:solidFill>
                <a:latin typeface="Segoe UI Semibold"/>
              </a:rPr>
              <a:t>: CRUD (Oracle)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0881360" cy="443484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src/routes/estudiantes.js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350007"/>
            <a:ext cx="10378440" cy="3867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1  </a:t>
            </a:r>
            <a:r>
              <a:rPr sz="1100">
                <a:solidFill>
                  <a:srgbClr val="64748B"/>
                </a:solidFill>
                <a:latin typeface="Consolas"/>
              </a:rPr>
              <a:t>// GET -&gt; SELECT : trae todos los estudiantes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2  </a:t>
            </a:r>
            <a:r>
              <a:rPr sz="1100">
                <a:solidFill>
                  <a:srgbClr val="E2E8F0"/>
                </a:solidFill>
                <a:latin typeface="Consolas"/>
              </a:rPr>
              <a:t>router.get(</a:t>
            </a:r>
            <a:r>
              <a:rPr sz="1100">
                <a:solidFill>
                  <a:srgbClr val="86EFAC"/>
                </a:solidFill>
                <a:latin typeface="Consolas"/>
              </a:rPr>
              <a:t>'/estudiantes'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A78BFA"/>
                </a:solidFill>
                <a:latin typeface="Consolas"/>
              </a:rPr>
              <a:t>async</a:t>
            </a:r>
            <a:r>
              <a:rPr sz="1100">
                <a:solidFill>
                  <a:srgbClr val="E2E8F0"/>
                </a:solidFill>
                <a:latin typeface="Consolas"/>
              </a:rPr>
              <a:t> (req, res) =&gt;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3  </a:t>
            </a: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A78BFA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r = </a:t>
            </a:r>
            <a:r>
              <a:rPr sz="1100">
                <a:solidFill>
                  <a:srgbClr val="A78BFA"/>
                </a:solidFill>
                <a:latin typeface="Consolas"/>
              </a:rPr>
              <a:t>await</a:t>
            </a:r>
            <a:r>
              <a:rPr sz="1100">
                <a:solidFill>
                  <a:srgbClr val="E2E8F0"/>
                </a:solidFill>
                <a:latin typeface="Consolas"/>
              </a:rPr>
              <a:t> consulta(</a:t>
            </a:r>
            <a:r>
              <a:rPr sz="1100">
                <a:solidFill>
                  <a:srgbClr val="86EFAC"/>
                </a:solidFill>
                <a:latin typeface="Consolas"/>
              </a:rPr>
              <a:t>'SELECT * FROM estudiantes ORDER BY id'</a:t>
            </a:r>
            <a:r>
              <a:rPr sz="11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4  </a:t>
            </a:r>
            <a:r>
              <a:rPr sz="1100">
                <a:solidFill>
                  <a:srgbClr val="E2E8F0"/>
                </a:solidFill>
                <a:latin typeface="Consolas"/>
              </a:rPr>
              <a:t>  res.json({ exito: true, datos: r.rows });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5  </a:t>
            </a:r>
            <a:r>
              <a:rPr sz="11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6 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7  </a:t>
            </a:r>
            <a:r>
              <a:rPr sz="1100">
                <a:solidFill>
                  <a:srgbClr val="64748B"/>
                </a:solidFill>
                <a:latin typeface="Consolas"/>
              </a:rPr>
              <a:t>// POST -&gt; INSERT : crea uno nuevo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8  </a:t>
            </a:r>
            <a:r>
              <a:rPr sz="1100">
                <a:solidFill>
                  <a:srgbClr val="64748B"/>
                </a:solidFill>
                <a:latin typeface="Consolas"/>
              </a:rPr>
              <a:t>// (en Oracle los parametros van con :nombre, no con ? como MySQL)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 9  </a:t>
            </a:r>
            <a:r>
              <a:rPr sz="1100">
                <a:solidFill>
                  <a:srgbClr val="E2E8F0"/>
                </a:solidFill>
                <a:latin typeface="Consolas"/>
              </a:rPr>
              <a:t>router.post(</a:t>
            </a:r>
            <a:r>
              <a:rPr sz="1100">
                <a:solidFill>
                  <a:srgbClr val="86EFAC"/>
                </a:solidFill>
                <a:latin typeface="Consolas"/>
              </a:rPr>
              <a:t>'/estudiantes'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A78BFA"/>
                </a:solidFill>
                <a:latin typeface="Consolas"/>
              </a:rPr>
              <a:t>async</a:t>
            </a:r>
            <a:r>
              <a:rPr sz="1100">
                <a:solidFill>
                  <a:srgbClr val="E2E8F0"/>
                </a:solidFill>
                <a:latin typeface="Consolas"/>
              </a:rPr>
              <a:t> (req, res) =&gt;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10  </a:t>
            </a: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A78BFA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{ nombre, email, matricula } = req.body;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11  </a:t>
            </a: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A78BFA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r = </a:t>
            </a:r>
            <a:r>
              <a:rPr sz="1100">
                <a:solidFill>
                  <a:srgbClr val="A78BFA"/>
                </a:solidFill>
                <a:latin typeface="Consolas"/>
              </a:rPr>
              <a:t>await</a:t>
            </a:r>
            <a:r>
              <a:rPr sz="1100">
                <a:solidFill>
                  <a:srgbClr val="E2E8F0"/>
                </a:solidFill>
                <a:latin typeface="Consolas"/>
              </a:rPr>
              <a:t> consulta(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12  </a:t>
            </a: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86EFAC"/>
                </a:solidFill>
                <a:latin typeface="Consolas"/>
              </a:rPr>
              <a:t>`INSERT INTO estudiantes (nombre, email, matricula)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13  </a:t>
            </a:r>
            <a:r>
              <a:rPr sz="1100">
                <a:solidFill>
                  <a:srgbClr val="E2E8F0"/>
                </a:solidFill>
                <a:latin typeface="Consolas"/>
              </a:rPr>
              <a:t>     VALUES (:nombre, :email, :matricula)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14  </a:t>
            </a:r>
            <a:r>
              <a:rPr sz="1100">
                <a:solidFill>
                  <a:srgbClr val="E2E8F0"/>
                </a:solidFill>
                <a:latin typeface="Consolas"/>
              </a:rPr>
              <a:t>     RETURNING id INTO :id</a:t>
            </a:r>
            <a:r>
              <a:rPr sz="1100">
                <a:solidFill>
                  <a:srgbClr val="86EFAC"/>
                </a:solidFill>
                <a:latin typeface="Consolas"/>
              </a:rPr>
              <a:t>`,        // Oracle me regresa el id creado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15  </a:t>
            </a:r>
            <a:r>
              <a:rPr sz="1100">
                <a:solidFill>
                  <a:srgbClr val="E2E8F0"/>
                </a:solidFill>
                <a:latin typeface="Consolas"/>
              </a:rPr>
              <a:t>    { nombre, email, matricula,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16  </a:t>
            </a:r>
            <a:r>
              <a:rPr sz="1100">
                <a:solidFill>
                  <a:srgbClr val="E2E8F0"/>
                </a:solidFill>
                <a:latin typeface="Consolas"/>
              </a:rPr>
              <a:t>      id: { dir: oracledb.BIND_OUT, type: oracledb.NUMBER } });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17  </a:t>
            </a:r>
            <a:r>
              <a:rPr sz="1100">
                <a:solidFill>
                  <a:srgbClr val="E2E8F0"/>
                </a:solidFill>
                <a:latin typeface="Consolas"/>
              </a:rPr>
              <a:t>  res.status(</a:t>
            </a:r>
            <a:r>
              <a:rPr sz="1100">
                <a:solidFill>
                  <a:srgbClr val="FBBF24"/>
                </a:solidFill>
                <a:latin typeface="Consolas"/>
              </a:rPr>
              <a:t>201</a:t>
            </a:r>
            <a:r>
              <a:rPr sz="1100">
                <a:solidFill>
                  <a:srgbClr val="E2E8F0"/>
                </a:solidFill>
                <a:latin typeface="Consolas"/>
              </a:rPr>
              <a:t>).json({ exito: true, id: r.outBinds.id[</a:t>
            </a:r>
            <a:r>
              <a:rPr sz="1100">
                <a:solidFill>
                  <a:srgbClr val="FBBF24"/>
                </a:solidFill>
                <a:latin typeface="Consolas"/>
              </a:rPr>
              <a:t>0</a:t>
            </a:r>
            <a:r>
              <a:rPr sz="1100">
                <a:solidFill>
                  <a:srgbClr val="E2E8F0"/>
                </a:solidFill>
                <a:latin typeface="Consolas"/>
              </a:rPr>
              <a:t>] });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Consolas"/>
              </a:rPr>
              <a:t>18  </a:t>
            </a:r>
            <a:r>
              <a:rPr sz="110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C2626"/>
                </a:solidFill>
                <a:latin typeface="Segoe UI Semibold"/>
              </a:rPr>
              <a:t>PARTE 2 .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11827"/>
                </a:solidFill>
                <a:latin typeface="Segoe UI Semibold"/>
              </a:rPr>
              <a:t>Resultados Oracle (1 de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00228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111827"/>
                </a:solidFill>
                <a:latin typeface="Segoe UI Semibold"/>
              </a:rPr>
              <a:t>Oracle y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microservicio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ejecucion</a:t>
            </a:r>
            <a:endParaRPr sz="1300" b="1" i="0" dirty="0">
              <a:solidFill>
                <a:srgbClr val="111827"/>
              </a:solidFill>
              <a:latin typeface="Segoe UI Semibol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99632" y="1965960"/>
            <a:ext cx="532180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5630" y="2029968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111827"/>
                </a:solidFill>
                <a:latin typeface="Segoe UI Semibold"/>
              </a:rPr>
              <a:t>Estado del SGBD Oracle (endpoint)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DBD5C23-97AA-BB63-BD00-7347F8070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8" y="2634613"/>
            <a:ext cx="5285232" cy="2971738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274CF3CC-E59E-2F3C-2687-58732A906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321" y="2634613"/>
            <a:ext cx="5253609" cy="295395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PARTE 2 .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11827"/>
                </a:solidFill>
                <a:latin typeface="Segoe UI Semibold"/>
              </a:rPr>
              <a:t>Resultados Oracle (2 de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037031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Consulta CRUD: lista de estudiantes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1965960"/>
            <a:ext cx="532180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5797" y="2086995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Tabla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la base Oracle (SQL)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64F3B39-1E5D-4CD6-F23D-57888A871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48" y="2406233"/>
            <a:ext cx="5315769" cy="29889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73E62A2-0086-E36B-DB4C-F128B1F6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373" y="2434467"/>
            <a:ext cx="5265554" cy="29606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>
                <a:solidFill>
                  <a:srgbClr val="EEF2FF"/>
                </a:solidFill>
                <a:latin typeface="Segoe UI Semibold"/>
              </a:rPr>
              <a:t>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220">
                <a:solidFill>
                  <a:srgbClr val="7C3AED"/>
                </a:solidFill>
                <a:latin typeface="Segoe UI Semibold"/>
              </a:rPr>
              <a:t>PARTE 2 -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11827"/>
                </a:solidFill>
                <a:latin typeface="Segoe UI Semibold"/>
              </a:rPr>
              <a:t>Conclusion: Microservicio Multi-SGBD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21808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8" y="21214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1087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121408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Segoe UI Semibold"/>
              </a:rPr>
              <a:t>Mismo patron, distinto motor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2633472"/>
            <a:ext cx="495604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743200"/>
            <a:ext cx="495604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74151"/>
                </a:solidFill>
                <a:latin typeface="Segoe UI"/>
              </a:rPr>
              <a:t>El microservicio REST funciono igual con MySQL y con Oracle; solo cambiaron el driver (mysql2 vs oracledb) y pequenos detalles de sintaxis SQL.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20240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08776" y="1920240"/>
            <a:ext cx="5321808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91656" y="21214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6" y="21087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121408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Segoe UI Semibold"/>
              </a:rPr>
              <a:t>Independencia del SGBD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91656" y="2633472"/>
            <a:ext cx="495604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2743200"/>
            <a:ext cx="495604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74151"/>
                </a:solidFill>
                <a:latin typeface="Segoe UI"/>
              </a:rPr>
              <a:t>Se comprobo que la arquitectura de microservicios es independiente de la base de datos, una ventaja clave para portar o escalar sistemas.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50208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5321808" cy="7315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1248" y="41513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1386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8" y="4151376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Segoe UI Semibold"/>
              </a:rPr>
              <a:t>Oracle en contenedor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4663440"/>
            <a:ext cx="495604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773168"/>
            <a:ext cx="495604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374151"/>
                </a:solidFill>
                <a:latin typeface="Segoe UI"/>
              </a:rPr>
              <a:t>Docker permitio levantar Oracle Database 23ai real sin instalacion manual, con la misma validez para verificar el funcionamiento del SGBD.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3950208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08776" y="3950208"/>
            <a:ext cx="5321808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91656" y="41513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41386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51376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  <a:latin typeface="Segoe UI Semibold"/>
              </a:rPr>
              <a:t>Cumplimiento del requisito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656" y="4663440"/>
            <a:ext cx="495604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4773168"/>
            <a:ext cx="4956048" cy="375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dirty="0">
                <a:solidFill>
                  <a:srgbClr val="374151"/>
                </a:solidFill>
                <a:latin typeface="Segoe UI"/>
              </a:rPr>
              <a:t>Se </a:t>
            </a:r>
            <a:r>
              <a:rPr lang="es-MX" sz="1050" dirty="0">
                <a:solidFill>
                  <a:srgbClr val="374151"/>
                </a:solidFill>
                <a:latin typeface="Segoe UI"/>
              </a:rPr>
              <a:t>trabajo </a:t>
            </a:r>
            <a:r>
              <a:rPr sz="1050" b="0" dirty="0">
                <a:solidFill>
                  <a:srgbClr val="374151"/>
                </a:solidFill>
                <a:latin typeface="Segoe UI"/>
              </a:rPr>
              <a:t>con ambos </a:t>
            </a:r>
            <a:r>
              <a:rPr sz="1050" b="0" dirty="0" err="1">
                <a:solidFill>
                  <a:srgbClr val="374151"/>
                </a:solidFill>
                <a:latin typeface="Segoe UI"/>
              </a:rPr>
              <a:t>motores</a:t>
            </a:r>
            <a:r>
              <a:rPr sz="1050" b="0" dirty="0">
                <a:solidFill>
                  <a:srgbClr val="374151"/>
                </a:solidFill>
                <a:latin typeface="Segoe UI"/>
              </a:rPr>
              <a:t>, MySQL y Oracle, </a:t>
            </a:r>
            <a:r>
              <a:rPr sz="1050" b="0" dirty="0" err="1">
                <a:solidFill>
                  <a:srgbClr val="374151"/>
                </a:solidFill>
                <a:latin typeface="Segoe UI"/>
              </a:rPr>
              <a:t>dentro</a:t>
            </a:r>
            <a:r>
              <a:rPr sz="1050" b="0" dirty="0">
                <a:solidFill>
                  <a:srgbClr val="374151"/>
                </a:solidFill>
                <a:latin typeface="Segoe UI"/>
              </a:rPr>
              <a:t> de la </a:t>
            </a:r>
            <a:r>
              <a:rPr sz="1050" b="0" dirty="0" err="1">
                <a:solidFill>
                  <a:srgbClr val="374151"/>
                </a:solidFill>
                <a:latin typeface="Segoe UI"/>
              </a:rPr>
              <a:t>misma</a:t>
            </a:r>
            <a:r>
              <a:rPr sz="1050" b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374151"/>
                </a:solidFill>
                <a:latin typeface="Segoe UI"/>
              </a:rPr>
              <a:t>practica</a:t>
            </a:r>
            <a:r>
              <a:rPr sz="1050" b="0" dirty="0">
                <a:solidFill>
                  <a:srgbClr val="374151"/>
                </a:solidFill>
                <a:latin typeface="Segoe UI"/>
              </a:rPr>
              <a:t> de </a:t>
            </a:r>
            <a:r>
              <a:rPr sz="1050" b="0" dirty="0" err="1">
                <a:solidFill>
                  <a:srgbClr val="374151"/>
                </a:solidFill>
                <a:latin typeface="Segoe UI"/>
              </a:rPr>
              <a:t>microservicios</a:t>
            </a:r>
            <a:r>
              <a:rPr sz="1050" b="0" dirty="0">
                <a:solidFill>
                  <a:srgbClr val="37415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84080" y="164592"/>
            <a:ext cx="1920240" cy="1067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s-MX" sz="6600" b="1" i="0" dirty="0">
                <a:solidFill>
                  <a:srgbClr val="EEF2FF"/>
                </a:solidFill>
                <a:latin typeface="Segoe UI Semibold"/>
              </a:rPr>
              <a:t>11</a:t>
            </a:r>
            <a:endParaRPr sz="6600" b="1" i="0" dirty="0">
              <a:solidFill>
                <a:srgbClr val="EEF2FF"/>
              </a:solidFill>
              <a:latin typeface="Segoe UI Semibold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6C567BF-7386-F1BA-D422-3CFEE4B4F012}"/>
              </a:ext>
            </a:extLst>
          </p:cNvPr>
          <p:cNvSpPr txBox="1"/>
          <p:nvPr/>
        </p:nvSpPr>
        <p:spPr>
          <a:xfrm>
            <a:off x="1986116" y="2180687"/>
            <a:ext cx="96159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LINK DE LA PRACTICA REALIZADA ORACCLE</a:t>
            </a:r>
          </a:p>
          <a:p>
            <a:br>
              <a:rPr lang="es-MX" sz="2800" dirty="0"/>
            </a:br>
            <a:r>
              <a:rPr lang="es-MX" sz="2800" dirty="0">
                <a:hlinkClick r:id="rId2"/>
              </a:rPr>
              <a:t>https://github.com/amaurycolochos-cpu/ADMINISTRACION-BASE-DE-DATOS/tree/master/UNIDAD%202/practica-sgbd-api-oracle</a:t>
            </a:r>
            <a:endParaRPr lang="es-MX" sz="2800" dirty="0"/>
          </a:p>
          <a:p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37058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2544</Words>
  <Application>Microsoft Office PowerPoint</Application>
  <PresentationFormat>Personalizado</PresentationFormat>
  <Paragraphs>443</Paragraphs>
  <Slides>27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-apple-system</vt:lpstr>
      <vt:lpstr>Aptos</vt:lpstr>
      <vt:lpstr>Arial</vt:lpstr>
      <vt:lpstr>Calibri</vt:lpstr>
      <vt:lpstr>Consolas</vt:lpstr>
      <vt:lpstr>Montserrat Bold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rokete</cp:lastModifiedBy>
  <cp:revision>8</cp:revision>
  <dcterms:created xsi:type="dcterms:W3CDTF">2013-01-27T09:14:16Z</dcterms:created>
  <dcterms:modified xsi:type="dcterms:W3CDTF">2026-05-31T13:16:29Z</dcterms:modified>
  <cp:category/>
</cp:coreProperties>
</file>