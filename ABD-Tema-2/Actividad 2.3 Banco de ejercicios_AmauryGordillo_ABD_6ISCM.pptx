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9" r:id="rId22"/>
    <p:sldId id="280" r:id="rId23"/>
    <p:sldId id="281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ADE53-2D5D-4EA8-9C21-B1B645510E0F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8A971-1D3F-4B0A-B1E0-CA98DE1D5A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0433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4" y="161905"/>
            <a:ext cx="1461833" cy="1049220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715388" y="119052"/>
            <a:ext cx="2334759" cy="1025318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56648" y="612665"/>
            <a:ext cx="5475529" cy="86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75" y="1443749"/>
            <a:ext cx="9497126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ADMINISTRACION DE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5405" y="2293085"/>
            <a:ext cx="74299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dirty="0">
                <a:latin typeface="-apple-system"/>
              </a:rPr>
              <a:t>ACTIVIDAD 2.3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3956" y="3132126"/>
            <a:ext cx="2437765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9567" y="4815497"/>
            <a:ext cx="6094413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401" y="6083702"/>
            <a:ext cx="8339464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 DE MAYO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3803787"/>
          <a:ext cx="5484972" cy="670386"/>
        </p:xfrm>
        <a:graphic>
          <a:graphicData uri="http://schemas.openxmlformats.org/drawingml/2006/table">
            <a:tbl>
              <a:tblPr/>
              <a:tblGrid>
                <a:gridCol w="2742486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2486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47" y="3681028"/>
            <a:ext cx="123143" cy="24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44" tIns="30472" rIns="60944" bIns="304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Indice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920240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20482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04190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0299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Introduccion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33472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68096" y="276148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275513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27432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Justificacion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46704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8096" y="34747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346837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45643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Subtema 2.1 - Memoria e Instancia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59936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8096" y="41879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418160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16966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Subtema 2.2 - Estructura Fisica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73168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68096" y="49011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" y="489483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88289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Subtema 2.3 - Requerimientos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86400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8096" y="56144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560806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55961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Subtema 2.4 - Modo Transaccional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1920240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64224" y="20482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4224" y="204190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20299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Subtema 2.5 - Variables de Ambiente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4496" y="2633472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364224" y="276148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64224" y="275513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3136" y="27432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Subtema 2.6 - Procedimiento Instalacion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54496" y="3346704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64224" y="34747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4224" y="346837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3136" y="345643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Subtema 2.7 - Configuracion SGBD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54496" y="4059936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364224" y="41879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64224" y="418160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416966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Subtema 2.8 - Comandos Alta y Baja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54496" y="4773168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364224" y="490118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64224" y="489483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3136" y="488289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Conclusiones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54496" y="5486400"/>
            <a:ext cx="532180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364224" y="56144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64224" y="560806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3136" y="559612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Fuentes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SECCION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Introduccion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109728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1097280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9385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El Manejador de Base de Datos (SGBD) es el software que gestiona el almacenamiento, recuperacion y manipulacion eficiente de datos. Comprender su arquitectura e instalacion es fundamental para administrar sistemas de informacion confiables y de alto rendimiento.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34640"/>
            <a:ext cx="3493008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2834640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5528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01117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Competencia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" y="30175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299923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Competencia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01568"/>
            <a:ext cx="317296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Comprende los componentes de la Arquitectura del SGBD para identificar las funciones de cada uno.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16" y="2834640"/>
            <a:ext cx="3493008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42816" y="2834640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79976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9976" y="301117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8 Subtemas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9976" y="30175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9976" y="299923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8 Subtemas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401568"/>
            <a:ext cx="317296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Del 2.1 Estructura de memoria al 2.8 Comandos de alta y baja del SGBD.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27264" y="2834640"/>
            <a:ext cx="3493008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27264" y="2834640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964424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64424" y="301117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Objetivo del Banco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64424" y="30175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64424" y="299923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Objetivo del Banco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3401568"/>
            <a:ext cx="3172968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Resolver ejercicios de distintos tipos que demuestren dominio teorico de la Unidad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SECCION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Justificacion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74519"/>
            <a:ext cx="5321808" cy="18470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2039111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3276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2039111"/>
            <a:ext cx="4590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Dominio teorico-practico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478023"/>
            <a:ext cx="4992624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560319"/>
            <a:ext cx="4992624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Los ejercicios integran teoria y aplicacion real, permitiendo al estudiante consolidar el conocimiento sobre como funciona internamente un SGBD como MySQL.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874519"/>
            <a:ext cx="5321808" cy="18470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08776" y="1874519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45936" y="2039111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203276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2039111"/>
            <a:ext cx="4590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Desarrollo de pensamiento critico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2478023"/>
            <a:ext cx="4992624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2560319"/>
            <a:ext cx="4992624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Los ejercicios de analisis y comparacion estimulan habilidades de razonamiento que van mas alla de la memorizacion, cumpliendo los indicadores de la rubrica TecNM.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SUBTEMA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Estructura de Memoria y Procesos de la Instancia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g_mem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070" y="1660652"/>
            <a:ext cx="5886179" cy="31081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4653047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4653047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5528" y="47902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4783857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9575" y="4808495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9575" y="4802145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DEFINICION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174254"/>
            <a:ext cx="32186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111827"/>
                </a:solidFill>
                <a:latin typeface="Segoe UI Semibold"/>
              </a:rPr>
              <a:t>Que es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una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instancia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MySQL?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5969783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6020583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Es la ejecucion activa del proceso mysqld en RAM. Incluye Buffer Pool, hilos de conexion y estructuras que permiten operar sin leer del disco en cada operacion.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653047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51960" y="4653047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89120" y="47902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4783857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3167" y="4808495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73167" y="4802145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VERDADERO/FALSO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74254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El Buffer Pool almacena paginas de datos e indices en RAM. V/F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5969783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6020583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VERDADERO. Es la principal area de memoria de InnoDB. Almacena paginas de 16 KB para reducir accesos a disco y mejorar rendimiento.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5552" y="4653047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845552" y="4653047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82712" y="47902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82712" y="4783857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59" y="4808495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59" y="4802145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COMPLETAR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5174254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El proceso principal del servidor MySQL se llama: 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82712" y="5969783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82712" y="6020583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mysqld (MySQL Daemon). Es el proceso servidor que escucha conexiones en el puerto 3306 y gestiona todas las operaciones de la base de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SUBTEMA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Estructura de Memoria - Ejercicios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9575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9575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RELACIONAR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Relaciona cada componente con su funcion principal: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Buffer Pool  =&gt;  Cache de paginas de datos e indices en RAM
Redo Log Buffer  =&gt;  Almacena cambios antes de escribirlos en disco
Thread Cache  =&gt;  Reutiliza hilos de conexion para reducir overhead
Doublewrite Buffer  =&gt;  Previene corrupcion de datos al escribir paginas
Change Buffer  =&gt;  Optimiza cambios en indices secundarios no cargados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08776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45936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9983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9983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ANALISIS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350007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111827"/>
                </a:solidFill>
                <a:latin typeface="Segoe UI Semibold"/>
              </a:rPr>
              <a:t>Por que es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importante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configurar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correctamente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el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tama</a:t>
            </a:r>
            <a:r>
              <a:rPr lang="es-MX" sz="1050" b="1" i="0" dirty="0">
                <a:solidFill>
                  <a:srgbClr val="111827"/>
                </a:solidFill>
                <a:latin typeface="Segoe UI Semibold"/>
              </a:rPr>
              <a:t>ñ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o del Buffer Pool?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45936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Porque el Buffer Pool determina cuantos datos puede mantener MySQL en memoria RAM.
Un Buffer Pool demasiado pequeno obliga a MySQL a leer del disco constantemente (operaciones I/O lentas). Se recomienda asignar el 70-80% de la RAM disponible para el Buffer Pool en servidores dedicados.
Ejemplo: en un servidor con 8 GB RAM -&gt; innodb_buffer_pool_size = 6G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SUBTEMA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Estructura Fisica de la Base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g_fis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06" y="1672493"/>
            <a:ext cx="8189315" cy="358810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4818889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4818889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5528" y="495604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494969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9575" y="4974337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9575" y="4967987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IDENTIFICAR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340096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?Que extension tienen los archivos de datos de InnoDB?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6135625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6186425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Extension .ibd (uno por tabla en file-per-table). El archivo ibdata1 es el tablespace del sistema compartido por todas las bases de datos.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818889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51960" y="4818889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89120" y="495604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494969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3167" y="4974337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73167" y="4967987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VERDADERO/FALSO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340096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Cada base de datos MySQL es una carpeta dentro del datadir. V/F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6135625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6186425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VERDADERO. MySQL organiza las BD como carpetas en el datadir. En Windows: C:\ProgramData\MySQL\MySQL Server 8.0\Data\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5552" y="4818889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845552" y="4818889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82712" y="495604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82712" y="494969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59" y="4974337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59" y="4967987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COMPLETAR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5340096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El archivo que registra todos los errores del servidor MySQL se llama: 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82712" y="6135625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82712" y="6186425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hostname.err (o mysql_error.log). Almacena errores, advertencias y eventos de inicio/parada del servidor. Es el primer lugar a revisar ante fallos.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SUBTEMA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Estructura Fisica - Ejercicios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9575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9575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COMPLETAR TABLA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Completa la tabla de archivos fisicos de MySQL: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ARCHIVO        EXTENSION   FUNCION
Tablespace     .ibd        Almacena datos e indices de cada tabla
Redo Log       ib_logfile  Recuperacion ante fallos del servidor
Binary Log     .binlog     Replicacion y recuperacion puntual
Error Log      .err        Registro de errores e inicio del servidor
Config         my.ini      Parametros de configuracion del servidor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08776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45936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9983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9983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OPCION MULTIPLE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350007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Donde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se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ubica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el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datadir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por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defecto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MySQL 8.0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Windows?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45936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RESPUESTA CORRECTA: C)
a) C:\MySQL\data
b) C:\Program Files\MySQL\data
c) C:\ProgramData\MySQL\MySQL Server 8.0\Data
d) C:\Users\mysql\data
El datadir se define en my.ini. ProgramData es diferente a Program Files (es una carpeta oculta del sistema).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97706"/>
                </a:solidFill>
                <a:latin typeface="Segoe UI Semibold"/>
              </a:rPr>
              <a:t>SUBTEMA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Requerimientos para Instalacion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10972800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10972800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2011680"/>
            <a:ext cx="2423160" cy="32004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2996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COMPONENTE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011680"/>
            <a:ext cx="2423160" cy="32004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02996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MINIMO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011680"/>
            <a:ext cx="2423160" cy="32004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02996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RECOMENDADO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011680"/>
            <a:ext cx="2423160" cy="32004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202996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NOTAS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423160"/>
            <a:ext cx="1037844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24597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CPU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4597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Procesador 64 bits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4597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Multinucleo 64 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4597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No soporta 32 bits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880360"/>
            <a:ext cx="10378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29169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9169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4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9169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8 GB o 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9169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Mas RAM = mejor Buffer Pool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337560"/>
            <a:ext cx="1037844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33741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Disco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3741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5 GB libres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3741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20 GB o mas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3741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SSD mejora rendimiento I/O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794760"/>
            <a:ext cx="10378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38313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OS Windows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38313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Windows 10 64 bits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8313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Windows 10/11 64 bits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8313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O Windows Server 2019+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251960"/>
            <a:ext cx="1037844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42885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OS Linux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2885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RHEL 7 / Ubuntu 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42885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RHEL 8 / Ubuntu 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2885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Kernel 3.10 minimo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4709160"/>
            <a:ext cx="10378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" y="47457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Software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47457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Visual C++ 2019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47457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Visual C++ 2022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47457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Redistribuible Microsoft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5166360"/>
            <a:ext cx="1037844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" y="52029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Puerto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52029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3306 disponible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52029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3306 libre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3960" y="520293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Modificable en my.ini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16A34A"/>
                </a:solidFill>
                <a:latin typeface="Segoe UI Semibold"/>
              </a:rPr>
              <a:t>SUBTEMA 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Instalacion del SGBD en Modo Transaccional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2633472" cy="2743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2633472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55064" y="20116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55064" y="199339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43200"/>
            <a:ext cx="2633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Atomicidad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154680"/>
            <a:ext cx="23591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Toda la transaccion se ejecuta completa o no se ejecuta nada. Si falla alguna operacion, se hace ROLLBACK.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828800"/>
            <a:ext cx="2633472" cy="2743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29000" y="1828800"/>
            <a:ext cx="2633472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25696" y="20116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25696" y="199339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743200"/>
            <a:ext cx="2633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45A5A"/>
                </a:solidFill>
                <a:latin typeface="Segoe UI Semibold"/>
              </a:rPr>
              <a:t>Consistencia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54680"/>
            <a:ext cx="23591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La BD pasa de un estado valido a otro valido. Se respetan todas las restricciones e integridad referencial.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1828800"/>
            <a:ext cx="2633472" cy="2743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99632" y="1828800"/>
            <a:ext cx="2633472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96328" y="20116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96328" y="199339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743200"/>
            <a:ext cx="2633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D9488"/>
                </a:solidFill>
                <a:latin typeface="Segoe UI Semibold"/>
              </a:rPr>
              <a:t>Aislamiento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154680"/>
            <a:ext cx="23591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Las transacciones concurrentes no se interfieren entre si. InnoDB usa MVCC para gestionar el aislamiento.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0264" y="1828800"/>
            <a:ext cx="2633472" cy="2743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970264" y="1828800"/>
            <a:ext cx="2633472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966960" y="20116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199339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2743200"/>
            <a:ext cx="2633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D97706"/>
                </a:solidFill>
                <a:latin typeface="Segoe UI Semibold"/>
              </a:rPr>
              <a:t>Durabilidad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3154680"/>
            <a:ext cx="235915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Una vez confirmada (COMMIT), la transaccion persiste aunque el servidor falle. El Redo Log garantiza esto.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754880"/>
            <a:ext cx="1097280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58368" y="4754880"/>
            <a:ext cx="10972800" cy="640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22960" y="49194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91312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919472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11827"/>
                </a:solidFill>
                <a:latin typeface="Segoe UI Semibold"/>
              </a:rPr>
              <a:t>Ejercicio Practico: Escribe los comandos SQL para una transaccion completa.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32180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E3A8A"/>
                </a:solidFill>
                <a:latin typeface="Consolas"/>
              </a:rPr>
              <a:t>START TRANSACTION;   INSERT INTO estudiantes(nombre) VALUES('Ana');   UPDATE saldo SET total=total-100 WHERE id=1;   COMMIT;   -- (o ROLLBACK si hay error)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SUBTEMA 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Variables de Ambiente y Archivos Importantes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g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752" y="1645920"/>
            <a:ext cx="8378978" cy="39100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5528" y="4860542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4860542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2688" y="499770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9913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16735" y="501599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16735" y="50096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COMPLETAR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381749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?Que variable de entorno permite usar 'mysql' desde cualquier terminal?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6177278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6228078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La variable PATH debe incluir: C:\Program Files\MySQL\MySQL Server 8.0\bin. Sin esto, el sistema no encuentra el ejecutable mysql.exe.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860542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89120" y="4860542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26280" y="499770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49913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0327" y="501599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10327" y="50096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VERDADERO/FALSO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381749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El archivo my.ini en Windows equivale al my.cnf en Linux. V/F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6177278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6228078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VERDADERO. Mismo proposito, distinto nombre segun OS. Las secciones [mysqld], [client] y [mysql] son identicas en ambos sistemas.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2" y="4860542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982712" y="4860542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19872" y="499770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19872" y="49913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19" y="501599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19" y="50096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IDENTIFICAR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5381749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?Donde se ubica el archivo my.ini en una instalacion por defecto en Windows?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9872" y="6177278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19872" y="6228078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C:\ProgramData\MySQL\MySQL Server 8.0\my.ini. Nota: ProgramData es una carpeta oculta del sistema, diferente a Program 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SUBTEMA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Procedimiento General de Instalacion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g_insta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94" y="1764792"/>
            <a:ext cx="10530835" cy="42189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3909" y="4822951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3909" y="4822951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1069" y="496011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1069" y="495376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65116" y="4978399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5116" y="4972049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ORDENAR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069" y="5344158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Ordena los pasos de instalacion de MySQL en Windows: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069" y="6139687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1069" y="6190487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1. Descargar MySQL Installer  2. Elegir Developer Default  3. Instalar Server+Workbench  4. Configuration Wizard  5. Establecer contrasena root  6. Verificar servicio activo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7501" y="4822951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37501" y="4822951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74661" y="496011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74661" y="495376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8708" y="4978399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58708" y="4972049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OPCION MULTIPLE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661" y="5344158"/>
            <a:ext cx="3218688" cy="35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111827"/>
                </a:solidFill>
                <a:latin typeface="Segoe UI Semibold"/>
              </a:rPr>
              <a:t>Que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tipo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de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instalacion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incluye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Server + Workbench + Shell?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4661" y="6139687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74661" y="6190487"/>
            <a:ext cx="3218688" cy="329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 dirty="0">
                <a:solidFill>
                  <a:srgbClr val="374151"/>
                </a:solidFill>
                <a:latin typeface="Segoe UI"/>
              </a:rPr>
              <a:t>Developer Default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incluye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Server, Workbench, Shell, Router y Docs.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1093" y="4822951"/>
            <a:ext cx="3493008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931093" y="4822951"/>
            <a:ext cx="349300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68253" y="496011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68253" y="495376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2300" y="4978399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2300" y="4972049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VERDADERO/FALSO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8253" y="5344158"/>
            <a:ext cx="32186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El MySQL Installer puede agregar nuevos componentes despues de la instalacion inicial. V/F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8253" y="6139687"/>
            <a:ext cx="32186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68253" y="6190487"/>
            <a:ext cx="3218688" cy="456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VERDADERO. Con el MySQL Installer se puede volver a ejecutar y usar la opcion 'Add' para instalar componentes adicionales en cualquier momento.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SUBTEMA 2.7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Procedimiento para Configuracion del SGBD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6217920" cy="489712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6217920" cy="347472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24128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25296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6217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4A3B8"/>
                </a:solidFill>
                <a:latin typeface="Consolas"/>
              </a:rPr>
              <a:t>my.ini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5779008" cy="3977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1  </a:t>
            </a:r>
            <a:r>
              <a:rPr sz="900">
                <a:solidFill>
                  <a:srgbClr val="E2E8F0"/>
                </a:solidFill>
                <a:latin typeface="Consolas"/>
              </a:rPr>
              <a:t>[mysqld]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2  </a:t>
            </a:r>
            <a:r>
              <a:rPr sz="900">
                <a:solidFill>
                  <a:srgbClr val="E2E8F0"/>
                </a:solidFill>
                <a:latin typeface="Consolas"/>
              </a:rPr>
              <a:t># Puerto de escucha del servidor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3  </a:t>
            </a:r>
            <a:r>
              <a:rPr sz="900">
                <a:solidFill>
                  <a:srgbClr val="E2E8F0"/>
                </a:solidFill>
                <a:latin typeface="Consolas"/>
              </a:rPr>
              <a:t>port = 3306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4  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5  </a:t>
            </a:r>
            <a:r>
              <a:rPr sz="900">
                <a:solidFill>
                  <a:srgbClr val="E2E8F0"/>
                </a:solidFill>
                <a:latin typeface="Consolas"/>
              </a:rPr>
              <a:t># Directorio de datos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6  </a:t>
            </a:r>
            <a:r>
              <a:rPr sz="900">
                <a:solidFill>
                  <a:srgbClr val="E2E8F0"/>
                </a:solidFill>
                <a:latin typeface="Consolas"/>
              </a:rPr>
              <a:t>datadir = C:/ProgramData/MySQL/MySQL Server 8.0/Data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7  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8  </a:t>
            </a:r>
            <a:r>
              <a:rPr sz="900">
                <a:solidFill>
                  <a:srgbClr val="E2E8F0"/>
                </a:solidFill>
                <a:latin typeface="Consolas"/>
              </a:rPr>
              <a:t># Motor de almacenamiento predeterminado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 9  </a:t>
            </a:r>
            <a:r>
              <a:rPr sz="900">
                <a:solidFill>
                  <a:srgbClr val="E2E8F0"/>
                </a:solidFill>
                <a:latin typeface="Consolas"/>
              </a:rPr>
              <a:t>default-storage-engine = INNODB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10  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11  </a:t>
            </a:r>
            <a:r>
              <a:rPr sz="900">
                <a:solidFill>
                  <a:srgbClr val="E2E8F0"/>
                </a:solidFill>
                <a:latin typeface="Consolas"/>
              </a:rPr>
              <a:t># Juego de caracteres (soporta emojis y acentos)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12  </a:t>
            </a:r>
            <a:r>
              <a:rPr sz="900">
                <a:solidFill>
                  <a:srgbClr val="E2E8F0"/>
                </a:solidFill>
                <a:latin typeface="Consolas"/>
              </a:rPr>
              <a:t>character-set-server = utf8mb4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13  </a:t>
            </a:r>
            <a:r>
              <a:rPr sz="900">
                <a:solidFill>
                  <a:srgbClr val="E2E8F0"/>
                </a:solidFill>
                <a:latin typeface="Consolas"/>
              </a:rPr>
              <a:t>collation-server     = utf8mb4_unicode_ci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14  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15  </a:t>
            </a:r>
            <a:r>
              <a:rPr sz="900">
                <a:solidFill>
                  <a:srgbClr val="E2E8F0"/>
                </a:solidFill>
                <a:latin typeface="Consolas"/>
              </a:rPr>
              <a:t># Tamano del Buffer Pool (ajustar segun RAM)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16  </a:t>
            </a:r>
            <a:r>
              <a:rPr sz="900">
                <a:solidFill>
                  <a:srgbClr val="E2E8F0"/>
                </a:solidFill>
                <a:latin typeface="Consolas"/>
              </a:rPr>
              <a:t>innodb_buffer_pool_size = 128M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17  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18  </a:t>
            </a:r>
            <a:r>
              <a:rPr sz="900">
                <a:solidFill>
                  <a:srgbClr val="E2E8F0"/>
                </a:solidFill>
                <a:latin typeface="Consolas"/>
              </a:rPr>
              <a:t># Numero maximo de conexiones simultaneas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19  </a:t>
            </a:r>
            <a:r>
              <a:rPr sz="900">
                <a:solidFill>
                  <a:srgbClr val="E2E8F0"/>
                </a:solidFill>
                <a:latin typeface="Consolas"/>
              </a:rPr>
              <a:t>max_connections = 151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20  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21  </a:t>
            </a:r>
            <a:r>
              <a:rPr sz="900">
                <a:solidFill>
                  <a:srgbClr val="E2E8F0"/>
                </a:solidFill>
                <a:latin typeface="Consolas"/>
              </a:rPr>
              <a:t># Modo SQL estricto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22  </a:t>
            </a:r>
            <a:r>
              <a:rPr sz="900">
                <a:solidFill>
                  <a:srgbClr val="E2E8F0"/>
                </a:solidFill>
                <a:latin typeface="Consolas"/>
              </a:rPr>
              <a:t>sql_mode = STRICT_TRANS_TABLES,NO_ENGINE_SUBSTITUTION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23  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24  </a:t>
            </a:r>
            <a:r>
              <a:rPr sz="900">
                <a:solidFill>
                  <a:srgbClr val="E2E8F0"/>
                </a:solidFill>
                <a:latin typeface="Consolas"/>
              </a:rPr>
              <a:t>[client]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25  </a:t>
            </a:r>
            <a:r>
              <a:rPr sz="900">
                <a:solidFill>
                  <a:srgbClr val="E2E8F0"/>
                </a:solidFill>
                <a:latin typeface="Consolas"/>
              </a:rPr>
              <a:t>port    = 3306</a:t>
            </a:r>
          </a:p>
          <a:p>
            <a:pPr>
              <a:lnSpc>
                <a:spcPct val="120000"/>
              </a:lnSpc>
            </a:pPr>
            <a:r>
              <a:rPr sz="900">
                <a:solidFill>
                  <a:srgbClr val="475569"/>
                </a:solidFill>
                <a:latin typeface="Consolas"/>
              </a:rPr>
              <a:t>26  </a:t>
            </a:r>
            <a:r>
              <a:rPr sz="900">
                <a:solidFill>
                  <a:srgbClr val="E2E8F0"/>
                </a:solidFill>
                <a:latin typeface="Consolas"/>
              </a:rPr>
              <a:t>default-character-set = utf8mb4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4032" y="1828800"/>
            <a:ext cx="4754880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14032" y="1828800"/>
            <a:ext cx="4754880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51192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51192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39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35239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ANALISIS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350007"/>
            <a:ext cx="4480560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111827"/>
                </a:solidFill>
                <a:latin typeface="Segoe UI Semibold"/>
              </a:rPr>
              <a:t>Que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diferencia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hay entre las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secciones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[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mysqld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] y [client]?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51192" y="3145536"/>
            <a:ext cx="4480560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51192" y="3196336"/>
            <a:ext cx="4480560" cy="684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[mysqld] configura el SERVIDOR MySQL (puerto, buffer, charset del servidor, conexiones maximas). [client] configura las HERRAMIENTAS cliente (mysql, mysqldump) que se conectan al servidor. Cada seccion afecta un componente diferente.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14032" y="4023360"/>
            <a:ext cx="4754880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114032" y="4023360"/>
            <a:ext cx="4754880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251192" y="41605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51192" y="41541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39" y="417880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39" y="417245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COMPLETAR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4544567"/>
            <a:ext cx="4480560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111827"/>
                </a:solidFill>
                <a:latin typeface="Segoe UI Semibold"/>
              </a:rPr>
              <a:t>Como se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establece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utf8mb4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como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charset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predeterminado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my.ini?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51192" y="5340096"/>
            <a:ext cx="4480560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51192" y="5390896"/>
            <a:ext cx="4480560" cy="684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En la seccion [mysqld] se agregan estas dos lineas:
character-set-server = utf8mb4
collation-server = utf8mb4_unicode_ci
utf8mb4 es el unico charset que soporta emojis y todos los caracteres Unicode, incluyendo acentos del espanol.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SUBTEMA 2.8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Comandos Generales de Alta y Baja del SGBD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74519"/>
            <a:ext cx="5577840" cy="438912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5577840" cy="347472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1984247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24128" y="1984247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25296" y="1984247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1874519"/>
            <a:ext cx="55778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4A3B8"/>
                </a:solidFill>
                <a:latin typeface="Consolas"/>
              </a:rPr>
              <a:t>Windows PowerShell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85999"/>
            <a:ext cx="5138928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1  </a:t>
            </a:r>
            <a:r>
              <a:rPr sz="1050">
                <a:solidFill>
                  <a:srgbClr val="E2E8F0"/>
                </a:solidFill>
                <a:latin typeface="Consolas"/>
              </a:rPr>
              <a:t>-- WINDOWS (PowerShell como Administrador)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2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3  </a:t>
            </a:r>
            <a:r>
              <a:rPr sz="1050">
                <a:solidFill>
                  <a:srgbClr val="E2E8F0"/>
                </a:solidFill>
                <a:latin typeface="Consolas"/>
              </a:rPr>
              <a:t>-- Iniciar el servicio MySQL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4  </a:t>
            </a:r>
            <a:r>
              <a:rPr sz="1050">
                <a:solidFill>
                  <a:srgbClr val="A78BFA"/>
                </a:solidFill>
                <a:latin typeface="Consolas"/>
              </a:rPr>
              <a:t>net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start</a:t>
            </a:r>
            <a:r>
              <a:rPr sz="1050">
                <a:solidFill>
                  <a:srgbClr val="E2E8F0"/>
                </a:solidFill>
                <a:latin typeface="Consolas"/>
              </a:rPr>
              <a:t> MySQL80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5  </a:t>
            </a:r>
            <a:r>
              <a:rPr sz="1050">
                <a:solidFill>
                  <a:srgbClr val="A78BFA"/>
                </a:solidFill>
                <a:latin typeface="Consolas"/>
              </a:rPr>
              <a:t>Get-Service</a:t>
            </a:r>
            <a:r>
              <a:rPr sz="1050">
                <a:solidFill>
                  <a:srgbClr val="E2E8F0"/>
                </a:solidFill>
                <a:latin typeface="Consolas"/>
              </a:rPr>
              <a:t> -Name MySQL80 | Start-Service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6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7  </a:t>
            </a:r>
            <a:r>
              <a:rPr sz="1050">
                <a:solidFill>
                  <a:srgbClr val="E2E8F0"/>
                </a:solidFill>
                <a:latin typeface="Consolas"/>
              </a:rPr>
              <a:t>-- Detener el servicio MySQL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8  </a:t>
            </a:r>
            <a:r>
              <a:rPr sz="1050">
                <a:solidFill>
                  <a:srgbClr val="A78BFA"/>
                </a:solidFill>
                <a:latin typeface="Consolas"/>
              </a:rPr>
              <a:t>net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stop</a:t>
            </a:r>
            <a:r>
              <a:rPr sz="1050">
                <a:solidFill>
                  <a:srgbClr val="E2E8F0"/>
                </a:solidFill>
                <a:latin typeface="Consolas"/>
              </a:rPr>
              <a:t> MySQL80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9  </a:t>
            </a:r>
            <a:r>
              <a:rPr sz="1050">
                <a:solidFill>
                  <a:srgbClr val="A78BFA"/>
                </a:solidFill>
                <a:latin typeface="Consolas"/>
              </a:rPr>
              <a:t>Get-Service</a:t>
            </a:r>
            <a:r>
              <a:rPr sz="1050">
                <a:solidFill>
                  <a:srgbClr val="E2E8F0"/>
                </a:solidFill>
                <a:latin typeface="Consolas"/>
              </a:rPr>
              <a:t> -Name MySQL80 | Stop-Service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10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11  </a:t>
            </a:r>
            <a:r>
              <a:rPr sz="1050">
                <a:solidFill>
                  <a:srgbClr val="E2E8F0"/>
                </a:solidFill>
                <a:latin typeface="Consolas"/>
              </a:rPr>
              <a:t>-- Ver estado del servicio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12  </a:t>
            </a:r>
            <a:r>
              <a:rPr sz="1050">
                <a:solidFill>
                  <a:srgbClr val="A78BFA"/>
                </a:solidFill>
                <a:latin typeface="Consolas"/>
              </a:rPr>
              <a:t>Get-Service</a:t>
            </a:r>
            <a:r>
              <a:rPr sz="1050">
                <a:solidFill>
                  <a:srgbClr val="E2E8F0"/>
                </a:solidFill>
                <a:latin typeface="Consolas"/>
              </a:rPr>
              <a:t> -Name MySQL80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13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14  </a:t>
            </a:r>
            <a:r>
              <a:rPr sz="1050">
                <a:solidFill>
                  <a:srgbClr val="E2E8F0"/>
                </a:solidFill>
                <a:latin typeface="Consolas"/>
              </a:rPr>
              <a:t>-- Verificar que responde (ping al servidor)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15  </a:t>
            </a:r>
            <a:r>
              <a:rPr sz="1050">
                <a:solidFill>
                  <a:srgbClr val="A78BFA"/>
                </a:solidFill>
                <a:latin typeface="Consolas"/>
              </a:rPr>
              <a:t>mysqladmin</a:t>
            </a:r>
            <a:r>
              <a:rPr sz="1050">
                <a:solidFill>
                  <a:srgbClr val="E2E8F0"/>
                </a:solidFill>
                <a:latin typeface="Consolas"/>
              </a:rPr>
              <a:t> -u root -p ping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16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17  </a:t>
            </a:r>
            <a:r>
              <a:rPr sz="1050">
                <a:solidFill>
                  <a:srgbClr val="E2E8F0"/>
                </a:solidFill>
                <a:latin typeface="Consolas"/>
              </a:rPr>
              <a:t>-- Ver version del servidor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18  </a:t>
            </a:r>
            <a:r>
              <a:rPr sz="1050">
                <a:solidFill>
                  <a:srgbClr val="A78BFA"/>
                </a:solidFill>
                <a:latin typeface="Consolas"/>
              </a:rPr>
              <a:t>mysqladmin</a:t>
            </a:r>
            <a:r>
              <a:rPr sz="1050">
                <a:solidFill>
                  <a:srgbClr val="E2E8F0"/>
                </a:solidFill>
                <a:latin typeface="Consolas"/>
              </a:rPr>
              <a:t> -u root -p 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74519"/>
            <a:ext cx="5532120" cy="438912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0" y="1874519"/>
            <a:ext cx="5532120" cy="347472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65392" y="1984247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60" y="1984247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67728" y="1984247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874519"/>
            <a:ext cx="55321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4A3B8"/>
                </a:solidFill>
                <a:latin typeface="Consolas"/>
              </a:rPr>
              <a:t>Linux 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285999"/>
            <a:ext cx="5093208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1  </a:t>
            </a:r>
            <a:r>
              <a:rPr sz="1050">
                <a:solidFill>
                  <a:srgbClr val="E2E8F0"/>
                </a:solidFill>
                <a:latin typeface="Consolas"/>
              </a:rPr>
              <a:t>-- LINUX (terminal con sudo)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2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3  </a:t>
            </a:r>
            <a:r>
              <a:rPr sz="1050">
                <a:solidFill>
                  <a:srgbClr val="E2E8F0"/>
                </a:solidFill>
                <a:latin typeface="Consolas"/>
              </a:rPr>
              <a:t>-- Iniciar el servicio MySQL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4  </a:t>
            </a:r>
            <a:r>
              <a:rPr sz="1050">
                <a:solidFill>
                  <a:srgbClr val="A78BFA"/>
                </a:solidFill>
                <a:latin typeface="Consolas"/>
              </a:rPr>
              <a:t>sudo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systemctl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start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mysql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5  </a:t>
            </a:r>
            <a:r>
              <a:rPr sz="1050">
                <a:solidFill>
                  <a:srgbClr val="A78BFA"/>
                </a:solidFill>
                <a:latin typeface="Consolas"/>
              </a:rPr>
              <a:t>sudo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service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mysql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start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6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7  </a:t>
            </a:r>
            <a:r>
              <a:rPr sz="1050">
                <a:solidFill>
                  <a:srgbClr val="E2E8F0"/>
                </a:solidFill>
                <a:latin typeface="Consolas"/>
              </a:rPr>
              <a:t>-- Detener el servicio MySQL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8  </a:t>
            </a:r>
            <a:r>
              <a:rPr sz="1050">
                <a:solidFill>
                  <a:srgbClr val="A78BFA"/>
                </a:solidFill>
                <a:latin typeface="Consolas"/>
              </a:rPr>
              <a:t>sudo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systemctl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stop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mysql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 9  </a:t>
            </a:r>
            <a:r>
              <a:rPr sz="1050">
                <a:solidFill>
                  <a:srgbClr val="A78BFA"/>
                </a:solidFill>
                <a:latin typeface="Consolas"/>
              </a:rPr>
              <a:t>sudo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service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mysql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stop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10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11  </a:t>
            </a:r>
            <a:r>
              <a:rPr sz="1050">
                <a:solidFill>
                  <a:srgbClr val="E2E8F0"/>
                </a:solidFill>
                <a:latin typeface="Consolas"/>
              </a:rPr>
              <a:t>-- Reiniciar el servicio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12  </a:t>
            </a:r>
            <a:r>
              <a:rPr sz="1050">
                <a:solidFill>
                  <a:srgbClr val="A78BFA"/>
                </a:solidFill>
                <a:latin typeface="Consolas"/>
              </a:rPr>
              <a:t>sudo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systemctl</a:t>
            </a:r>
            <a:r>
              <a:rPr sz="1050">
                <a:solidFill>
                  <a:srgbClr val="E2E8F0"/>
                </a:solidFill>
                <a:latin typeface="Consolas"/>
              </a:rPr>
              <a:t> restart </a:t>
            </a:r>
            <a:r>
              <a:rPr sz="1050">
                <a:solidFill>
                  <a:srgbClr val="A78BFA"/>
                </a:solidFill>
                <a:latin typeface="Consolas"/>
              </a:rPr>
              <a:t>mysql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13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14  </a:t>
            </a:r>
            <a:r>
              <a:rPr sz="1050">
                <a:solidFill>
                  <a:srgbClr val="E2E8F0"/>
                </a:solidFill>
                <a:latin typeface="Consolas"/>
              </a:rPr>
              <a:t>-- Ver estado del servicio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15  </a:t>
            </a:r>
            <a:r>
              <a:rPr sz="1050">
                <a:solidFill>
                  <a:srgbClr val="A78BFA"/>
                </a:solidFill>
                <a:latin typeface="Consolas"/>
              </a:rPr>
              <a:t>sudo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systemctl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status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mysql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16  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17  </a:t>
            </a:r>
            <a:r>
              <a:rPr sz="1050">
                <a:solidFill>
                  <a:srgbClr val="E2E8F0"/>
                </a:solidFill>
                <a:latin typeface="Consolas"/>
              </a:rPr>
              <a:t>-- Habilitar inicio automatico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475569"/>
                </a:solidFill>
                <a:latin typeface="Consolas"/>
              </a:rPr>
              <a:t>18  </a:t>
            </a:r>
            <a:r>
              <a:rPr sz="1050">
                <a:solidFill>
                  <a:srgbClr val="A78BFA"/>
                </a:solidFill>
                <a:latin typeface="Consolas"/>
              </a:rPr>
              <a:t>sudo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A78BFA"/>
                </a:solidFill>
                <a:latin typeface="Consolas"/>
              </a:rPr>
              <a:t>systemctl</a:t>
            </a:r>
            <a:r>
              <a:rPr sz="1050">
                <a:solidFill>
                  <a:srgbClr val="E2E8F0"/>
                </a:solidFill>
                <a:latin typeface="Consolas"/>
              </a:rPr>
              <a:t> enable </a:t>
            </a:r>
            <a:r>
              <a:rPr sz="1050">
                <a:solidFill>
                  <a:srgbClr val="A78BFA"/>
                </a:solidFill>
                <a:latin typeface="Consolas"/>
              </a:rPr>
              <a:t>mysql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SUBTEMA 2.8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Comandos Alta y Baja - Ejercicios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5321808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9575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9575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VERDADERO/FALSO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net stop MySQL80 desinstala el servicio MySQL de Windows. V/F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196336"/>
            <a:ext cx="5047488" cy="684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FALSO. El comando 'net stop MySQL80' DETIENE el servicio pero no lo desinstala. El servicio sigue registrado en Windows y puede reiniciarse con 'net start MySQL80'. Para desinstalar completamente se usa el MySQL Installer.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828800"/>
            <a:ext cx="5321808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08776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45936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9983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9983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RELACIONAR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Relaciona el comando con su accion: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45936" y="3196336"/>
            <a:ext cx="5047488" cy="684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net start MySQL80     =&gt;  Inicia el servicio en Windows
systemctl stop mysql  =&gt;  Detiene el servicio en Linux
mysqladmin -u root ping  =&gt;  Verifica si el servidor responde
Get-Service MySQL80   =&gt;  Ver estado en PowerShell
systemctl enable mysql  =&gt;  Inicio automatico en Linux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041648"/>
            <a:ext cx="5321808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8368" y="4041648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95528" y="4178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417245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79575" y="419709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79575" y="419074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OPCION MULTIPLE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4562855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111827"/>
                </a:solidFill>
                <a:latin typeface="Segoe UI Semibold"/>
              </a:rPr>
              <a:t>Con que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comando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se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verifica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si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MySQL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responde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desde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la terminal?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" y="5358384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8" y="5409184"/>
            <a:ext cx="5047488" cy="156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 dirty="0" err="1">
                <a:solidFill>
                  <a:srgbClr val="374151"/>
                </a:solidFill>
                <a:latin typeface="Segoe UI"/>
              </a:rPr>
              <a:t>mysqladmin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ping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devuelve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'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mysqld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is alive'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si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el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servidor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esta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activo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8776" y="4041648"/>
            <a:ext cx="5321808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08776" y="4041648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345936" y="4178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45936" y="417245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29983" y="419709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29983" y="419074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ANALISIS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4562855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111827"/>
                </a:solidFill>
                <a:latin typeface="Segoe UI Semibold"/>
              </a:rPr>
              <a:t>Por que es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importante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detener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MySQL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correctamente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antes de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apagar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el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servidor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45936" y="5358384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45936" y="5409184"/>
            <a:ext cx="5047488" cy="684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 dirty="0" err="1">
                <a:solidFill>
                  <a:srgbClr val="374151"/>
                </a:solidFill>
                <a:latin typeface="Segoe UI"/>
              </a:rPr>
              <a:t>Detener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MySQL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correctamente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permite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: 1)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Vaciar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el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Buffer Pool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escribiendo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datos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pendientes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al disco, 2)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Cerrar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transacciones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activas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con ROLLBACK, 3)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Liberar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puertos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y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recursos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del SO. Un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apagado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forzado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puede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corromper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el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ibdata1 o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los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ib_logfile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,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requiriendo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recuperacion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EJERCICIOS ADICIONALES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Casos Practicos - Parte 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9575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9575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CASO PRACTICO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Un servidor tiene 12 GB de RAM. Calcula el tamano optimo del Buffer Pool y escribe la linea de configuracion correcta en my.ini.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Se recomienda asignar entre el 70-80% de la RAM al Buffer Pool.
Calculo: 12 GB x 0.75 = 9 GB
Linea en my.ini (seccion [mysqld]):
innodb_buffer_pool_size = 9G
Nota: El 25% restante (3 GB) se reserva para el SO, Thread Cache, conexiones y otros procesos del sistema.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08776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45936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9983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9983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CASO PRACTICO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Un alumno intenta instalar MySQL 8.0 en un equipo con: Windows 10 32 bits, 2 GB RAM, 3 GB disco libre. Indica que problemas encontrara y por que.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45936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El equipo NO cumple los requerimientos minimos. Problemas:
1. Windows 10 de 32 bits: MySQL 8.0 solo soporta sistemas 64 bits. La instalacion fallara desde el inicio.
2. RAM insuficiente: El minimo es 4 GB. Con 2 GB el servidor seria extremadamente lento o no iniciaria.
3. Disco insuficiente: Se requieren al menos 5 GB libres. Con 3 GB podria instalarse pero sin espacio para datos.
Solucion: Actualizar a Windows 10 64 bits, minimo 4 GB RAM y 10 GB disco.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EJERCICIOS ADICIONALES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Casos Practicos - Parte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9575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9575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CASO PRACTICO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Una transaccion actualiza el saldo de dos cuentas bancarias. A mitad de la operacion el servidor pierde energia. Explica que ocurre con los datos.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Gracias a las propiedades ACID de InnoDB, los datos permanecen consistentes:
1. ATOMICIDAD: Como la transaccion no hizo COMMIT, InnoDB ejecuta ROLLBACK automatico al reiniciar.
2. DURABILIDAD: El Redo Log (ib_logfile0/1) guarda los cambios pendientes. Al reiniciar MySQL lee el Redo Log y decide si aplicar o revertir.
3. CONSISTENCIA: Ninguna cuenta queda con saldo incorrecto. Ambas vuelven a su estado anterior al inicio de la transaccion.
Resultado: no hay perdida ni corrupcion de datos.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08776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45936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9983" y="19842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9983" y="197789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IDENTIFICAR ERRORES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350007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los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4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errores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esta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configuracion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de my.ini y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correlos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45936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45936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CONFIGURACION CON ERRORES:
port = 33006               -- Error 1
default-storage-engine = MyISAM  -- Error 2
character-set-server = utf8      -- Error 3
max_connections = 0        -- Error 4
CORRECCIONES:
port = 3306  (el puerto estandar de MySQL es 3306)
default-storage-engine = INNODB  (InnoDB soporta transacciones)
character-set-server = utf8mb4  (utf8mb4 soporta todos los caracteres)
max_connections = 151  (0 conexiones bloquea el acceso total)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74519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2039111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3276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2039111"/>
            <a:ext cx="4590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Arquitectura interna del SGBD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478023"/>
            <a:ext cx="4992624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560319"/>
            <a:ext cx="49926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La comprension del Buffer Pool, Thread Cache y Redo Log es esencial para diagnosticar problemas de rendimiento y configurar MySQL correctamente.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874519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08776" y="1874519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45936" y="2039111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2032761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2039111"/>
            <a:ext cx="4590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Estructura fisica organizada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2478023"/>
            <a:ext cx="4992624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2560319"/>
            <a:ext cx="49926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MySQL organiza los datos en archivos .ibd por tabla, logs de recuperacion y un archivo de configuracion central (my.ini), lo que facilita el respaldo y migracion de bases de datos.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13632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" y="3913632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5528" y="40782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407187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4078224"/>
            <a:ext cx="4590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Instalacion y configuracion correcta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517136"/>
            <a:ext cx="4992624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599432"/>
            <a:ext cx="49926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Verificar los requerimientos de hardware/software antes de instalar y configurar adecuadamente el charset, puerto y Buffer Pool determina el comportamiento a largo plazo del SGBD.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3913632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08776" y="3913632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45936" y="40782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45936" y="407187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3136" y="4078224"/>
            <a:ext cx="4590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Gestion del ciclo de vida del servicio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3368" y="4517136"/>
            <a:ext cx="4992624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73368" y="4599432"/>
            <a:ext cx="49926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Conocer los comandos de alta y baja en Windows y Linux permite a un DBA mantener, reiniciar y diagnosticar el servicio MySQL en cualquier entorno de produccion.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6B7280"/>
                </a:solidFill>
                <a:latin typeface="Segoe UI Semibold"/>
              </a:rPr>
              <a:t>SECCION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Fuentes de Informacion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874519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1984247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77897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1911095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Oracle Corporation. (MySQL 8.0 Reference Manual - Architecture).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96311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" y="2606039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599689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532887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Silberschatz, A., Korth, H., Sudarshan, S.. (Database System Concepts, 7th Edition).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118103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" y="3227831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221481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154679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Ramakrishnan, R. &amp; Gehrke, J.. (Database Management Systems, 3rd Edition).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39895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3849623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3843273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776471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Oracle Corporation. (MySQL 8.0 Installation Guide - Windows).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61687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4672" y="4471415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4465065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4398263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Microsoft. (Administracion de servicios de Windows con PowerShell).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79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4672" y="5093207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5086857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5020055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TecNM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. (Plan de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Estudios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Ingenieria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Sistemas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Computacionales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TEMA COMPLEMENTARIO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11827"/>
                </a:solidFill>
                <a:latin typeface="Segoe UI Semibold"/>
              </a:rPr>
              <a:t>Microservicios y el SGBD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0972800" cy="868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1097280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56816"/>
            <a:ext cx="105156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Como parte de la Unidad 2 se desarrollo un microservicio REST para comprobar el funcionamiento del SGBD. La materia trabaja con dos motores (MySQL y Oracle), por lo que estos ejercicios refuerzan como un microservicio se conecta y opera sobre ambos.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26080"/>
            <a:ext cx="2670048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2926080"/>
            <a:ext cx="267004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127248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563EB"/>
                </a:solidFill>
                <a:latin typeface="Segoe UI Semibold"/>
              </a:rPr>
              <a:t>Microservicio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94760"/>
            <a:ext cx="23042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Servicio pequeno e independiente con una sola responsabilidad, su propia BD y su puerto.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288" y="2926080"/>
            <a:ext cx="2670048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47288" y="2926080"/>
            <a:ext cx="2670048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0168" y="3127248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45A5A"/>
                </a:solidFill>
                <a:latin typeface="Segoe UI Semibold"/>
              </a:rPr>
              <a:t>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794760"/>
            <a:ext cx="23042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Comunicacion por HTTP con metodos GET, POST, PUT y DELETE que devuelven JSON.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926080"/>
            <a:ext cx="2670048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36208" y="2926080"/>
            <a:ext cx="267004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127248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D9488"/>
                </a:solidFill>
                <a:latin typeface="Segoe UI Semibold"/>
              </a:rPr>
              <a:t>Driver /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794760"/>
            <a:ext cx="23042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Libreria que conecta a la BD (mysql2 u oracledb) reutilizando conexiones.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2926080"/>
            <a:ext cx="2670048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025128" y="2926080"/>
            <a:ext cx="267004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8" y="3127248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7C3AED"/>
                </a:solidFill>
                <a:latin typeface="Segoe UI Semibold"/>
              </a:rPr>
              <a:t>Independencia del SGBD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3794760"/>
            <a:ext cx="23042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La arquitectura es la misma; solo cambian el driver y detalles de SQL.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11827"/>
                </a:solidFill>
                <a:latin typeface="Segoe UI Semibold"/>
              </a:rPr>
              <a:t>Ejercicios: Conceptos y Tecnologia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321808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9575" y="19842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5" y="197789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DEFINICION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?Que es un microservicio y por que es independiente del SGBD?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196336"/>
            <a:ext cx="5047488" cy="684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Es un servicio pequeno y autonomo que cumple una funcion concreta y expone una API REST. Es independiente del SGBD porque la logica (Express/HTTP) no depende del motor: solo cambia el driver de conexion (mysql2 u oracledb).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28800"/>
            <a:ext cx="5321808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08776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45936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9983" y="19842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9983" y="197789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VERDADERO/FALSO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350007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Cambiar el microservicio de MySQL a Oracle obliga a reescribir toda la aplicacion. V/F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3196336"/>
            <a:ext cx="5047488" cy="684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FALSO. Se reutiliza casi todo el codigo (rutas, Express, JSON). Solo cambian el driver (mysql2 -&gt; oracledb), la cadena de conexion y pequenos detalles de sintaxis SQL.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41648"/>
            <a:ext cx="5321808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8368" y="4041648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5528" y="4178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" y="417245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9575" y="419709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9575" y="419074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COMPLETAR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4562855"/>
            <a:ext cx="504748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11827"/>
                </a:solidFill>
                <a:latin typeface="Segoe UI Semibold"/>
              </a:rPr>
              <a:t>El driver de Node.js para MySQL es ___ y para Oracle es ___.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" y="5358384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8" y="5409184"/>
            <a:ext cx="5047488" cy="684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MySQL -&gt; mysql2.   Oracle -&gt; oracledb.
Ambos se instalan con npm y permiten crear un pool de conexiones hacia el SGBD.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4041648"/>
            <a:ext cx="5321808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208776" y="4041648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345936" y="4178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45936" y="417245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9983" y="419709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9983" y="419074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OPCION MULTIPLE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4562855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Cual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es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el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puerto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por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defecto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de MySQL y de Oracle,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respectivamente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45936" y="5358384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45936" y="5409184"/>
            <a:ext cx="5047488" cy="329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 dirty="0">
                <a:solidFill>
                  <a:srgbClr val="374151"/>
                </a:solidFill>
                <a:latin typeface="Segoe UI"/>
              </a:rPr>
              <a:t>
MySQL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escucha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en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3306 y Oracle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en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1521 (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servicio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FREEPDB1 </a:t>
            </a:r>
            <a:r>
              <a:rPr sz="950" b="0" i="0" dirty="0" err="1">
                <a:solidFill>
                  <a:srgbClr val="374151"/>
                </a:solidFill>
                <a:latin typeface="Segoe UI"/>
              </a:rPr>
              <a:t>en</a:t>
            </a:r>
            <a:r>
              <a:rPr sz="950" b="0" i="0" dirty="0">
                <a:solidFill>
                  <a:srgbClr val="374151"/>
                </a:solidFill>
                <a:latin typeface="Segoe UI"/>
              </a:rPr>
              <a:t> Oracle 23ai Free).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11827"/>
                </a:solidFill>
                <a:latin typeface="Segoe UI Semibold"/>
              </a:rPr>
              <a:t>Ejercicios: REST y Diferencias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9575" y="19842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5" y="197789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RELACIONAR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350007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Relaciona</a:t>
            </a:r>
            <a:r>
              <a:rPr lang="es-MX" sz="1050" b="1" i="0" dirty="0">
                <a:solidFill>
                  <a:srgbClr val="111827"/>
                </a:solidFill>
                <a:latin typeface="Segoe UI Semibold"/>
              </a:rPr>
              <a:t>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cada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metodo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REST con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su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operacion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SQL: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GET     =&gt;  SELECT  (leer / consultar registros)
POST    =&gt;  INSERT  (crear un nuevo registro)
PUT     =&gt;  UPDATE  (actualizar un registro)
DELETE  =&gt;  DELETE  (eliminar un registro)
Asi, /api/estudiantes con POST ejecuta un INSERT en la tabla estudiantes, sin importar si el motor es MySQL u Oracle.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08776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45936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9983" y="19842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9983" y="197789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RELACIONAR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350007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Relaciona</a:t>
            </a:r>
            <a:r>
              <a:rPr lang="es-MX" sz="1050" b="1" i="0" dirty="0">
                <a:solidFill>
                  <a:srgbClr val="111827"/>
                </a:solidFill>
                <a:latin typeface="Segoe UI Semibold"/>
              </a:rPr>
              <a:t>r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cada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detalle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con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el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motor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correspondiente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AUTO_INCREMENT          =&gt;  MySQL
GENERATED AS IDENTITY   =&gt;  Oracle
Parametro posicional ?  =&gt;  MySQL
Parametro nombrado :id  =&gt;  Oracle
Base de datos (schema)  =&gt;  MySQL
PDB / esquema (FREEPDB1)=&gt;  Oracle
Son las diferencias clave de sintaxis al portar el microservicio.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11827"/>
                </a:solidFill>
                <a:latin typeface="Segoe UI Semibold"/>
              </a:rPr>
              <a:t>Ejercicios: Analisis y Caso Practico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9575" y="19842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5" y="197789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ANALISIS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350007"/>
            <a:ext cx="5047488" cy="16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dirty="0">
                <a:solidFill>
                  <a:srgbClr val="111827"/>
                </a:solidFill>
                <a:latin typeface="Segoe UI Semibold"/>
              </a:rPr>
              <a:t>Que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ventajas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aporta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usar un pool de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conexiones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el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microservicio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Un pool mantiene varias conexiones abiertas y listas para reutilizarse.
Ventajas:
1. Evita el costo de abrir/cerrar conexion en cada peticion (mas rapido).
2. Limita el numero de conexiones simultaneas al SGBD (control de recursos).
3. Mejora la estabilidad bajo varias peticiones a la vez.
Tanto mysql2 como oracledb permiten crear un pool (createPool).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28800"/>
            <a:ext cx="5321808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08776" y="1828800"/>
            <a:ext cx="5321808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45936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95961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9983" y="19842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9983" y="197789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CASO PRACTICO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350007"/>
            <a:ext cx="5047488" cy="355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MX" sz="1050" b="1" dirty="0">
                <a:solidFill>
                  <a:srgbClr val="111827"/>
                </a:solidFill>
                <a:latin typeface="Segoe UI Semibold"/>
              </a:rPr>
              <a:t>Si tengo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el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microservicio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funcionando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con MySQL. Que pasos </a:t>
            </a:r>
            <a:r>
              <a:rPr lang="es-MX" sz="1050" b="1" i="0" dirty="0" err="1">
                <a:solidFill>
                  <a:srgbClr val="111827"/>
                </a:solidFill>
                <a:latin typeface="Segoe UI Semibold"/>
              </a:rPr>
              <a:t>seguiria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para que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tambien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050" b="1" i="0" dirty="0" err="1">
                <a:solidFill>
                  <a:srgbClr val="111827"/>
                </a:solidFill>
                <a:latin typeface="Segoe UI Semibold"/>
              </a:rPr>
              <a:t>funcione</a:t>
            </a:r>
            <a:r>
              <a:rPr sz="1050" b="1" i="0" dirty="0">
                <a:solidFill>
                  <a:srgbClr val="111827"/>
                </a:solidFill>
                <a:latin typeface="Segoe UI Semibold"/>
              </a:rPr>
              <a:t> con Oracle?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3145536"/>
            <a:ext cx="504748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3196336"/>
            <a:ext cx="5047488" cy="287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374151"/>
                </a:solidFill>
                <a:latin typeface="Segoe UI"/>
              </a:rPr>
              <a:t>1. Instalar el driver de Oracle:  npm install oracledb
2. Crear la base/usuario en Oracle y la tabla estudiantes (sintaxis Oracle: GENERATED AS IDENTITY, VARCHAR2).
3. Ajustar db.js: usar oracledb.createPool con connectString (localhost:1521/FREEPDB1).
4. Adaptar las consultas: parametros :nombre en vez de ?, y RETURNING id INTO :id en el INSERT.
5. Probar los endpoints (/api/estudiantes, /api/sgbd/estado). La logica REST es la misma.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3528</Words>
  <Application>Microsoft Office PowerPoint</Application>
  <PresentationFormat>Personalizado</PresentationFormat>
  <Paragraphs>404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-apple-system</vt:lpstr>
      <vt:lpstr>Aptos</vt:lpstr>
      <vt:lpstr>Arial</vt:lpstr>
      <vt:lpstr>Calibri</vt:lpstr>
      <vt:lpstr>Consolas</vt:lpstr>
      <vt:lpstr>Montserrat Bold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rokete</cp:lastModifiedBy>
  <cp:revision>6</cp:revision>
  <dcterms:created xsi:type="dcterms:W3CDTF">2013-01-27T09:14:16Z</dcterms:created>
  <dcterms:modified xsi:type="dcterms:W3CDTF">2026-05-31T13:17:28Z</dcterms:modified>
  <cp:category/>
</cp:coreProperties>
</file>