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77" r:id="rId2"/>
    <p:sldId id="257" r:id="rId3"/>
    <p:sldId id="258" r:id="rId4"/>
    <p:sldId id="259" r:id="rId5"/>
    <p:sldId id="260" r:id="rId6"/>
    <p:sldId id="262" r:id="rId7"/>
    <p:sldId id="263" r:id="rId8"/>
    <p:sldId id="265" r:id="rId9"/>
    <p:sldId id="267" r:id="rId10"/>
    <p:sldId id="268" r:id="rId11"/>
    <p:sldId id="269" r:id="rId12"/>
    <p:sldId id="270" r:id="rId13"/>
    <p:sldId id="272" r:id="rId14"/>
    <p:sldId id="273" r:id="rId15"/>
    <p:sldId id="274" r:id="rId16"/>
    <p:sldId id="275" r:id="rId17"/>
    <p:sldId id="276" r:id="rId1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0579DD-51C9-4EBD-ABBC-224FBD2953A5}" type="datetimeFigureOut">
              <a:rPr lang="es-MX" smtClean="0"/>
              <a:t>29/05/2026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06E5AE-27D6-4DBF-A418-3573E4F4DBB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4627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5814" y="161905"/>
            <a:ext cx="1461833" cy="1049220"/>
          </a:xfrm>
          <a:custGeom>
            <a:avLst/>
            <a:gdLst/>
            <a:ahLst/>
            <a:cxnLst/>
            <a:rect l="l" t="t" r="r" b="b"/>
            <a:pathLst>
              <a:path w="2193321" h="1574239">
                <a:moveTo>
                  <a:pt x="0" y="0"/>
                </a:moveTo>
                <a:lnTo>
                  <a:pt x="2193321" y="0"/>
                </a:lnTo>
                <a:lnTo>
                  <a:pt x="2193321" y="1574238"/>
                </a:lnTo>
                <a:lnTo>
                  <a:pt x="0" y="15742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715388" y="119052"/>
            <a:ext cx="2334759" cy="1025318"/>
          </a:xfrm>
          <a:custGeom>
            <a:avLst/>
            <a:gdLst/>
            <a:ahLst/>
            <a:cxnLst/>
            <a:rect l="l" t="t" r="r" b="b"/>
            <a:pathLst>
              <a:path w="3503050" h="1538377">
                <a:moveTo>
                  <a:pt x="0" y="0"/>
                </a:moveTo>
                <a:lnTo>
                  <a:pt x="3503050" y="0"/>
                </a:lnTo>
                <a:lnTo>
                  <a:pt x="3503050" y="1538377"/>
                </a:lnTo>
                <a:lnTo>
                  <a:pt x="0" y="15383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356648" y="612665"/>
            <a:ext cx="5475529" cy="866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0"/>
              </a:lnSpc>
              <a:spcBef>
                <a:spcPct val="0"/>
              </a:spcBef>
            </a:pPr>
            <a:r>
              <a:rPr lang="en-US" sz="174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TECNOLÓGICO NACIONAL DE MÉXICO</a:t>
            </a:r>
          </a:p>
          <a:p>
            <a:pPr algn="ctr">
              <a:lnSpc>
                <a:spcPts val="2290"/>
              </a:lnSpc>
              <a:spcBef>
                <a:spcPct val="0"/>
              </a:spcBef>
            </a:pPr>
            <a:r>
              <a:rPr lang="en-US" sz="174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UNIDAD ACADÉMICA VENUSTIANO CARRANZA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44275" y="1443749"/>
            <a:ext cx="9497126" cy="5714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90"/>
              </a:lnSpc>
              <a:spcBef>
                <a:spcPct val="0"/>
              </a:spcBef>
            </a:pPr>
            <a:r>
              <a:rPr lang="en-US" sz="174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“INGENIERÍA EN SISTEMAS COMPUTACIONALES”</a:t>
            </a:r>
          </a:p>
          <a:p>
            <a:pPr algn="ctr">
              <a:lnSpc>
                <a:spcPts val="2290"/>
              </a:lnSpc>
              <a:spcBef>
                <a:spcPct val="0"/>
              </a:spcBef>
            </a:pPr>
            <a:r>
              <a:rPr lang="en-US" sz="174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ADMINISTRACION DE BASE DE DATOS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285405" y="2293085"/>
            <a:ext cx="7429984" cy="5411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90"/>
              </a:lnSpc>
              <a:spcBef>
                <a:spcPct val="0"/>
              </a:spcBef>
            </a:pPr>
            <a:r>
              <a:rPr lang="en-US" sz="174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ACTIVIDAD </a:t>
            </a:r>
          </a:p>
          <a:p>
            <a:pPr algn="ctr"/>
            <a:r>
              <a:rPr lang="es-MX" sz="1600" b="1" dirty="0">
                <a:latin typeface="-apple-system"/>
              </a:rPr>
              <a:t>ACTIVIDAD 2.1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773956" y="3132126"/>
            <a:ext cx="2437765" cy="2766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90"/>
              </a:lnSpc>
              <a:spcBef>
                <a:spcPct val="0"/>
              </a:spcBef>
            </a:pPr>
            <a:r>
              <a:rPr lang="en-US" sz="174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RPESENTA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199567" y="4815497"/>
            <a:ext cx="6094413" cy="5714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90"/>
              </a:lnSpc>
              <a:spcBef>
                <a:spcPct val="0"/>
              </a:spcBef>
            </a:pPr>
            <a:r>
              <a:rPr lang="en-US" sz="174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DOCENTE</a:t>
            </a:r>
          </a:p>
          <a:p>
            <a:pPr algn="ctr">
              <a:lnSpc>
                <a:spcPts val="2290"/>
              </a:lnSpc>
              <a:spcBef>
                <a:spcPct val="0"/>
              </a:spcBef>
            </a:pPr>
            <a:r>
              <a:rPr lang="en-US" sz="174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ING. FRANCISCO JAVIER MINGO VELAZQUEZ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229401" y="6083702"/>
            <a:ext cx="8339464" cy="2766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90"/>
              </a:lnSpc>
              <a:spcBef>
                <a:spcPct val="0"/>
              </a:spcBef>
            </a:pPr>
            <a:r>
              <a:rPr lang="en-US" sz="174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26 DE ABRIL DE 2026 VENUSTIANO CARRANZA, CHIAPAS</a:t>
            </a:r>
          </a:p>
        </p:txBody>
      </p:sp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323F15EB-498F-21AC-540F-B4832C9E5A89}"/>
              </a:ext>
            </a:extLst>
          </p:cNvPr>
          <p:cNvGraphicFramePr>
            <a:graphicFrameLocks noGrp="1"/>
          </p:cNvGraphicFramePr>
          <p:nvPr/>
        </p:nvGraphicFramePr>
        <p:xfrm>
          <a:off x="3656647" y="3803787"/>
          <a:ext cx="5484972" cy="670386"/>
        </p:xfrm>
        <a:graphic>
          <a:graphicData uri="http://schemas.openxmlformats.org/drawingml/2006/table">
            <a:tbl>
              <a:tblPr/>
              <a:tblGrid>
                <a:gridCol w="2742486">
                  <a:extLst>
                    <a:ext uri="{9D8B030D-6E8A-4147-A177-3AD203B41FA5}">
                      <a16:colId xmlns:a16="http://schemas.microsoft.com/office/drawing/2014/main" val="3099188907"/>
                    </a:ext>
                  </a:extLst>
                </a:gridCol>
                <a:gridCol w="2742486">
                  <a:extLst>
                    <a:ext uri="{9D8B030D-6E8A-4147-A177-3AD203B41FA5}">
                      <a16:colId xmlns:a16="http://schemas.microsoft.com/office/drawing/2014/main" val="3475046580"/>
                    </a:ext>
                  </a:extLst>
                </a:gridCol>
              </a:tblGrid>
              <a:tr h="335193">
                <a:tc>
                  <a:txBody>
                    <a:bodyPr/>
                    <a:lstStyle/>
                    <a:p>
                      <a:r>
                        <a:rPr lang="es-MX" sz="1200" b="1">
                          <a:effectLst/>
                        </a:rPr>
                        <a:t>NOMBRE DEL ALUMNO</a:t>
                      </a:r>
                    </a:p>
                  </a:txBody>
                  <a:tcPr marL="60944" marR="60944" marT="30472" marB="30472"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200" b="1">
                          <a:effectLst/>
                        </a:rPr>
                        <a:t>MATRICULA</a:t>
                      </a:r>
                    </a:p>
                  </a:txBody>
                  <a:tcPr marL="60944" marR="60944" marT="30472" marB="30472"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815266"/>
                  </a:ext>
                </a:extLst>
              </a:tr>
              <a:tr h="335193">
                <a:tc>
                  <a:txBody>
                    <a:bodyPr/>
                    <a:lstStyle/>
                    <a:p>
                      <a:r>
                        <a:rPr lang="es-MX" sz="1200" b="1">
                          <a:effectLst/>
                        </a:rPr>
                        <a:t>Amaury Jahaziel Gordillo Hernandez</a:t>
                      </a:r>
                    </a:p>
                  </a:txBody>
                  <a:tcPr marL="60944" marR="60944" marT="30472" marB="30472"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200" b="1" dirty="0">
                          <a:effectLst/>
                        </a:rPr>
                        <a:t>231260074</a:t>
                      </a:r>
                    </a:p>
                  </a:txBody>
                  <a:tcPr marL="60944" marR="60944" marT="30472" marB="30472"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113360"/>
                  </a:ext>
                </a:extLst>
              </a:tr>
            </a:tbl>
          </a:graphicData>
        </a:graphic>
      </p:graphicFrame>
      <p:sp>
        <p:nvSpPr>
          <p:cNvPr id="12" name="Rectangle 1">
            <a:extLst>
              <a:ext uri="{FF2B5EF4-FFF2-40B4-BE49-F238E27FC236}">
                <a16:creationId xmlns:a16="http://schemas.microsoft.com/office/drawing/2014/main" id="{04D78428-F81B-1E82-50A7-BDB098FC5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6647" y="3681028"/>
            <a:ext cx="123143" cy="246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0944" tIns="30472" rIns="60944" bIns="30472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61872"/>
            <a:ext cx="12188952" cy="54864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20116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Índice de Contenido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17352" y="65105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46E7A"/>
                </a:solidFill>
                <a:latin typeface="Calibri Light"/>
              </a:rPr>
              <a:t>2  /  21</a:t>
            </a:r>
          </a:p>
        </p:txBody>
      </p:sp>
      <p:sp>
        <p:nvSpPr>
          <p:cNvPr id="9" name="Rectangle 8"/>
          <p:cNvSpPr/>
          <p:nvPr/>
        </p:nvSpPr>
        <p:spPr>
          <a:xfrm>
            <a:off x="6291072" y="1700784"/>
            <a:ext cx="27432" cy="4700016"/>
          </a:xfrm>
          <a:prstGeom prst="rect">
            <a:avLst/>
          </a:prstGeom>
          <a:solidFill>
            <a:srgbClr val="DC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700784"/>
            <a:ext cx="502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66DB0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700784"/>
            <a:ext cx="5029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62230"/>
                </a:solidFill>
                <a:latin typeface="Calibri Light"/>
              </a:rPr>
              <a:t>Introducción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14016"/>
            <a:ext cx="502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66DB0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414016"/>
            <a:ext cx="5029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62230"/>
                </a:solidFill>
                <a:latin typeface="Calibri Light"/>
              </a:rPr>
              <a:t>Justificación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27248"/>
            <a:ext cx="502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66DB0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127248"/>
            <a:ext cx="5029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62230"/>
                </a:solidFill>
                <a:latin typeface="Calibri Light"/>
              </a:rPr>
              <a:t>¿Qué es un SGBD?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840480"/>
            <a:ext cx="502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66DB0"/>
                </a:solidFill>
                <a:latin typeface="Calibr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840480"/>
            <a:ext cx="5029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62230"/>
                </a:solidFill>
                <a:latin typeface="Calibri Light"/>
              </a:rPr>
              <a:t>Estructura de Memoria — SGA / PGA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553712"/>
            <a:ext cx="502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66DB0"/>
                </a:solidFill>
                <a:latin typeface="Calibr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553712"/>
            <a:ext cx="5029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62230"/>
                </a:solidFill>
                <a:latin typeface="Calibri Light"/>
              </a:rPr>
              <a:t>Procesos de la Instancia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266944"/>
            <a:ext cx="502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66DB0"/>
                </a:solidFill>
                <a:latin typeface="Calibri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266944"/>
            <a:ext cx="5029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62230"/>
                </a:solidFill>
                <a:latin typeface="Calibri Light"/>
              </a:rPr>
              <a:t>Estructura Física de la Base de Datos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1700784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66DB0"/>
                </a:solidFill>
                <a:latin typeface="Calibri"/>
              </a:rP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1700784"/>
            <a:ext cx="4800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62230"/>
                </a:solidFill>
                <a:latin typeface="Calibri Light"/>
              </a:rPr>
              <a:t>Requerimientos de Instalación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340864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66DB0"/>
                </a:solidFill>
                <a:latin typeface="Calibri"/>
              </a:rPr>
              <a:t>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2340864"/>
            <a:ext cx="4800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62230"/>
                </a:solidFill>
                <a:latin typeface="Calibri Light"/>
              </a:rPr>
              <a:t>Instalación en Modo Transaccional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980944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66DB0"/>
                </a:solidFill>
                <a:latin typeface="Calibri"/>
              </a:rPr>
              <a:t>09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980944"/>
            <a:ext cx="4800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62230"/>
                </a:solidFill>
                <a:latin typeface="Calibri Light"/>
              </a:rPr>
              <a:t>Variables de Ambiente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621024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66DB0"/>
                </a:solidFill>
                <a:latin typeface="Calibri"/>
              </a:rPr>
              <a:t>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3621024"/>
            <a:ext cx="4800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62230"/>
                </a:solidFill>
                <a:latin typeface="Calibri Light"/>
              </a:rPr>
              <a:t>Procedimiento General de Instalación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261104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66DB0"/>
                </a:solidFill>
                <a:latin typeface="Calibri"/>
              </a:rPr>
              <a:t>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4261104"/>
            <a:ext cx="4800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62230"/>
                </a:solidFill>
                <a:latin typeface="Calibri Light"/>
              </a:rPr>
              <a:t>Configuración del SGBD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901184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66DB0"/>
                </a:solidFill>
                <a:latin typeface="Calibri"/>
              </a:rPr>
              <a:t>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901184"/>
            <a:ext cx="4800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62230"/>
                </a:solidFill>
                <a:latin typeface="Calibri Light"/>
              </a:rPr>
              <a:t>Comandos de Alta y Baja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5541264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66DB0"/>
                </a:solidFill>
                <a:latin typeface="Calibri"/>
              </a:rPr>
              <a:t>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600" y="5541264"/>
            <a:ext cx="4800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62230"/>
                </a:solidFill>
                <a:latin typeface="Calibri Light"/>
              </a:rPr>
              <a:t>Conclusión  ·  Fuentes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61872"/>
            <a:ext cx="12188952" cy="54864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20116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Introducción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17352" y="65105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46E7A"/>
                </a:solidFill>
                <a:latin typeface="Calibri Light"/>
              </a:rPr>
              <a:t>3  /  21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" y="1609344"/>
            <a:ext cx="64008" cy="4791456"/>
          </a:xfrm>
          <a:prstGeom prst="rect">
            <a:avLst/>
          </a:prstGeom>
          <a:solidFill>
            <a:srgbClr val="16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6" y="1869948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609344"/>
            <a:ext cx="110002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62230"/>
                </a:solidFill>
                <a:latin typeface="Calibri Light"/>
              </a:rPr>
              <a:t>Los SGBD son el núcleo de cualquier arquitectura de información moderna: almacenan, protegen y recuperan datos de forma eficiente.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" y="2555748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2295144"/>
            <a:ext cx="110002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62230"/>
                </a:solidFill>
                <a:latin typeface="Calibri Light"/>
              </a:rPr>
              <a:t>Comprender su arquitectura interna permite instalarlos correctamente, optimizarlos y mantenerlos en entornos de producción.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" y="3241548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980944"/>
            <a:ext cx="110002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62230"/>
                </a:solidFill>
                <a:latin typeface="Calibri Light"/>
              </a:rPr>
              <a:t>Un SGBD gestiona acceso concurrente de múltiples usuarios garantizando consistencia e integridad de los datos.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" y="3927348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3666744"/>
            <a:ext cx="110002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62230"/>
                </a:solidFill>
                <a:latin typeface="Calibri Light"/>
              </a:rPr>
              <a:t>La unidad abarca desde la estructura interna de la memoria e instancia hasta los procedimientos de instalación y administración básica.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" y="4613148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4352544"/>
            <a:ext cx="110002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62230"/>
                </a:solidFill>
                <a:latin typeface="Calibri Light"/>
              </a:rPr>
              <a:t>Los sistemas más utilizados en la industria: Oracle Database, MySQL, PostgreSQL, Microsoft SQL Server y MariaDB.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61872"/>
            <a:ext cx="12188952" cy="54864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20116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Justificación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46E7A"/>
                </a:solidFill>
                <a:latin typeface="Calibri Light"/>
              </a:rPr>
              <a:t>Administración de Base de Datos  |  6° Semestre  |  TecNM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17352" y="65105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46E7A"/>
                </a:solidFill>
                <a:latin typeface="Calibri Light"/>
              </a:rPr>
              <a:t>4  /  21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" y="1609344"/>
            <a:ext cx="64008" cy="4791456"/>
          </a:xfrm>
          <a:prstGeom prst="rect">
            <a:avLst/>
          </a:prstGeom>
          <a:solidFill>
            <a:srgbClr val="16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6" y="1869948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609344"/>
            <a:ext cx="110002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62230"/>
                </a:solidFill>
                <a:latin typeface="Calibri Light"/>
              </a:rPr>
              <a:t>Permite tomar decisiones de diseño fundamentadas con base en el comportamiento real del sistema de gestión.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" y="2555748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2295144"/>
            <a:ext cx="110002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62230"/>
                </a:solidFill>
                <a:latin typeface="Calibri Light"/>
              </a:rPr>
              <a:t>Un DBA que entiende la instancia diagnostica problemas de rendimiento con mayor precisión y rapidez.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" y="3241548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980944"/>
            <a:ext cx="110002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62230"/>
                </a:solidFill>
                <a:latin typeface="Calibri Light"/>
              </a:rPr>
              <a:t>Una instalación correcta es la base de una base de datos estable, segura y de alto rendimiento.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" y="3927348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3666744"/>
            <a:ext cx="110002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62230"/>
                </a:solidFill>
                <a:latin typeface="Calibri Light"/>
              </a:rPr>
              <a:t>El conocimiento de variables de ambiente y archivos críticos previene errores de configuración comunes.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" y="4613148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4352544"/>
            <a:ext cx="110002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62230"/>
                </a:solidFill>
                <a:latin typeface="Calibri Light"/>
              </a:rPr>
              <a:t>Los procedimientos de arranque y parada correctos protegen la integridad transaccional de los datos.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6" y="5298948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5038344"/>
            <a:ext cx="110002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62230"/>
                </a:solidFill>
                <a:latin typeface="Calibri Light"/>
              </a:rPr>
              <a:t>Es una competencia clave del perfil del Ingeniero en Sistemas Computacionales según el plan TecNM.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61872"/>
            <a:ext cx="12188952" cy="54864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20116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¿Qué es un SGBD?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46E7A"/>
                </a:solidFill>
                <a:latin typeface="Calibri Light"/>
              </a:rPr>
              <a:t>Administración de Base de Datos  |  6° Semestre  |  TecNM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17352" y="65105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46E7A"/>
                </a:solidFill>
                <a:latin typeface="Calibri Light"/>
              </a:rPr>
              <a:t>5  /  21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545336"/>
            <a:ext cx="5303520" cy="4873752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208" y="1655064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294E"/>
                </a:solidFill>
                <a:latin typeface="Calibri"/>
              </a:rPr>
              <a:t>Definición y funciones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8" y="2066543"/>
            <a:ext cx="4846320" cy="27432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6072" y="2382560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2376" y="2167128"/>
            <a:ext cx="4800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62230"/>
                </a:solidFill>
                <a:latin typeface="Calibri Light"/>
              </a:rPr>
              <a:t>Software que crea, manipula y administra bases de datos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" y="2949488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2376" y="2734056"/>
            <a:ext cx="4800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62230"/>
                </a:solidFill>
                <a:latin typeface="Calibri Light"/>
              </a:rPr>
              <a:t>Garantiza integridad, seguridad y consistencia de datos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" y="3516416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2376" y="3300984"/>
            <a:ext cx="4800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62230"/>
                </a:solidFill>
                <a:latin typeface="Calibri Light"/>
              </a:rPr>
              <a:t>Gestiona acceso concurrente de múltiples usuarios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6072" y="4083344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2376" y="3867912"/>
            <a:ext cx="4800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62230"/>
                </a:solidFill>
                <a:latin typeface="Calibri Light"/>
              </a:rPr>
              <a:t>Proporciona mecanismos de recuperación ante fallos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72" y="4650272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2376" y="4434840"/>
            <a:ext cx="4800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62230"/>
                </a:solidFill>
                <a:latin typeface="Calibri Light"/>
              </a:rPr>
              <a:t>Implementa lenguaje de consulta estándar (SQL)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6072" y="5217200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2376" y="5001768"/>
            <a:ext cx="4800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62230"/>
                </a:solidFill>
                <a:latin typeface="Calibri Light"/>
              </a:rPr>
              <a:t>Ofrece control de transacciones (ACID)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65392" y="1545336"/>
            <a:ext cx="5303520" cy="4873752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66560" y="1655064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294E"/>
                </a:solidFill>
                <a:latin typeface="Calibri"/>
              </a:rPr>
              <a:t>Tipos y ejemplos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2066543"/>
            <a:ext cx="4846320" cy="27432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821424" y="2382560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967728" y="2167128"/>
            <a:ext cx="4800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62230"/>
                </a:solidFill>
                <a:latin typeface="Calibri Light"/>
              </a:rPr>
              <a:t>Relacionales: Oracle, MySQL, PostgreSQL, SQL Server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21424" y="2949488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967728" y="2734056"/>
            <a:ext cx="4800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62230"/>
                </a:solidFill>
                <a:latin typeface="Calibri Light"/>
              </a:rPr>
              <a:t>NoSQL: MongoDB, Cassandra, Redis, CouchDB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21424" y="3516416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967728" y="3300984"/>
            <a:ext cx="4800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62230"/>
                </a:solidFill>
                <a:latin typeface="Calibri Light"/>
              </a:rPr>
              <a:t>NewSQL: CockroachDB, Google Spanner, Volt DB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21424" y="4083344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967728" y="3867912"/>
            <a:ext cx="4800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62230"/>
                </a:solidFill>
                <a:latin typeface="Calibri Light"/>
              </a:rPr>
              <a:t>En memoria: Redis, Memcached, VoltDB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21424" y="4650272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967728" y="4434840"/>
            <a:ext cx="4800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62230"/>
                </a:solidFill>
                <a:latin typeface="Calibri Light"/>
              </a:rPr>
              <a:t>Columnar: Cassandra, HBase, Amazon Redshift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21424" y="5217200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967728" y="5001768"/>
            <a:ext cx="4800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62230"/>
                </a:solidFill>
                <a:latin typeface="Calibri Light"/>
              </a:rPr>
              <a:t>Orientado a objetos: db4o, ObjectDB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61872"/>
            <a:ext cx="12188952" cy="54864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20116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2.1 Estructura de Memoria — SGA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17352" y="65105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46E7A"/>
                </a:solidFill>
                <a:latin typeface="Calibri Light"/>
              </a:rPr>
              <a:t>6  /  21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" y="1609344"/>
            <a:ext cx="64008" cy="4791456"/>
          </a:xfrm>
          <a:prstGeom prst="rect">
            <a:avLst/>
          </a:prstGeom>
          <a:solidFill>
            <a:srgbClr val="16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6" y="1869948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609344"/>
            <a:ext cx="110002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62230"/>
                </a:solidFill>
                <a:latin typeface="Calibri Light"/>
              </a:rPr>
              <a:t>Shared Pool — Caché de cursores SQL, PL/SQL y diccionario de datos; reduce re-análisis de sentencias.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" y="2555748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2295144"/>
            <a:ext cx="110002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62230"/>
                </a:solidFill>
                <a:latin typeface="Calibri Light"/>
              </a:rPr>
              <a:t>Database Buffer Cache — Caché de bloques de datos leídos desde disco; reduce I/O físico.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" y="3241548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980944"/>
            <a:ext cx="110002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62230"/>
                </a:solidFill>
                <a:latin typeface="Calibri Light"/>
              </a:rPr>
              <a:t>Redo Log Buffer — Almacena temporalmente los registros de cambios antes de escribirlos al disco.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" y="3927348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3666744"/>
            <a:ext cx="110002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62230"/>
                </a:solidFill>
                <a:latin typeface="Calibri Light"/>
              </a:rPr>
              <a:t>Large Pool — Memoria para operaciones de backup (RMAN), UGA en servidores multihilo y operaciones paralelas.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" y="4613148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4352544"/>
            <a:ext cx="110002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62230"/>
                </a:solidFill>
                <a:latin typeface="Calibri Light"/>
              </a:rPr>
              <a:t>Java Pool — Memoria para la JVM integrada en Oracle Database; requerida si se usa Java interno.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6" y="5298948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5038344"/>
            <a:ext cx="110002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62230"/>
                </a:solidFill>
                <a:latin typeface="Calibri Light"/>
              </a:rPr>
              <a:t>Streams Pool — Soporta Oracle Streams y Golden Gate para replicación avanzada de datos.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61872"/>
            <a:ext cx="12188952" cy="54864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20116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2.1 PGA y Procesos de la Instancia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17352" y="65105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46E7A"/>
                </a:solidFill>
                <a:latin typeface="Calibri Light"/>
              </a:rPr>
              <a:t>7  /  21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545336"/>
            <a:ext cx="5303520" cy="4873752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208" y="1655064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294E"/>
                </a:solidFill>
                <a:latin typeface="Calibri"/>
              </a:rPr>
              <a:t>PGA — Program Global Area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8" y="2066543"/>
            <a:ext cx="4846320" cy="27432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6072" y="2382560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2376" y="2167128"/>
            <a:ext cx="4800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2230"/>
                </a:solidFill>
                <a:latin typeface="Calibri Light"/>
              </a:rPr>
              <a:t>Memoria privada por proceso/sesión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" y="2949488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2376" y="2734056"/>
            <a:ext cx="4800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2230"/>
                </a:solidFill>
                <a:latin typeface="Calibri Light"/>
              </a:rPr>
              <a:t>Almacena variables de entorno y datos de sesión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" y="3516416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2376" y="3300984"/>
            <a:ext cx="4800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2230"/>
                </a:solidFill>
                <a:latin typeface="Calibri Light"/>
              </a:rPr>
              <a:t>Área de ordenamiento (sort area) privada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6072" y="4083344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2376" y="3867912"/>
            <a:ext cx="4800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2230"/>
                </a:solidFill>
                <a:latin typeface="Calibri Light"/>
              </a:rPr>
              <a:t>Área de hash join y bitmap merge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72" y="4650272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2376" y="4434840"/>
            <a:ext cx="4800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2230"/>
                </a:solidFill>
                <a:latin typeface="Calibri Light"/>
              </a:rPr>
              <a:t>No es compartida; exclusiva por proceso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65392" y="1545336"/>
            <a:ext cx="5303520" cy="4873752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66560" y="1655064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294E"/>
                </a:solidFill>
                <a:latin typeface="Calibri"/>
              </a:rPr>
              <a:t>Procesos Background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0" y="2066543"/>
            <a:ext cx="4846320" cy="27432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821424" y="2382560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67728" y="2167128"/>
            <a:ext cx="4800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2230"/>
                </a:solidFill>
                <a:latin typeface="Calibri Light"/>
              </a:rPr>
              <a:t>DBWR — Escribe buffers modificados al disco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21424" y="2949488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967728" y="2734056"/>
            <a:ext cx="4800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2230"/>
                </a:solidFill>
                <a:latin typeface="Calibri Light"/>
              </a:rPr>
              <a:t>LGWR — Escribe redo log buffer a los log files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21424" y="3516416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967728" y="3300984"/>
            <a:ext cx="4800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2230"/>
                </a:solidFill>
                <a:latin typeface="Calibri Light"/>
              </a:rPr>
              <a:t>CKPT — Actualiza archivos de control en checkpoint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21424" y="4083344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967728" y="3867912"/>
            <a:ext cx="4800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2230"/>
                </a:solidFill>
                <a:latin typeface="Calibri Light"/>
              </a:rPr>
              <a:t>SMON — Recuperación del sistema tras un fallo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21424" y="4650272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967728" y="4434840"/>
            <a:ext cx="4800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2230"/>
                </a:solidFill>
                <a:latin typeface="Calibri Light"/>
              </a:rPr>
              <a:t>PMON — Limpia recursos de procesos fallidos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21424" y="5217200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967728" y="5001768"/>
            <a:ext cx="4800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2230"/>
                </a:solidFill>
                <a:latin typeface="Calibri Light"/>
              </a:rPr>
              <a:t>ARCH — Archiva redo logs llenos (modo archivelog)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61872"/>
            <a:ext cx="12188952" cy="54864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20116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2.2 Estructura Física de la Base de Datos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17352" y="65105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46E7A"/>
                </a:solidFill>
                <a:latin typeface="Calibri Light"/>
              </a:rPr>
              <a:t>8  /  21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" y="1609344"/>
            <a:ext cx="64008" cy="4791456"/>
          </a:xfrm>
          <a:prstGeom prst="rect">
            <a:avLst/>
          </a:prstGeom>
          <a:solidFill>
            <a:srgbClr val="16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6" y="1869948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609344"/>
            <a:ext cx="110002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62230"/>
                </a:solidFill>
                <a:latin typeface="Calibri Light"/>
              </a:rPr>
              <a:t>Datafiles (.dbf / .ora) — Contienen los datos reales de tablas, índices y objetos; organizados en tablespaces.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" y="2555748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2295144"/>
            <a:ext cx="110002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62230"/>
                </a:solidFill>
                <a:latin typeface="Calibri Light"/>
              </a:rPr>
              <a:t>Control Files (.ctl) — Registro del estado y estructura de la BD; críticos para montaje y recuperación.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" y="3241548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980944"/>
            <a:ext cx="110002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62230"/>
                </a:solidFill>
                <a:latin typeface="Calibri Light"/>
              </a:rPr>
              <a:t>Redo Log Files — Registran cada cambio en la BD para garantizar recuperación ante fallos del sistema.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" y="3927348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3666744"/>
            <a:ext cx="110002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62230"/>
                </a:solidFill>
                <a:latin typeface="Calibri Light"/>
              </a:rPr>
              <a:t>Parameter File (PFILE / SPFILE) — Contiene parámetros de inicialización de la instancia.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" y="4613148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4352544"/>
            <a:ext cx="110002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62230"/>
                </a:solidFill>
                <a:latin typeface="Calibri Light"/>
              </a:rPr>
              <a:t>Archive Log Files — Copia de redo logs llenos; permiten recuperación completa (modo archivelog).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6" y="5298948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5038344"/>
            <a:ext cx="110002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62230"/>
                </a:solidFill>
                <a:latin typeface="Calibri Light"/>
              </a:rPr>
              <a:t>Temporary Files — Usados para ordenamiento, hash join y almacenamiento de tablas temporales (tablespace TEMP).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61872"/>
            <a:ext cx="12188952" cy="54864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20116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2.3 Requerimientos para la Instalación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17352" y="65105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46E7A"/>
                </a:solidFill>
                <a:latin typeface="Calibri Light"/>
              </a:rPr>
              <a:t>9  /  21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545336"/>
            <a:ext cx="5303520" cy="4873752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208" y="1655064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294E"/>
                </a:solidFill>
                <a:latin typeface="Calibri"/>
              </a:rPr>
              <a:t>Requisitos de Hardware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8" y="2066543"/>
            <a:ext cx="4846320" cy="27432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6072" y="2382560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2376" y="2167128"/>
            <a:ext cx="4800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2230"/>
                </a:solidFill>
                <a:latin typeface="Calibri Light"/>
              </a:rPr>
              <a:t>RAM: mín. 2 GB (Oracle), 1 GB (MySQL/PG)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" y="2949488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2376" y="2734056"/>
            <a:ext cx="4800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2230"/>
                </a:solidFill>
                <a:latin typeface="Calibri Light"/>
              </a:rPr>
              <a:t>Disco: 10–20 GB instalación + espacio de datos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" y="3516416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2376" y="3300984"/>
            <a:ext cx="4800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2230"/>
                </a:solidFill>
                <a:latin typeface="Calibri Light"/>
              </a:rPr>
              <a:t>CPU: 64 bits, recomendado 2+ núcleos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6072" y="4083344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2376" y="3867912"/>
            <a:ext cx="4800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2230"/>
                </a:solidFill>
                <a:latin typeface="Calibri Light"/>
              </a:rPr>
              <a:t>Swap: 2× RAM (hasta 8 GB máximo)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72" y="4650272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2376" y="4434840"/>
            <a:ext cx="4800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2230"/>
                </a:solidFill>
                <a:latin typeface="Calibri Light"/>
              </a:rPr>
              <a:t>Red: adaptador de red configurado y estable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65392" y="1545336"/>
            <a:ext cx="5303520" cy="4873752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66560" y="1655064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294E"/>
                </a:solidFill>
                <a:latin typeface="Calibri"/>
              </a:rPr>
              <a:t>Requisitos de Software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0" y="2066543"/>
            <a:ext cx="4846320" cy="27432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821424" y="2382560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67728" y="2167128"/>
            <a:ext cx="4800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2230"/>
                </a:solidFill>
                <a:latin typeface="Calibri Light"/>
              </a:rPr>
              <a:t>OS: RHEL, CentOS, Ubuntu LTS, Windows Server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21424" y="2949488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967728" y="2734056"/>
            <a:ext cx="4800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2230"/>
                </a:solidFill>
                <a:latin typeface="Calibri Light"/>
              </a:rPr>
              <a:t>Paquetes: gcc, libc, compat-libstdc++, make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21424" y="3516416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967728" y="3300984"/>
            <a:ext cx="4800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2230"/>
                </a:solidFill>
                <a:latin typeface="Calibri Light"/>
              </a:rPr>
              <a:t>Configurar kernel: shmmax, shmall, semaphores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21424" y="4083344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967728" y="3867912"/>
            <a:ext cx="4800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2230"/>
                </a:solidFill>
                <a:latin typeface="Calibri Light"/>
              </a:rPr>
              <a:t>Usuarios OS: oracle / dba group (Linux)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21424" y="4650272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967728" y="4434840"/>
            <a:ext cx="4800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2230"/>
                </a:solidFill>
                <a:latin typeface="Calibri Light"/>
              </a:rPr>
              <a:t>Firewall: abrir puertos 1521 (Oracle), 3306, 5432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21424" y="5217200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967728" y="5001768"/>
            <a:ext cx="4800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2230"/>
                </a:solidFill>
                <a:latin typeface="Calibri Light"/>
              </a:rPr>
              <a:t>SELinux / AppArmor: configurar o deshabilitar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61872"/>
            <a:ext cx="12188952" cy="54864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20116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2.4 Instalación en Modo Transaccional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17352" y="65105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46E7A"/>
                </a:solidFill>
                <a:latin typeface="Calibri Light"/>
              </a:rPr>
              <a:t>10  /  21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" y="1609344"/>
            <a:ext cx="64008" cy="4791456"/>
          </a:xfrm>
          <a:prstGeom prst="rect">
            <a:avLst/>
          </a:prstGeom>
          <a:solidFill>
            <a:srgbClr val="16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6" y="1869948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609344"/>
            <a:ext cx="110002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62230"/>
                </a:solidFill>
                <a:latin typeface="Calibri Light"/>
              </a:rPr>
              <a:t>Atomicidad — La instalación se aplica completamente o se revierte; no queda en estado parcial.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" y="2555748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2295144"/>
            <a:ext cx="110002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62230"/>
                </a:solidFill>
                <a:latin typeface="Calibri Light"/>
              </a:rPr>
              <a:t>Consistencia — El sistema mantiene un estado válido antes y después de cada fase de instalación.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" y="3241548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980944"/>
            <a:ext cx="110002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62230"/>
                </a:solidFill>
                <a:latin typeface="Calibri Light"/>
              </a:rPr>
              <a:t>Aislamiento — El proceso de instalación no interfiere con otras operaciones activas en el sistema.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" y="3927348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3666744"/>
            <a:ext cx="110002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62230"/>
                </a:solidFill>
                <a:latin typeface="Calibri Light"/>
              </a:rPr>
              <a:t>Durabilidad — Los cambios confirmados persisten correctamente incluso ante un fallo durante la instalación.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" y="4613148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4352544"/>
            <a:ext cx="110002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62230"/>
                </a:solidFill>
                <a:latin typeface="Calibri Light"/>
              </a:rPr>
              <a:t>Oracle Universal Installer (OUI) implementa este modelo: permite deshacer cambios si la instalación falla.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6" y="5298948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5038344"/>
            <a:ext cx="110002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62230"/>
                </a:solidFill>
                <a:latin typeface="Calibri Light"/>
              </a:rPr>
              <a:t>Cada paso se valida antes de proceder; los errores detienen el proceso y notifican la causa raíz.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61872"/>
            <a:ext cx="12188952" cy="54864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20116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2.5 Variables de Ambiente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17352" y="65105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46E7A"/>
                </a:solidFill>
                <a:latin typeface="Calibri Light"/>
              </a:rPr>
              <a:t>11  /  21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" y="1609344"/>
            <a:ext cx="64008" cy="4791456"/>
          </a:xfrm>
          <a:prstGeom prst="rect">
            <a:avLst/>
          </a:prstGeom>
          <a:solidFill>
            <a:srgbClr val="16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6" y="1869451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609344"/>
            <a:ext cx="11000232" cy="684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2230"/>
                </a:solidFill>
                <a:latin typeface="Calibri Light"/>
              </a:rPr>
              <a:t>ORACLE_BASE — Directorio raíz de la instalación:  /u01/app/oracle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" y="2553945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2293837"/>
            <a:ext cx="11000232" cy="684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2230"/>
                </a:solidFill>
                <a:latin typeface="Calibri Light"/>
              </a:rPr>
              <a:t>ORACLE_HOME — Directorio del software Oracle:  $ORACLE_BASE/product/19c/dbhome_1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" y="3238439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978331"/>
            <a:ext cx="11000232" cy="684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2230"/>
                </a:solidFill>
                <a:latin typeface="Calibri Light"/>
              </a:rPr>
              <a:t>ORACLE_SID  — Identificador único de la instancia:  ORCL  (System Identifier)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" y="3922932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3662825"/>
            <a:ext cx="11000232" cy="684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2230"/>
                </a:solidFill>
                <a:latin typeface="Calibri Light"/>
              </a:rPr>
              <a:t>PATH        — Debe incluir  $ORACLE_HOME/bin  para acceso a sqlplus, rman, etc.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" y="4607426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4347318"/>
            <a:ext cx="11000232" cy="684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2230"/>
                </a:solidFill>
                <a:latin typeface="Calibri Light"/>
              </a:rPr>
              <a:t>LD_LIBRARY_PATH — Bibliotecas dinámicas en Linux:  $ORACLE_HOME/lib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6" y="5291920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5031812"/>
            <a:ext cx="11000232" cy="684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2230"/>
                </a:solidFill>
                <a:latin typeface="Calibri Light"/>
              </a:rPr>
              <a:t>NLS_LANG    — Idioma y codificación:  AMERICAN_AMERICA.AL32UTF8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" y="5976413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5716306"/>
            <a:ext cx="11000232" cy="684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2230"/>
                </a:solidFill>
                <a:latin typeface="Calibri Light"/>
              </a:rPr>
              <a:t>TNS_ADMIN   — Directorio de  tnsnames.ora  y  listener.ora  para configuración de red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61872"/>
            <a:ext cx="12188952" cy="54864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20116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2.6 Procedimiento General de Instalación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46E7A"/>
                </a:solidFill>
                <a:latin typeface="Calibri Light"/>
              </a:rPr>
              <a:t>Administración de Base de Datos  |  6° Semestre  |  TecNM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17352" y="65105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46E7A"/>
                </a:solidFill>
                <a:latin typeface="Calibri Light"/>
              </a:rPr>
              <a:t>12  /  21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" y="1609344"/>
            <a:ext cx="64008" cy="4791456"/>
          </a:xfrm>
          <a:prstGeom prst="rect">
            <a:avLst/>
          </a:prstGeom>
          <a:solidFill>
            <a:srgbClr val="16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6" y="1836938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609344"/>
            <a:ext cx="11000232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2230"/>
                </a:solidFill>
                <a:latin typeface="Calibri Light"/>
              </a:rPr>
              <a:t>1. Preparar el sistema: crear usuarios OS (oracle/dba), configurar parámetros del kernel, swap.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" y="2435870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2208276"/>
            <a:ext cx="11000232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2230"/>
                </a:solidFill>
                <a:latin typeface="Calibri Light"/>
              </a:rPr>
              <a:t>2. Descargar el software desde el sitio oficial del fabricante y verificar el checksum (SHA256).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" y="3034802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807208"/>
            <a:ext cx="11000232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2230"/>
                </a:solidFill>
                <a:latin typeface="Calibri Light"/>
              </a:rPr>
              <a:t>3. Establecer las variables de ambiente:  ORACLE_BASE, ORACLE_HOME, ORACLE_SID, PATH.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" y="3633734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3406140"/>
            <a:ext cx="11000232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2230"/>
                </a:solidFill>
                <a:latin typeface="Calibri Light"/>
              </a:rPr>
              <a:t>4. Ejecutar el instalador (OUI para Oracle / apt o yum para MySQL y PostgreSQL).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" y="4232666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4005072"/>
            <a:ext cx="11000232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2230"/>
                </a:solidFill>
                <a:latin typeface="Calibri Light"/>
              </a:rPr>
              <a:t>5. Seleccionar tipo de instalación, directorio destino y componentes requeridos.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6" y="4831598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4604004"/>
            <a:ext cx="11000232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2230"/>
                </a:solidFill>
                <a:latin typeface="Calibri Light"/>
              </a:rPr>
              <a:t>6. Verificar prerequisitos automáticamente; corregir advertencias antes de continuar.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" y="5430530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5202936"/>
            <a:ext cx="11000232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2230"/>
                </a:solidFill>
                <a:latin typeface="Calibri Light"/>
              </a:rPr>
              <a:t>7. Completar la instalación y ejecutar scripts de root post-instalación (root.sh en Oracle).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56" y="6029462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5801868"/>
            <a:ext cx="11000232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2230"/>
                </a:solidFill>
                <a:latin typeface="Calibri Light"/>
              </a:rPr>
              <a:t>8. Aplicar parches de seguridad (PSU/RU) recomendados por el fabricante.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61872"/>
            <a:ext cx="12188952" cy="54864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20116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2.7 Procedimiento para Configuración del SGBD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17352" y="65105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46E7A"/>
                </a:solidFill>
                <a:latin typeface="Calibri Light"/>
              </a:rPr>
              <a:t>13  /  21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" y="1609344"/>
            <a:ext cx="64008" cy="4791456"/>
          </a:xfrm>
          <a:prstGeom prst="rect">
            <a:avLst/>
          </a:prstGeom>
          <a:solidFill>
            <a:srgbClr val="16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6" y="1869451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609344"/>
            <a:ext cx="11000232" cy="684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62230"/>
                </a:solidFill>
                <a:latin typeface="Calibri Light"/>
              </a:rPr>
              <a:t>Crear la base de datos con DBCA (Database Configuration Assistant) en Oracle.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" y="2553945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2293837"/>
            <a:ext cx="11000232" cy="684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62230"/>
                </a:solidFill>
                <a:latin typeface="Calibri Light"/>
              </a:rPr>
              <a:t>Configurar el Listener de red con NETCA y verificar conectividad: tnsping, sqlplus.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" y="3238439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978331"/>
            <a:ext cx="11000232" cy="684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62230"/>
                </a:solidFill>
                <a:latin typeface="Calibri Light"/>
              </a:rPr>
              <a:t>Configurar tablespaces: SYSTEM, SYSAUX, TEMP, UNDO y tablespaces de usuario.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" y="3922932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3662825"/>
            <a:ext cx="11000232" cy="684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62230"/>
                </a:solidFill>
                <a:latin typeface="Calibri Light"/>
              </a:rPr>
              <a:t>Crear usuarios con privilegios mínimos necesarios (principio de menor privilegio).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" y="4607426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4347318"/>
            <a:ext cx="11000232" cy="684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62230"/>
                </a:solidFill>
                <a:latin typeface="Calibri Light"/>
              </a:rPr>
              <a:t>Ajustar parámetros de inicialización: memoria (SGA/PGA), procesos, charset, NLS.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6" y="5291920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5031812"/>
            <a:ext cx="11000232" cy="684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62230"/>
                </a:solidFill>
                <a:latin typeface="Calibri Light"/>
              </a:rPr>
              <a:t>Habilitar modo ARCHIVELOG para recuperación completa ante fallos de medios.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" y="5976413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5716306"/>
            <a:ext cx="11000232" cy="684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62230"/>
                </a:solidFill>
                <a:latin typeface="Calibri Light"/>
              </a:rPr>
              <a:t>Configurar backup automático con RMAN y establecer política de retención.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61872"/>
            <a:ext cx="12188952" cy="54864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20116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2.8 Comandos de Alta y Baja del SGBD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17352" y="65105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46E7A"/>
                </a:solidFill>
                <a:latin typeface="Calibri Light"/>
              </a:rPr>
              <a:t>14  / 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545336"/>
            <a:ext cx="110002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2230"/>
                </a:solidFill>
                <a:latin typeface="Calibri Light"/>
              </a:rPr>
              <a:t>Secuencia de inicio de Oracle (sqlplus / as sysdba):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57400"/>
            <a:ext cx="11457432" cy="4325112"/>
          </a:xfrm>
          <a:prstGeom prst="rect">
            <a:avLst/>
          </a:prstGeom>
          <a:solidFill>
            <a:srgbClr val="1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2203704"/>
            <a:ext cx="10872216" cy="273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A523"/>
                </a:solidFill>
                <a:latin typeface="Courier New"/>
              </a:rPr>
              <a:t>$ sqlplus / as sysdba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477414"/>
            <a:ext cx="10872216" cy="273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2751124"/>
            <a:ext cx="10872216" cy="273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96A"/>
                </a:solidFill>
                <a:latin typeface="Courier New"/>
              </a:rPr>
              <a:t>-- INICIO PASO A PASO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024835"/>
            <a:ext cx="10872216" cy="273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A523"/>
                </a:solidFill>
                <a:latin typeface="Courier New"/>
              </a:rPr>
              <a:t>SQL&gt; STARTUP NOMOUNT    -- Carga la instancia, lee el SPFILE/PFILE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298545"/>
            <a:ext cx="10872216" cy="273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A523"/>
                </a:solidFill>
                <a:latin typeface="Courier New"/>
              </a:rPr>
              <a:t>SQL&gt; STARTUP MOUNT      -- Monta la BD, abre los archivos de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72256"/>
            <a:ext cx="10872216" cy="273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F5A523"/>
                </a:solidFill>
                <a:latin typeface="Courier New"/>
              </a:rPr>
              <a:t>SQL&gt; ALTER DATABASE OPEN;  -- Abre la BD para </a:t>
            </a:r>
            <a:r>
              <a:rPr sz="1100" b="0" i="0" dirty="0" err="1">
                <a:solidFill>
                  <a:srgbClr val="F5A523"/>
                </a:solidFill>
                <a:latin typeface="Courier New"/>
              </a:rPr>
              <a:t>uso</a:t>
            </a:r>
            <a:r>
              <a:rPr sz="1100" b="0" i="0" dirty="0">
                <a:solidFill>
                  <a:srgbClr val="F5A523"/>
                </a:solidFill>
                <a:latin typeface="Courier New"/>
              </a:rPr>
              <a:t> normal de </a:t>
            </a:r>
            <a:r>
              <a:rPr sz="1100" b="0" i="0" dirty="0" err="1">
                <a:solidFill>
                  <a:srgbClr val="F5A523"/>
                </a:solidFill>
                <a:latin typeface="Courier New"/>
              </a:rPr>
              <a:t>usuarios</a:t>
            </a:r>
            <a:endParaRPr sz="1100" b="0" i="0" dirty="0">
              <a:solidFill>
                <a:srgbClr val="F5A523"/>
              </a:solidFill>
              <a:latin typeface="Courier New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8368" y="3845966"/>
            <a:ext cx="10872216" cy="273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4119676"/>
            <a:ext cx="10872216" cy="273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96A"/>
                </a:solidFill>
                <a:latin typeface="Courier New"/>
              </a:rPr>
              <a:t>-- INICIO DIRECTO (equivale a los tres pasos anteriores)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393387"/>
            <a:ext cx="10872216" cy="273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A523"/>
                </a:solidFill>
                <a:latin typeface="Courier New"/>
              </a:rPr>
              <a:t>SQL&gt; STARTUP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667097"/>
            <a:ext cx="10872216" cy="273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" y="4940808"/>
            <a:ext cx="10872216" cy="273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96A"/>
                </a:solidFill>
                <a:latin typeface="Courier New"/>
              </a:rPr>
              <a:t>-- PARADA DE LA BASE DE DATOS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214518"/>
            <a:ext cx="10872216" cy="273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A523"/>
                </a:solidFill>
                <a:latin typeface="Courier New"/>
              </a:rPr>
              <a:t>SQL&gt; SHUTDOWN NORMAL        -- Espera que todos los usuarios se desconecten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488228"/>
            <a:ext cx="10872216" cy="273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A523"/>
                </a:solidFill>
                <a:latin typeface="Courier New"/>
              </a:rPr>
              <a:t>SQL&gt; SHUTDOWN IMMEDIATE     -- Cierra sesiones activas; más usado en producción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761939"/>
            <a:ext cx="10872216" cy="273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A523"/>
                </a:solidFill>
                <a:latin typeface="Courier New"/>
              </a:rPr>
              <a:t>SQL&gt; SHUTDOWN TRANSACTIONAL -- Espera a que terminen las transacciones activas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035649"/>
            <a:ext cx="10872216" cy="273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A523"/>
                </a:solidFill>
                <a:latin typeface="Courier New"/>
              </a:rPr>
              <a:t>SQL&gt; SHUTDOWN ABORT         -- Parada de emergencia (requiere recuperación al inicio)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61872"/>
            <a:ext cx="12188952" cy="54864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20116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2.8 Comandos de Alta y Baja — Linux / MySQL / PostgreSQL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17352" y="65105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46E7A"/>
                </a:solidFill>
                <a:latin typeface="Calibri Light"/>
              </a:rPr>
              <a:t>15  / 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545336"/>
            <a:ext cx="110002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2230"/>
                </a:solidFill>
                <a:latin typeface="Calibri Light"/>
              </a:rPr>
              <a:t>Control del Listener de Oracle y otros SGBD: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57400"/>
            <a:ext cx="11457432" cy="4325112"/>
          </a:xfrm>
          <a:prstGeom prst="rect">
            <a:avLst/>
          </a:prstGeom>
          <a:solidFill>
            <a:srgbClr val="1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2203704"/>
            <a:ext cx="10872216" cy="273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96A"/>
                </a:solidFill>
                <a:latin typeface="Courier New"/>
              </a:rPr>
              <a:t>-- LISTENER DE RED (Oracle)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477414"/>
            <a:ext cx="10872216" cy="273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A523"/>
                </a:solidFill>
                <a:latin typeface="Courier New"/>
              </a:rPr>
              <a:t>$ lsnrctl start           # Inicia el listener (puerto 1521)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751124"/>
            <a:ext cx="10872216" cy="273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A523"/>
                </a:solidFill>
                <a:latin typeface="Courier New"/>
              </a:rPr>
              <a:t>$ lsnrctl stop            # Detiene el listener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024835"/>
            <a:ext cx="10872216" cy="273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A523"/>
                </a:solidFill>
                <a:latin typeface="Courier New"/>
              </a:rPr>
              <a:t>$ lsnrctl status          # Muestra estado, servicios registrados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298545"/>
            <a:ext cx="10872216" cy="273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3572256"/>
            <a:ext cx="10872216" cy="273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96A"/>
                </a:solidFill>
                <a:latin typeface="Courier New"/>
              </a:rPr>
              <a:t>-- MySQL / MariaDB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45966"/>
            <a:ext cx="10872216" cy="273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A523"/>
                </a:solidFill>
                <a:latin typeface="Courier New"/>
              </a:rPr>
              <a:t>$ systemctl start  mysql  # Inicia el servicio MySQL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119676"/>
            <a:ext cx="10872216" cy="273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A523"/>
                </a:solidFill>
                <a:latin typeface="Courier New"/>
              </a:rPr>
              <a:t>$ systemctl stop   mysql  # Detiene el servicio MySQL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393387"/>
            <a:ext cx="10872216" cy="273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A523"/>
                </a:solidFill>
                <a:latin typeface="Courier New"/>
              </a:rPr>
              <a:t>$ systemctl status mysql  # Verifica el estado del servicio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667097"/>
            <a:ext cx="10872216" cy="273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A523"/>
                </a:solidFill>
                <a:latin typeface="Courier New"/>
              </a:rPr>
              <a:t>$ mysqladmin -u root -p shutdown   # Parada controlada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940808"/>
            <a:ext cx="10872216" cy="273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" y="5214518"/>
            <a:ext cx="10872216" cy="273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996A"/>
                </a:solidFill>
                <a:latin typeface="Courier New"/>
              </a:rPr>
              <a:t>-- PostgreSQL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488228"/>
            <a:ext cx="10872216" cy="273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A523"/>
                </a:solidFill>
                <a:latin typeface="Courier New"/>
              </a:rPr>
              <a:t>$ pg_ctlcluster 15 main start     # Inicia el cluster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761939"/>
            <a:ext cx="10872216" cy="273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A523"/>
                </a:solidFill>
                <a:latin typeface="Courier New"/>
              </a:rPr>
              <a:t>$ pg_ctlcluster 15 main stop      # Detiene el cluster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035649"/>
            <a:ext cx="10872216" cy="273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A523"/>
                </a:solidFill>
                <a:latin typeface="Courier New"/>
              </a:rPr>
              <a:t>$ pg_ctlcluster 15 main status    # Estado del cluster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91440" cy="6858000"/>
          </a:xfrm>
          <a:prstGeom prst="rect">
            <a:avLst/>
          </a:prstGeom>
          <a:solidFill>
            <a:srgbClr val="16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Conclusión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3808476" y="1024128"/>
            <a:ext cx="4572000" cy="45720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30352" y="1463040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207008"/>
            <a:ext cx="10908792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A523"/>
                </a:solidFill>
                <a:latin typeface="Calibri"/>
              </a:rPr>
              <a:t>La arquitectura del SGBD </a:t>
            </a:r>
            <a:r>
              <a:rPr sz="1500" b="0">
                <a:solidFill>
                  <a:srgbClr val="FFFFFF"/>
                </a:solidFill>
                <a:latin typeface="Calibri"/>
              </a:rPr>
              <a:t>comprende capas de memoria (SGA/PGA), procesos background y archivos físicos que trabajan en conjunto para garantizar integridad, concurrencia y disponibilidad de los datos.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2724912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2468880"/>
            <a:ext cx="10908792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A523"/>
                </a:solidFill>
                <a:latin typeface="Calibri"/>
              </a:rPr>
              <a:t>Una instalación correcta </a:t>
            </a:r>
            <a:r>
              <a:rPr sz="1500" b="0">
                <a:solidFill>
                  <a:srgbClr val="FFFFFF"/>
                </a:solidFill>
                <a:latin typeface="Calibri"/>
              </a:rPr>
              <a:t>requiere preparación del sistema operativo, configuración de variables de ambiente y seguimiento riguroso de procedimientos documentados por el fabricante.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3986784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3730752"/>
            <a:ext cx="10908792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A523"/>
                </a:solidFill>
                <a:latin typeface="Calibri"/>
              </a:rPr>
              <a:t>La configuración adecuada </a:t>
            </a:r>
            <a:r>
              <a:rPr sz="1500" b="0">
                <a:solidFill>
                  <a:srgbClr val="FFFFFF"/>
                </a:solidFill>
                <a:latin typeface="Calibri"/>
              </a:rPr>
              <a:t>del SGBD es fundamental para el rendimiento, seguridad y alta disponibilidad del sistema de información en entornos de producción.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" y="5248656"/>
            <a:ext cx="82296" cy="82296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4992624"/>
            <a:ext cx="10908792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A523"/>
                </a:solidFill>
                <a:latin typeface="Calibri"/>
              </a:rPr>
              <a:t>El dominio de los comandos de alta y baja </a:t>
            </a:r>
            <a:r>
              <a:rPr sz="1500" b="0">
                <a:solidFill>
                  <a:srgbClr val="FFFFFF"/>
                </a:solidFill>
                <a:latin typeface="Calibri"/>
              </a:rPr>
              <a:t>es competencia esencial del DBA; permite controlar el ciclo de vida de la instancia de forma segura, protegiendo la integridad transaccional.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817352" y="65105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46E7A"/>
                </a:solidFill>
                <a:latin typeface="Calibri Light"/>
              </a:rPr>
              <a:t>16  / 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0A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61872"/>
            <a:ext cx="12188952" cy="54864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20116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Fuentes de Información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17352" y="65105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46E7A"/>
                </a:solidFill>
                <a:latin typeface="Calibri Light"/>
              </a:rPr>
              <a:t>17  /  21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" y="1591056"/>
            <a:ext cx="64008" cy="4809744"/>
          </a:xfrm>
          <a:prstGeom prst="rect">
            <a:avLst/>
          </a:prstGeom>
          <a:solidFill>
            <a:srgbClr val="16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75488" y="1847088"/>
            <a:ext cx="73152" cy="73152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1591056"/>
            <a:ext cx="1100023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162230"/>
                </a:solidFill>
                <a:latin typeface="Calibri Light"/>
              </a:rPr>
              <a:t>Oracle Corporation. (2023). Oracle Database 19c Database Concepts. Oracle Help Center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2514600"/>
            <a:ext cx="73152" cy="73152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2258568"/>
            <a:ext cx="1100023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2230"/>
                </a:solidFill>
                <a:latin typeface="Calibri Light"/>
              </a:rPr>
              <a:t>Silberschatz, A., Korth, H. F., &amp; Sudarshan, S. (2019). Database System Concepts (7ª ed.). McGraw-Hill Education.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3182112"/>
            <a:ext cx="73152" cy="73152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2926080"/>
            <a:ext cx="1100023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 err="1">
                <a:solidFill>
                  <a:srgbClr val="162230"/>
                </a:solidFill>
                <a:latin typeface="Calibri Light"/>
              </a:rPr>
              <a:t>Elmasri</a:t>
            </a:r>
            <a:r>
              <a:rPr sz="1300" b="0" i="0" dirty="0">
                <a:solidFill>
                  <a:srgbClr val="162230"/>
                </a:solidFill>
                <a:latin typeface="Calibri Light"/>
              </a:rPr>
              <a:t>, R., &amp; Navathe, S. B. (2015). </a:t>
            </a:r>
            <a:r>
              <a:rPr sz="1300" b="0" i="0">
                <a:solidFill>
                  <a:srgbClr val="162230"/>
                </a:solidFill>
                <a:latin typeface="Calibri Light"/>
              </a:rPr>
              <a:t>Fundamentals of Database Systems (7ª ed.). </a:t>
            </a:r>
            <a:r>
              <a:rPr sz="1300" b="0" i="0" dirty="0">
                <a:solidFill>
                  <a:srgbClr val="162230"/>
                </a:solidFill>
                <a:latin typeface="Calibri Light"/>
              </a:rPr>
              <a:t>Pearson Education.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" y="3849624"/>
            <a:ext cx="73152" cy="73152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3593592"/>
            <a:ext cx="1100023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 dirty="0">
                <a:solidFill>
                  <a:srgbClr val="162230"/>
                </a:solidFill>
                <a:latin typeface="Calibri Light"/>
              </a:rPr>
              <a:t>PostgreSQL Global Development Group. (2023). PostgreSQL 15 Documentation.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" y="4517136"/>
            <a:ext cx="73152" cy="73152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" y="4261104"/>
            <a:ext cx="1100023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162230"/>
                </a:solidFill>
                <a:latin typeface="Calibri Light"/>
              </a:rPr>
              <a:t>Oracle / MySQL AB. (2023). MySQL 8.0 Reference Manual. 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" y="5184648"/>
            <a:ext cx="73152" cy="73152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" y="4928616"/>
            <a:ext cx="1100023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2230"/>
                </a:solidFill>
                <a:latin typeface="Calibri Light"/>
              </a:rPr>
              <a:t>Bryla, B., &amp; Loney, K. (2020). Oracle Database 12c DBA Handbook. Oracle Press / McGraw-Hill.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" y="5852160"/>
            <a:ext cx="73152" cy="73152"/>
          </a:xfrm>
          <a:prstGeom prst="rect">
            <a:avLst/>
          </a:prstGeom>
          <a:solidFill>
            <a:srgbClr val="F5A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" y="5596128"/>
            <a:ext cx="1100023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162230"/>
                </a:solidFill>
                <a:latin typeface="Calibri Light"/>
              </a:rPr>
              <a:t>Date, C. J. (2003). An Introduction to Database Systems (8ª ed.). Addison-Wesley.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1964</Words>
  <Application>Microsoft Office PowerPoint</Application>
  <PresentationFormat>Personalizado</PresentationFormat>
  <Paragraphs>207</Paragraphs>
  <Slides>17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5" baseType="lpstr">
      <vt:lpstr>-apple-system</vt:lpstr>
      <vt:lpstr>Aptos</vt:lpstr>
      <vt:lpstr>Arial</vt:lpstr>
      <vt:lpstr>Calibri</vt:lpstr>
      <vt:lpstr>Calibri Light</vt:lpstr>
      <vt:lpstr>Courier New</vt:lpstr>
      <vt:lpstr>Montserrat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amaury rokete</cp:lastModifiedBy>
  <cp:revision>2</cp:revision>
  <dcterms:created xsi:type="dcterms:W3CDTF">2013-01-27T09:14:16Z</dcterms:created>
  <dcterms:modified xsi:type="dcterms:W3CDTF">2026-05-30T05:15:57Z</dcterms:modified>
  <cp:category/>
</cp:coreProperties>
</file>