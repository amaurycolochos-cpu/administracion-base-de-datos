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5" r:id="rId17"/>
    <p:sldId id="276" r:id="rId18"/>
    <p:sldId id="279" r:id="rId19"/>
    <p:sldId id="277" r:id="rId2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D12A0-FE4D-4D61-A54E-8E18C31DAB4E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A99D09-7936-4C63-9673-388ACC15809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73746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maurycolochos-cpu/ADMINISTRACION-BASE-DE-DATOS/tree/master/UNIDAD%204/abd-microservicios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814" y="161905"/>
            <a:ext cx="1461833" cy="1049220"/>
          </a:xfrm>
          <a:custGeom>
            <a:avLst/>
            <a:gdLst/>
            <a:ahLst/>
            <a:cxnLst/>
            <a:rect l="l" t="t" r="r" b="b"/>
            <a:pathLst>
              <a:path w="2193321" h="1574239">
                <a:moveTo>
                  <a:pt x="0" y="0"/>
                </a:moveTo>
                <a:lnTo>
                  <a:pt x="2193321" y="0"/>
                </a:lnTo>
                <a:lnTo>
                  <a:pt x="2193321" y="1574238"/>
                </a:lnTo>
                <a:lnTo>
                  <a:pt x="0" y="1574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9715388" y="119052"/>
            <a:ext cx="2334759" cy="1025318"/>
          </a:xfrm>
          <a:custGeom>
            <a:avLst/>
            <a:gdLst/>
            <a:ahLst/>
            <a:cxnLst/>
            <a:rect l="l" t="t" r="r" b="b"/>
            <a:pathLst>
              <a:path w="3503050" h="1538377">
                <a:moveTo>
                  <a:pt x="0" y="0"/>
                </a:moveTo>
                <a:lnTo>
                  <a:pt x="3503050" y="0"/>
                </a:lnTo>
                <a:lnTo>
                  <a:pt x="3503050" y="1538377"/>
                </a:lnTo>
                <a:lnTo>
                  <a:pt x="0" y="15383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3356648" y="612665"/>
            <a:ext cx="5475529" cy="86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TECNOLÓGICO NACIONAL DE MÉXICO</a:t>
            </a:r>
          </a:p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UNIDAD ACADÉMICA VENUSTIANO CARRANZA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44275" y="1443749"/>
            <a:ext cx="9497126" cy="571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“INGENIERÍA EN SISTEMAS COMPUTACIONALES”</a:t>
            </a:r>
          </a:p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ADMINISTRACION DE BASE DE DATOS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85405" y="2293085"/>
            <a:ext cx="7429984" cy="541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ACTIVIDAD </a:t>
            </a:r>
          </a:p>
          <a:p>
            <a:pPr algn="ctr"/>
            <a:r>
              <a:rPr lang="es-MX" sz="1600" b="1" dirty="0">
                <a:latin typeface="-apple-system"/>
              </a:rPr>
              <a:t>ACTIVIDAD 4.2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73956" y="3132126"/>
            <a:ext cx="2437765" cy="2766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RPESENTA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99567" y="4815497"/>
            <a:ext cx="6094413" cy="571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DOCENTE</a:t>
            </a:r>
          </a:p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ING. FRANCISCO JAVIER MINGO VELAZQUEZ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29401" y="6083702"/>
            <a:ext cx="8339464" cy="2766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29 DE MAYO DE 2026 VENUSTIANO CARRANZA, CHIAPAS</a:t>
            </a: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323F15EB-498F-21AC-540F-B4832C9E5A89}"/>
              </a:ext>
            </a:extLst>
          </p:cNvPr>
          <p:cNvGraphicFramePr>
            <a:graphicFrameLocks noGrp="1"/>
          </p:cNvGraphicFramePr>
          <p:nvPr/>
        </p:nvGraphicFramePr>
        <p:xfrm>
          <a:off x="3656647" y="3803787"/>
          <a:ext cx="5484972" cy="670386"/>
        </p:xfrm>
        <a:graphic>
          <a:graphicData uri="http://schemas.openxmlformats.org/drawingml/2006/table">
            <a:tbl>
              <a:tblPr/>
              <a:tblGrid>
                <a:gridCol w="2742486">
                  <a:extLst>
                    <a:ext uri="{9D8B030D-6E8A-4147-A177-3AD203B41FA5}">
                      <a16:colId xmlns:a16="http://schemas.microsoft.com/office/drawing/2014/main" val="3099188907"/>
                    </a:ext>
                  </a:extLst>
                </a:gridCol>
                <a:gridCol w="2742486">
                  <a:extLst>
                    <a:ext uri="{9D8B030D-6E8A-4147-A177-3AD203B41FA5}">
                      <a16:colId xmlns:a16="http://schemas.microsoft.com/office/drawing/2014/main" val="3475046580"/>
                    </a:ext>
                  </a:extLst>
                </a:gridCol>
              </a:tblGrid>
              <a:tr h="335193">
                <a:tc>
                  <a:txBody>
                    <a:bodyPr/>
                    <a:lstStyle/>
                    <a:p>
                      <a:r>
                        <a:rPr lang="es-MX" sz="1200" b="1">
                          <a:effectLst/>
                        </a:rPr>
                        <a:t>NOMBRE DEL ALUMNO</a:t>
                      </a:r>
                    </a:p>
                  </a:txBody>
                  <a:tcPr marL="60944" marR="60944" marT="30472" marB="30472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>
                          <a:effectLst/>
                        </a:rPr>
                        <a:t>MATRICULA</a:t>
                      </a:r>
                    </a:p>
                  </a:txBody>
                  <a:tcPr marL="60944" marR="60944" marT="30472" marB="30472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815266"/>
                  </a:ext>
                </a:extLst>
              </a:tr>
              <a:tr h="335193">
                <a:tc>
                  <a:txBody>
                    <a:bodyPr/>
                    <a:lstStyle/>
                    <a:p>
                      <a:r>
                        <a:rPr lang="es-MX" sz="1200" b="1">
                          <a:effectLst/>
                        </a:rPr>
                        <a:t>Amaury Jahaziel Gordillo Hernandez</a:t>
                      </a:r>
                    </a:p>
                  </a:txBody>
                  <a:tcPr marL="60944" marR="60944" marT="30472" marB="30472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 dirty="0">
                          <a:effectLst/>
                        </a:rPr>
                        <a:t>231260074</a:t>
                      </a:r>
                    </a:p>
                  </a:txBody>
                  <a:tcPr marL="60944" marR="60944" marT="30472" marB="30472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113360"/>
                  </a:ext>
                </a:extLst>
              </a:tr>
            </a:tbl>
          </a:graphicData>
        </a:graphic>
      </p:graphicFrame>
      <p:sp>
        <p:nvSpPr>
          <p:cNvPr id="12" name="Rectangle 1">
            <a:extLst>
              <a:ext uri="{FF2B5EF4-FFF2-40B4-BE49-F238E27FC236}">
                <a16:creationId xmlns:a16="http://schemas.microsoft.com/office/drawing/2014/main" id="{04D78428-F81B-1E82-50A7-BDB098FC5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6647" y="3681028"/>
            <a:ext cx="123143" cy="246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0944" tIns="30472" rIns="60944" bIns="30472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Índice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5156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01  Introducción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02  Objetivo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03  Justificación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04  Arquitectura de microservicios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05  Niveles de logging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06  Tipos de logs utilizados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07  Configuración de logs – Microservicio Student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08  Validación de logs – Student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09  Validación conexión con MySQL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10  Detección de errores – Student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05156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11  Verificación funcionamiento – Student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12  Configuración de logs – Microservicio Course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13  Validación de logs – Course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14  Validación conexión con MySQL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15  Detección de errores – Course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16  Verificación funcionamiento – Course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17  Monitoreo de consultas SQL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18  Comunicación entre microservicios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19  Conclusión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20  Fuentes de información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051560"/>
            <a:ext cx="27432" cy="5029200"/>
          </a:xfrm>
          <a:prstGeom prst="rect">
            <a:avLst/>
          </a:prstGeom>
          <a:solidFill>
            <a:srgbClr val="BB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Introducción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005840"/>
            <a:ext cx="64008" cy="3474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005840"/>
            <a:ext cx="10789920" cy="2913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500" b="0" dirty="0">
                <a:solidFill>
                  <a:srgbClr val="1A1A2E"/>
                </a:solidFill>
                <a:latin typeface="Calibri"/>
              </a:rPr>
              <a:t>Los logs son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registros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generados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automáticamente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por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las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aplicaciones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para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monitorear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el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funcionamiento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del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sistema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.</a:t>
            </a:r>
          </a:p>
          <a:p>
            <a:pPr algn="l">
              <a:spcBef>
                <a:spcPts val="500"/>
              </a:spcBef>
            </a:pPr>
            <a:endParaRPr sz="1500" b="0" dirty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500"/>
              </a:spcBef>
            </a:pPr>
            <a:r>
              <a:rPr sz="1500" b="0" dirty="0">
                <a:solidFill>
                  <a:srgbClr val="1A1A2E"/>
                </a:solidFill>
                <a:latin typeface="Calibri"/>
              </a:rPr>
              <a:t>En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arquitecturas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microservicios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desarrolladas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con Spring Boot,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los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logs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permiten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validar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:</a:t>
            </a:r>
          </a:p>
          <a:p>
            <a:pPr algn="l">
              <a:spcBef>
                <a:spcPts val="500"/>
              </a:spcBef>
            </a:pPr>
            <a:r>
              <a:rPr sz="1500" b="0" dirty="0">
                <a:solidFill>
                  <a:srgbClr val="1A1A2E"/>
                </a:solidFill>
                <a:latin typeface="Calibri"/>
              </a:rPr>
              <a:t>  • El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inicio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y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estado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los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servicios</a:t>
            </a:r>
            <a:endParaRPr sz="1500" b="0" dirty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500"/>
              </a:spcBef>
            </a:pPr>
            <a:r>
              <a:rPr sz="1500" b="0" dirty="0">
                <a:solidFill>
                  <a:srgbClr val="1A1A2E"/>
                </a:solidFill>
                <a:latin typeface="Calibri"/>
              </a:rPr>
              <a:t>  • La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conexión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con bases de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datos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(MySQL, MySQL)</a:t>
            </a:r>
          </a:p>
          <a:p>
            <a:pPr algn="l">
              <a:spcBef>
                <a:spcPts val="500"/>
              </a:spcBef>
            </a:pPr>
            <a:r>
              <a:rPr sz="1500" b="0" dirty="0">
                <a:solidFill>
                  <a:srgbClr val="1A1A2E"/>
                </a:solidFill>
                <a:latin typeface="Calibri"/>
              </a:rPr>
              <a:t>  • La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comunicación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entre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microservicios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vía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Eureka Server</a:t>
            </a:r>
          </a:p>
          <a:p>
            <a:pPr algn="l">
              <a:spcBef>
                <a:spcPts val="500"/>
              </a:spcBef>
            </a:pPr>
            <a:r>
              <a:rPr sz="1500" b="0" dirty="0">
                <a:solidFill>
                  <a:srgbClr val="1A1A2E"/>
                </a:solidFill>
                <a:latin typeface="Calibri"/>
              </a:rPr>
              <a:t>  • La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ejecución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peticiones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HTTP y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consultas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SQL</a:t>
            </a:r>
          </a:p>
          <a:p>
            <a:pPr algn="l">
              <a:spcBef>
                <a:spcPts val="500"/>
              </a:spcBef>
            </a:pPr>
            <a:endParaRPr sz="1500" b="0" dirty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500"/>
              </a:spcBef>
            </a:pPr>
            <a:r>
              <a:rPr sz="1500" b="0" dirty="0">
                <a:solidFill>
                  <a:srgbClr val="1A1A2E"/>
                </a:solidFill>
                <a:latin typeface="Calibri"/>
              </a:rPr>
              <a:t>Esta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práctica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fue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desarrollada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en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Visual Studio Code con Spring Boot y Maven,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como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herramienta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principal de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desarrollo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e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implementación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280160"/>
            <a:ext cx="9966960" cy="320040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97280" y="1280160"/>
            <a:ext cx="109728" cy="32004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17320" y="1371600"/>
            <a:ext cx="9326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Objetivo General</a:t>
            </a:r>
          </a:p>
          <a:p>
            <a:pPr algn="l">
              <a:spcBef>
                <a:spcPts val="800"/>
              </a:spcBef>
            </a:pPr>
            <a:endParaRPr sz="1600" b="1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Validar el correcto funcionamiento de los microservicios mediante el monitoreo de logs generados por Spring Boot en VS Code, verificando conexiones con bases de datos, peticiones HTTP y comunicación entre servicios.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664" y="9832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Justificación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005840"/>
            <a:ext cx="64008" cy="4114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005840"/>
            <a:ext cx="10881360" cy="2039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50" b="0" dirty="0">
                <a:solidFill>
                  <a:srgbClr val="1A1A2E"/>
                </a:solidFill>
                <a:latin typeface="Calibri"/>
              </a:rPr>
              <a:t>La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validación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mediante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logs es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una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práctica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esencial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en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el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desarrollo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sistemas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distribuidos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porque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:</a:t>
            </a:r>
          </a:p>
          <a:p>
            <a:pPr algn="l">
              <a:spcBef>
                <a:spcPts val="500"/>
              </a:spcBef>
            </a:pPr>
            <a:endParaRPr sz="1450" b="0" dirty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500"/>
              </a:spcBef>
            </a:pPr>
            <a:r>
              <a:rPr sz="1450" b="0" dirty="0">
                <a:solidFill>
                  <a:srgbClr val="1A1A2E"/>
                </a:solidFill>
                <a:latin typeface="Calibri"/>
              </a:rPr>
              <a:t>  •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Permite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detectar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errores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conexión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,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tiempo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respuesta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y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fallos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servicio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en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tiempo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real.</a:t>
            </a:r>
          </a:p>
          <a:p>
            <a:pPr algn="l">
              <a:spcBef>
                <a:spcPts val="500"/>
              </a:spcBef>
            </a:pPr>
            <a:r>
              <a:rPr sz="1450" b="0" dirty="0">
                <a:solidFill>
                  <a:srgbClr val="1A1A2E"/>
                </a:solidFill>
                <a:latin typeface="Calibri"/>
              </a:rPr>
              <a:t>  •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Facilita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el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análisis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del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comportamiento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interno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cada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microservicio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durante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las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pruebas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funcionales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.</a:t>
            </a:r>
          </a:p>
          <a:p>
            <a:pPr algn="l">
              <a:spcBef>
                <a:spcPts val="500"/>
              </a:spcBef>
            </a:pPr>
            <a:r>
              <a:rPr sz="1450" b="0" dirty="0">
                <a:solidFill>
                  <a:srgbClr val="1A1A2E"/>
                </a:solidFill>
                <a:latin typeface="Calibri"/>
              </a:rPr>
              <a:t>  •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Proporciona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trazabilidad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completa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de las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peticiones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HTTP y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consultas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SQL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generadas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por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Hibernate.</a:t>
            </a:r>
          </a:p>
          <a:p>
            <a:pPr algn="l">
              <a:spcBef>
                <a:spcPts val="500"/>
              </a:spcBef>
            </a:pPr>
            <a:r>
              <a:rPr sz="1450" b="0" dirty="0">
                <a:solidFill>
                  <a:srgbClr val="1A1A2E"/>
                </a:solidFill>
                <a:latin typeface="Calibri"/>
              </a:rPr>
              <a:t>  •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Permite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comprobar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la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integración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correcta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con bases de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datos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relacionales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(MySQL).</a:t>
            </a:r>
          </a:p>
          <a:p>
            <a:pPr algn="l">
              <a:spcBef>
                <a:spcPts val="500"/>
              </a:spcBef>
            </a:pPr>
            <a:endParaRPr sz="1450" b="0" dirty="0">
              <a:solidFill>
                <a:srgbClr val="1A1A2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Arquitectura de Microservicios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241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La práctica fue desarrollada con una arquitectura basada en microservicios usando Spring Boot y Maven en VS Code. El sistema incluye los siguientes servicios independientes: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2011680" cy="14630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2011680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99339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Config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146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DDF0FF"/>
                </a:solidFill>
                <a:latin typeface="Calibri"/>
              </a:rPr>
              <a:t>Centraliza la
configuración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24912" y="1920240"/>
            <a:ext cx="2011680" cy="1463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24912" y="1920240"/>
            <a:ext cx="2011680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24912" y="199339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Eureka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24912" y="25146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DDF0FF"/>
                </a:solidFill>
                <a:latin typeface="Calibri"/>
              </a:rPr>
              <a:t>Registro y
descubrimiento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92624" y="1920240"/>
            <a:ext cx="2011680" cy="146304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992624" y="1920240"/>
            <a:ext cx="2011680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92624" y="199339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API Gateway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92624" y="25146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DDF0FF"/>
                </a:solidFill>
                <a:latin typeface="Calibri"/>
              </a:rPr>
              <a:t>Punto de entrada
único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0336" y="1920240"/>
            <a:ext cx="2011680" cy="1463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260336" y="1920240"/>
            <a:ext cx="2011680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60336" y="199339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Student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0336" y="25146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DDF0FF"/>
                </a:solidFill>
                <a:latin typeface="Calibri"/>
              </a:rPr>
              <a:t>Microservicio
estudiantes + MySQL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28048" y="1920240"/>
            <a:ext cx="2011680" cy="14630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528048" y="1920240"/>
            <a:ext cx="2011680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28048" y="199339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Course 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8048" y="25146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DDF0FF"/>
                </a:solidFill>
                <a:latin typeface="Calibri"/>
              </a:rPr>
              <a:t>Microservicio
cursos + MySQL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87168" y="2423160"/>
            <a:ext cx="219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CD4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2423160"/>
            <a:ext cx="219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CD4"/>
                </a:solidFill>
                <a:latin typeface="Calibri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2592" y="2423160"/>
            <a:ext cx="219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CD4"/>
                </a:solidFill>
                <a:latin typeface="Calibr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0304" y="2423160"/>
            <a:ext cx="219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CD4"/>
                </a:solidFill>
                <a:latin typeface="Calibri"/>
              </a:rPr>
              <a:t>→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6D2AC6E-9A53-B997-EE35-C60304293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696" y="3521524"/>
            <a:ext cx="5699535" cy="32046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Comparación de Niveles de Logging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Los niveles de logging clasifican la información generada por los microservicios para facilitar el monitoreo y detección de errores: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1792224" cy="41148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Nivel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1600200"/>
            <a:ext cx="4078224" cy="41148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68880" y="1600200"/>
            <a:ext cx="3977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Descripción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600200"/>
            <a:ext cx="4809744" cy="41148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1600200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Uso en el proyecto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011680"/>
            <a:ext cx="11247120" cy="62179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011680"/>
            <a:ext cx="1792224" cy="62179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0116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INFO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50592" y="2048256"/>
            <a:ext cx="3977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Información general del ciclo de vida del sistema.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2" y="2048256"/>
            <a:ext cx="4709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55555"/>
                </a:solidFill>
                <a:latin typeface="Calibri"/>
              </a:rPr>
              <a:t>Inicio de microservicios, registro en Eureka, conexion exitosa.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670048"/>
            <a:ext cx="11247120" cy="62179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2670048"/>
            <a:ext cx="1792224" cy="62179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267004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DEBUG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0592" y="2706624"/>
            <a:ext cx="3977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Información detallada para depuración interna.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6832" y="2706624"/>
            <a:ext cx="4709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55555"/>
                </a:solidFill>
                <a:latin typeface="Calibri"/>
              </a:rPr>
              <a:t>Consultas SQL de Hibernate, configuración de HikariCP, JPA.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328416"/>
            <a:ext cx="11247120" cy="62179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3328416"/>
            <a:ext cx="1792224" cy="621792"/>
          </a:xfrm>
          <a:prstGeom prst="rect">
            <a:avLst/>
          </a:prstGeom>
          <a:solidFill>
            <a:srgbClr val="E6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3328416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WARN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50592" y="3364992"/>
            <a:ext cx="3977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Advertencias que no detienen la ejecución.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2" y="3364992"/>
            <a:ext cx="4709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55555"/>
                </a:solidFill>
                <a:latin typeface="Calibri"/>
              </a:rPr>
              <a:t>Reintentos de conexión, timeouts de servicio.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986784"/>
            <a:ext cx="11247120" cy="62179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3986784"/>
            <a:ext cx="1792224" cy="62179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3986784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ERROR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50592" y="4023360"/>
            <a:ext cx="3977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Errores que afectan el funcionamiento del sistema.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56832" y="4023360"/>
            <a:ext cx="4709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55555"/>
                </a:solidFill>
                <a:latin typeface="Calibri"/>
              </a:rPr>
              <a:t>Connection refused, errores 404, fallos en Eureka Server.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Tipos de Logs Utilizados en el Sistema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Los diferentes tipos de logs implementados en Spring Boot permiten monitorear y validar cada capa del sistema distribuido: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627632"/>
            <a:ext cx="2560320" cy="2286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627632"/>
            <a:ext cx="2560320" cy="914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17373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HTTP Logs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2267712"/>
            <a:ext cx="1097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1208" y="2377440"/>
            <a:ext cx="234086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DDF5FF"/>
                </a:solidFill>
                <a:latin typeface="Calibri"/>
              </a:rPr>
              <a:t>Registran peticiones HTTP entrantes/salientes,
métodos (GET/POST), rutas y códigos de respuesta.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1627632"/>
            <a:ext cx="2560320" cy="2286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19272" y="1627632"/>
            <a:ext cx="2560320" cy="914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19272" y="17373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SQL Logs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50792" y="2267712"/>
            <a:ext cx="1097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29000" y="2377440"/>
            <a:ext cx="234086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DDF5FF"/>
                </a:solidFill>
                <a:latin typeface="Calibri"/>
              </a:rPr>
              <a:t>Hibernate muestra las consultas SQL generadas
automáticamente durante las peticiones REST.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7064" y="1627632"/>
            <a:ext cx="2560320" cy="228600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27064" y="1627632"/>
            <a:ext cx="2560320" cy="914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27064" y="17373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Eureka Logs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58584" y="2267712"/>
            <a:ext cx="1097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36792" y="2377440"/>
            <a:ext cx="234086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DDF5FF"/>
                </a:solidFill>
                <a:latin typeface="Calibri"/>
              </a:rPr>
              <a:t>Monitorean el registro, descubrimiento y estado
de los microservicios en el servidor Eureka.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34856" y="1627632"/>
            <a:ext cx="2560320" cy="2286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34856" y="1627632"/>
            <a:ext cx="2560320" cy="914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34856" y="17373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Error Logs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66376" y="2267712"/>
            <a:ext cx="1097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44584" y="2377440"/>
            <a:ext cx="234086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DDF5FF"/>
                </a:solidFill>
                <a:latin typeface="Calibri"/>
              </a:rPr>
              <a:t>Capturan excepciones, fallos de conexión y errores
de comunicación (Connection refused, 404).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Configuración de Logs – Microservicio 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0584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Se configuraron logs en Spring Boot mediante el archivo application.yml, utilizando niveles INFO y DEBUG para monitorear el comportamiento del microservicio Student y validar conexiones, peticiones y procesos internos.</a:t>
            </a:r>
          </a:p>
          <a:p>
            <a:pPr algn="l">
              <a:spcBef>
                <a:spcPts val="500"/>
              </a:spcBef>
            </a:pPr>
            <a:endParaRPr sz="1400" b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Configuración aplicada: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5029200" cy="25603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5029200" cy="256032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application.yml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624328"/>
            <a:ext cx="48006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EF089"/>
                </a:solidFill>
                <a:latin typeface="Calibri"/>
              </a:rPr>
              <a:t>logging:
  level:
    root: INFO
    com.example.student: DEBUG
    org.springframework.web: DEBUG
    org.hibernate.SQL: DEBUG
    org.hibernate.type.descriptor.sql: TRACE
    com.zaxxer.hikari: DEBUG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69C82A1-F2D3-DF39-D092-AA4B0E487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6426" y="2031109"/>
            <a:ext cx="6094412" cy="34267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Validación de Logs en Spring Boot – 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Durante la ejecución del microservicio Student, los logs generados por Spring Boot en la terminal de VS Code permitieron monitorear el inicio de la aplicación y la comunicación con el servidor de configuración.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A487A79-5752-0053-4ED8-C94DC8004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712" y="2136549"/>
            <a:ext cx="6929399" cy="38962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Validación de Conexión con MySQL Mediante 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0584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Los logs permitieron validar la conexion exitosa entre el microservicio Student y la base de datos MySQL. Mediante HikariCP y Hibernate se comprobó la inicialización correcta del pool de conexiones y la configuración de JPA durante la ejecución del sistema.</a:t>
            </a:r>
          </a:p>
          <a:p>
            <a:pPr algn="l">
              <a:spcBef>
                <a:spcPts val="500"/>
              </a:spcBef>
            </a:pPr>
            <a:endParaRPr sz="1350" b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5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Mensajes clave observados en la terminal de VS Code:</a:t>
            </a:r>
          </a:p>
          <a:p>
            <a:pPr algn="l">
              <a:spcBef>
                <a:spcPts val="5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  • HikariPool-1 – Starting: pool inicializando con MySQL</a:t>
            </a:r>
          </a:p>
          <a:p>
            <a:pPr algn="l">
              <a:spcBef>
                <a:spcPts val="5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  • HibernateJpaAutoConfiguration: configuring JPA/EntityManager</a:t>
            </a:r>
          </a:p>
          <a:p>
            <a:pPr algn="l">
              <a:spcBef>
                <a:spcPts val="5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  • Hibernate: create table / alter table...  (inicialización de esquema)</a:t>
            </a:r>
          </a:p>
          <a:p>
            <a:pPr algn="l">
              <a:spcBef>
                <a:spcPts val="5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  • HikariPool-1 – Start completed: conexión establecida exitosamente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2082861-158C-08BB-00E8-F68854919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" y="3687538"/>
            <a:ext cx="12188825" cy="15245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Detección de Errores en Student Mediante 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058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Al detectar errores de comunicación entre el microservicio Student y Eureka Server, la terminal de VS Code mostró mensajes de error que permiten diagnosticar el problema.</a:t>
            </a:r>
          </a:p>
          <a:p>
            <a:pPr algn="l">
              <a:spcBef>
                <a:spcPts val="500"/>
              </a:spcBef>
            </a:pPr>
            <a:endParaRPr sz="1400" b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Los logs registraron mensajes Connection refused, indicando que el servidor Eureka no se encontraba activo o en ejecución en el puerto 8761.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87168"/>
            <a:ext cx="11247120" cy="960120"/>
          </a:xfrm>
          <a:prstGeom prst="rect">
            <a:avLst/>
          </a:prstGeom>
          <a:solidFill>
            <a:srgbClr val="4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5328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555"/>
                </a:solidFill>
                <a:latin typeface="Calibri"/>
              </a:rPr>
              <a:t>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5328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BBBB"/>
                </a:solidFill>
                <a:latin typeface="Calibri"/>
              </a:rPr>
              <a:t>c.n.d.s.EurekaHttpClientUtils - Request execution error: Connection refused (localhost:8761)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529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  <a:latin typeface="Calibri"/>
              </a:rPr>
              <a:t>WARN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85292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C77"/>
                </a:solidFill>
                <a:latin typeface="Calibri"/>
              </a:rPr>
              <a:t>com.netflix.discovery.DiscoveryClient - Failed to connect to Eureka Server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584B64E-DD63-1E52-24E9-4A4102F1A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9341" y="3540429"/>
            <a:ext cx="6584438" cy="32960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Verificación del Funcionamiento – Microservicio 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05840"/>
            <a:ext cx="6583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Se verificó el funcionamiento de los logs configurados mediante la ejecución de la petición GET http://localhost:8090/api/student/all en el navegador.</a:t>
            </a:r>
          </a:p>
          <a:p>
            <a:pPr algn="l">
              <a:spcBef>
                <a:spcPts val="500"/>
              </a:spcBef>
            </a:pPr>
            <a:endParaRPr sz="1300" b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La terminal de VS Code mostró: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  • Procesamiento de la solicitud HTTP y mapeo hacia StudentController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  • Consulta SQL generada automáticamente por Hibernate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  • Respuesta exitosa 200 OK confirmando la correcta comunicación con MySQL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07B636B-1F60-7BB7-73E5-0D84F759A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56" y="3429000"/>
            <a:ext cx="5364044" cy="2509333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A6898F1D-2046-04E1-B3D7-94A9641D8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2" y="2261517"/>
            <a:ext cx="6012443" cy="163943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Configuración de Logs – Microservicio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Se configuraron logs en Spring Boot mediante el archivo application.yml, utilizando niveles INFO y DEBUG para monitorear el comportamiento del microservicio Course y validar conexiones con MySQL y procesos internos.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5029200" cy="2834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920240"/>
            <a:ext cx="5029200" cy="256032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92024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application.yml – course-service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212848"/>
            <a:ext cx="48006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EF089"/>
                </a:solidFill>
                <a:latin typeface="Calibri"/>
              </a:rPr>
              <a:t>logging:
  level:
    root: INFO
    com.example.course: DEBUG
    org.springframework.web: DEBUG
    org.hibernate.SQL: DEBUG
    org.hibernate.type.descriptor.sql: TRACE
    com.zaxxer.hikari: DEBUG
    org.mysql: DEBUG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F02B4FB-2F1B-EEF3-3F0E-80FA1FAB3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6662" y="2300747"/>
            <a:ext cx="6462027" cy="383949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Validación de Logs en Spring Boot –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Durante la ejecución del microservicio Course, los logs generados por Spring Boot en la terminal de VS Code permitieron monitorear el inicio de la aplicación y la comunicación con el servidor de configuración.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DF0B2D5-B47F-61AC-B17A-F09AD6845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258" y="4856706"/>
            <a:ext cx="7304308" cy="185498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6BC92F38-7725-DA67-FA8D-D2F89CC66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705" y="2121356"/>
            <a:ext cx="10510496" cy="26152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Comunicación entre Microservicios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" y="458626"/>
            <a:ext cx="1154887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00BCD4"/>
                </a:solidFill>
                <a:latin typeface="Calibri"/>
              </a:rPr>
              <a:t>Logs de Eureka Server y Spring Cloud Config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058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Los logs generados por Spring Boot en la terminal de VS Code permitieron validar la comunicación entre los microservicios Student y Course mediante Eureka Server y Spring Cloud Config, registrando peticiones HTTP y respuestas exitosas en consola.</a:t>
            </a:r>
          </a:p>
          <a:p>
            <a:pPr algn="l">
              <a:spcBef>
                <a:spcPts val="500"/>
              </a:spcBef>
            </a:pPr>
            <a:endParaRPr sz="1400" b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Mensajes de comunicación inter-servicio observados: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87168"/>
            <a:ext cx="11247120" cy="34747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487168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688"/>
                </a:solidFill>
                <a:latin typeface="Calibri"/>
              </a:rPr>
              <a:t>INFO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87168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Eureka Server – Registered instance: STUDENT/localhost:student:8090 with status 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71216"/>
            <a:ext cx="11247120" cy="34747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871216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688"/>
                </a:solidFill>
                <a:latin typeface="Calibri"/>
              </a:rPr>
              <a:t>INFO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871216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Eureka Server – Registered instance: COURSE/localhost:course:8080 with status 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55264"/>
            <a:ext cx="11247120" cy="34747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255264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C"/>
                </a:solidFill>
                <a:latin typeface="Calibri"/>
              </a:rPr>
              <a:t>INFO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2552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DiscoveryClient - Registering application student with eureka: true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39312"/>
            <a:ext cx="11247120" cy="34747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63931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C"/>
                </a:solidFill>
                <a:latin typeface="Calibri"/>
              </a:rPr>
              <a:t>INFO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639312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DispatcherServlet - Completed initialization in 3 ms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11B5ABE-39B6-ABED-969C-85577D848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17" y="4124267"/>
            <a:ext cx="9832257" cy="240626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Conclusión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005840"/>
            <a:ext cx="64008" cy="4572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005840"/>
            <a:ext cx="10881360" cy="3534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 b="0" dirty="0">
                <a:solidFill>
                  <a:srgbClr val="1A1A2E"/>
                </a:solidFill>
                <a:latin typeface="Calibri"/>
              </a:rPr>
              <a:t>La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implementación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de logs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en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Spring Boot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usando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VS Code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permitió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monitorear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y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validar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el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funcionamiento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completo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los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microservicios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desarrollados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.</a:t>
            </a:r>
          </a:p>
          <a:p>
            <a:pPr algn="l">
              <a:spcBef>
                <a:spcPts val="500"/>
              </a:spcBef>
            </a:pPr>
            <a:endParaRPr sz="1400" b="0" dirty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500"/>
              </a:spcBef>
            </a:pPr>
            <a:r>
              <a:rPr sz="1400" b="0" dirty="0">
                <a:solidFill>
                  <a:srgbClr val="1A1A2E"/>
                </a:solidFill>
                <a:latin typeface="Calibri"/>
              </a:rPr>
              <a:t>Mediante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los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registros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generados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en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la terminal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integrada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de VS Code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fue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posible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:</a:t>
            </a:r>
          </a:p>
          <a:p>
            <a:pPr algn="l">
              <a:spcBef>
                <a:spcPts val="500"/>
              </a:spcBef>
            </a:pPr>
            <a:endParaRPr sz="1400" b="0" dirty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500"/>
              </a:spcBef>
            </a:pPr>
            <a:r>
              <a:rPr sz="1400" b="0" dirty="0">
                <a:solidFill>
                  <a:srgbClr val="1A1A2E"/>
                </a:solidFill>
                <a:latin typeface="Calibri"/>
              </a:rPr>
              <a:t>  ✔ 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Comprobar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conexiones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exitosas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con MySQL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mediante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HikariCP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e Hibernate.</a:t>
            </a:r>
          </a:p>
          <a:p>
            <a:pPr algn="l">
              <a:spcBef>
                <a:spcPts val="500"/>
              </a:spcBef>
            </a:pPr>
            <a:r>
              <a:rPr sz="1400" b="0" dirty="0">
                <a:solidFill>
                  <a:srgbClr val="1A1A2E"/>
                </a:solidFill>
                <a:latin typeface="Calibri"/>
              </a:rPr>
              <a:t>  ✔ 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Detectar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errores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comunicación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con Eureka Server (Connection refused).</a:t>
            </a:r>
          </a:p>
          <a:p>
            <a:pPr algn="l">
              <a:spcBef>
                <a:spcPts val="500"/>
              </a:spcBef>
            </a:pPr>
            <a:r>
              <a:rPr sz="1400" b="0" dirty="0">
                <a:solidFill>
                  <a:srgbClr val="1A1A2E"/>
                </a:solidFill>
                <a:latin typeface="Calibri"/>
              </a:rPr>
              <a:t>  ✔ 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Verificar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la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ejecución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correcta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peticiones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HTTP y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respuestas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200 OK.</a:t>
            </a:r>
          </a:p>
          <a:p>
            <a:pPr algn="l">
              <a:spcBef>
                <a:spcPts val="500"/>
              </a:spcBef>
            </a:pPr>
            <a:r>
              <a:rPr sz="1400" b="0" dirty="0">
                <a:solidFill>
                  <a:srgbClr val="1A1A2E"/>
                </a:solidFill>
                <a:latin typeface="Calibri"/>
              </a:rPr>
              <a:t>  ✔ 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Visualizar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consultas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SQL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generadas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automáticamente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por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Hibernate.</a:t>
            </a:r>
          </a:p>
          <a:p>
            <a:pPr algn="l">
              <a:spcBef>
                <a:spcPts val="500"/>
              </a:spcBef>
            </a:pPr>
            <a:r>
              <a:rPr sz="1400" b="0" dirty="0">
                <a:solidFill>
                  <a:srgbClr val="1A1A2E"/>
                </a:solidFill>
                <a:latin typeface="Calibri"/>
              </a:rPr>
              <a:t>  ✔ 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Confirmar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el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registro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correcto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los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microservicios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en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el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servidor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Eureka.</a:t>
            </a:r>
          </a:p>
          <a:p>
            <a:pPr algn="l">
              <a:spcBef>
                <a:spcPts val="500"/>
              </a:spcBef>
            </a:pPr>
            <a:endParaRPr sz="1400" b="0" dirty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500"/>
              </a:spcBef>
            </a:pPr>
            <a:r>
              <a:rPr sz="1400" b="0" dirty="0">
                <a:solidFill>
                  <a:srgbClr val="1A1A2E"/>
                </a:solidFill>
                <a:latin typeface="Calibri"/>
              </a:rPr>
              <a:t>El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uso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de VS Code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como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entorno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desarrollo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demostró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ser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completamente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funcional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para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el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desarrollo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microservicios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Spring Boot, con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soporte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equivalente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al de IntelliJ IDEA.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56032" y="0"/>
            <a:ext cx="1193292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Repositorio del Proyecto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73152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2651760"/>
            <a:ext cx="11109960" cy="1005840"/>
          </a:xfrm>
          <a:prstGeom prst="rect">
            <a:avLst/>
          </a:prstGeom>
          <a:solidFill>
            <a:srgbClr val="0D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2651760"/>
            <a:ext cx="91440" cy="10058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697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CD4"/>
                </a:solidFill>
                <a:latin typeface="Calibri"/>
              </a:rPr>
              <a:t>Ubicación en el repositorio: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99232"/>
            <a:ext cx="10515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1500" b="1" i="0" dirty="0">
                <a:solidFill>
                  <a:srgbClr val="FFFFFF"/>
                </a:solidFill>
                <a:latin typeface="Calibri"/>
                <a:hlinkClick r:id="rId2"/>
              </a:rPr>
              <a:t>https://github.com/amaurycolochos-cpu/ADMINISTRACION-BASE-DE-DATOS/tree/master/UNIDAD%204/abd-microservicios</a:t>
            </a:r>
            <a:endParaRPr lang="es-MX" sz="1500" b="1" i="0" dirty="0">
              <a:solidFill>
                <a:srgbClr val="FFFFFF"/>
              </a:solidFill>
              <a:latin typeface="Calibri"/>
            </a:endParaRPr>
          </a:p>
          <a:p>
            <a:pPr algn="l"/>
            <a:endParaRPr sz="15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3822191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CD4"/>
                </a:solidFill>
                <a:latin typeface="Calibri"/>
              </a:rPr>
              <a:t>Estructura del proyecto subido: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60520"/>
            <a:ext cx="11109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50" b="0">
                <a:solidFill>
                  <a:srgbClr val="BBDEFF"/>
                </a:solidFill>
                <a:latin typeface="Calibri"/>
              </a:rPr>
              <a:t>abd-microservicios/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BBDEFF"/>
                </a:solidFill>
                <a:latin typeface="Calibri"/>
              </a:rPr>
              <a:t>  ├─ config-server/     → Servidor de configuración centralizada (puerto 8888)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BBDEFF"/>
                </a:solidFill>
                <a:latin typeface="Calibri"/>
              </a:rPr>
              <a:t>  ├─ eureka-server/     → Registro y descubrimiento de servicios (puerto 8761)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BBDEFF"/>
                </a:solidFill>
                <a:latin typeface="Calibri"/>
              </a:rPr>
              <a:t>  ├─ api-gateway/       → Punto de entrada único (puerto 8090)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BBDEFF"/>
                </a:solidFill>
                <a:latin typeface="Calibri"/>
              </a:rPr>
              <a:t>  ├─ student-service/   → Microservicio estudiantes + MySQL (puerto 8080)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BBDEFF"/>
                </a:solidFill>
                <a:latin typeface="Calibri"/>
              </a:rPr>
              <a:t>  ├─ course-service/    → Microservicio cursos + MySQL (puerto 8081)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BBDEFF"/>
                </a:solidFill>
                <a:latin typeface="Calibri"/>
              </a:rPr>
              <a:t>  └─ pom.xml            → Proyecto Maven multi-módulo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Fuentes de Información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64008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64008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856232"/>
            <a:ext cx="64008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542032"/>
            <a:ext cx="64008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227832"/>
            <a:ext cx="64008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3913632"/>
            <a:ext cx="64008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1170432"/>
            <a:ext cx="64008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11704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BDEFF"/>
                </a:solidFill>
                <a:latin typeface="Calibri"/>
              </a:rPr>
              <a:t>LaMalditaProgramadora. (2023, 3 de diciembre). Spring Boot 3 + Log4j2 + Lombok (logs en archivo)
  [Video]. YouTube. https://youtu.be/qYaun41gTN0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1856232"/>
            <a:ext cx="64008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1856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BDEFF"/>
                </a:solidFill>
                <a:latin typeface="Calibri"/>
              </a:rPr>
              <a:t>Morsa Programando. (2022, 8 de septiembre). Aprende Spring Boot de una vez por todas! #2 Logs I
  [Video]. YouTube. https://youtu.be/Jy0bLQE4NfA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542032"/>
            <a:ext cx="64008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25420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 err="1">
                <a:solidFill>
                  <a:srgbClr val="BBDEFF"/>
                </a:solidFill>
                <a:latin typeface="Calibri"/>
              </a:rPr>
              <a:t>Morsa</a:t>
            </a:r>
            <a:r>
              <a:rPr sz="1100" b="0" i="1" dirty="0">
                <a:solidFill>
                  <a:srgbClr val="BBDEFF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BBDEFF"/>
                </a:solidFill>
                <a:latin typeface="Calibri"/>
              </a:rPr>
              <a:t>Programando</a:t>
            </a:r>
            <a:r>
              <a:rPr sz="1100" b="0" i="1" dirty="0">
                <a:solidFill>
                  <a:srgbClr val="BBDEFF"/>
                </a:solidFill>
                <a:latin typeface="Calibri"/>
              </a:rPr>
              <a:t>. (2022, 9 de </a:t>
            </a:r>
            <a:r>
              <a:rPr sz="1100" b="0" i="1" dirty="0" err="1">
                <a:solidFill>
                  <a:srgbClr val="BBDEFF"/>
                </a:solidFill>
                <a:latin typeface="Calibri"/>
              </a:rPr>
              <a:t>septiembre</a:t>
            </a:r>
            <a:r>
              <a:rPr sz="1100" b="0" i="1" dirty="0">
                <a:solidFill>
                  <a:srgbClr val="BBDEFF"/>
                </a:solidFill>
                <a:latin typeface="Calibri"/>
              </a:rPr>
              <a:t>). </a:t>
            </a:r>
            <a:r>
              <a:rPr sz="1100" b="0" i="1" dirty="0" err="1">
                <a:solidFill>
                  <a:srgbClr val="BBDEFF"/>
                </a:solidFill>
                <a:latin typeface="Calibri"/>
              </a:rPr>
              <a:t>Aprende</a:t>
            </a:r>
            <a:r>
              <a:rPr sz="1100" b="0" i="1" dirty="0">
                <a:solidFill>
                  <a:srgbClr val="BBDEFF"/>
                </a:solidFill>
                <a:latin typeface="Calibri"/>
              </a:rPr>
              <a:t> Spring Boot de </a:t>
            </a:r>
            <a:r>
              <a:rPr sz="1100" b="0" i="1" dirty="0" err="1">
                <a:solidFill>
                  <a:srgbClr val="BBDEFF"/>
                </a:solidFill>
                <a:latin typeface="Calibri"/>
              </a:rPr>
              <a:t>una</a:t>
            </a:r>
            <a:r>
              <a:rPr sz="1100" b="0" i="1" dirty="0">
                <a:solidFill>
                  <a:srgbClr val="BBDEFF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BBDEFF"/>
                </a:solidFill>
                <a:latin typeface="Calibri"/>
              </a:rPr>
              <a:t>vez</a:t>
            </a:r>
            <a:r>
              <a:rPr sz="1100" b="0" i="1" dirty="0">
                <a:solidFill>
                  <a:srgbClr val="BBDEFF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BBDEFF"/>
                </a:solidFill>
                <a:latin typeface="Calibri"/>
              </a:rPr>
              <a:t>por</a:t>
            </a:r>
            <a:r>
              <a:rPr sz="1100" b="0" i="1" dirty="0">
                <a:solidFill>
                  <a:srgbClr val="BBDEFF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BBDEFF"/>
                </a:solidFill>
                <a:latin typeface="Calibri"/>
              </a:rPr>
              <a:t>todas</a:t>
            </a:r>
            <a:r>
              <a:rPr sz="1100" b="0" i="1" dirty="0">
                <a:solidFill>
                  <a:srgbClr val="BBDEFF"/>
                </a:solidFill>
                <a:latin typeface="Calibri"/>
              </a:rPr>
              <a:t>! #3 Logs II
  [Video]. YouTube. https://youtu.be/xUvzCDLtXik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227832"/>
            <a:ext cx="64008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32278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BBDEFF"/>
                </a:solidFill>
                <a:latin typeface="Calibri"/>
              </a:rPr>
              <a:t>Spring Boot Reference Documentation. (2024). Logging.
  https://docs.spring.io/spring-boot/docs/current/reference/html/features.html#features.logging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13632"/>
            <a:ext cx="64008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3913632"/>
            <a:ext cx="107899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BBDEFF"/>
                </a:solidFill>
                <a:latin typeface="Calibri"/>
              </a:rPr>
              <a:t>Microsoft. (2024). VS Code – Spring Boot Extension Pack.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1717</Words>
  <Application>Microsoft Office PowerPoint</Application>
  <PresentationFormat>Personalizado</PresentationFormat>
  <Paragraphs>180</Paragraphs>
  <Slides>19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5" baseType="lpstr">
      <vt:lpstr>-apple-system</vt:lpstr>
      <vt:lpstr>Aptos</vt:lpstr>
      <vt:lpstr>Arial</vt:lpstr>
      <vt:lpstr>Calibri</vt:lpstr>
      <vt:lpstr>Montserrat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amaury rokete</cp:lastModifiedBy>
  <cp:revision>7</cp:revision>
  <dcterms:created xsi:type="dcterms:W3CDTF">2013-01-27T09:14:16Z</dcterms:created>
  <dcterms:modified xsi:type="dcterms:W3CDTF">2026-06-01T01:40:05Z</dcterms:modified>
  <cp:category/>
</cp:coreProperties>
</file>