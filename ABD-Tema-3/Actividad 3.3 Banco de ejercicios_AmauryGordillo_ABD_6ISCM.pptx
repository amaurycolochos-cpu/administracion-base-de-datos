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302" y="-8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40582-65E7-4BD2-B32D-F14CE798E59A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F9CE7-ABDB-4C2F-B76D-8BC9D59E5E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1319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aurycolochos-cpu/ADMINISTRACION-BASE-DE-DATOS/tree/master/UNIDAD%202/practica-sgbd-api" TargetMode="External"/><Relationship Id="rId2" Type="http://schemas.openxmlformats.org/officeDocument/2006/relationships/hyperlink" Target="https://github.com/amaurycolochos-cpu/ADMINISTRACION-BASE-DE-DATOS/tree/master/UNIDAD%202/practica-sgbd-api-oracl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14" y="161905"/>
            <a:ext cx="1461833" cy="1049220"/>
          </a:xfrm>
          <a:custGeom>
            <a:avLst/>
            <a:gdLst/>
            <a:ahLst/>
            <a:cxnLst/>
            <a:rect l="l" t="t" r="r" b="b"/>
            <a:pathLst>
              <a:path w="2193321" h="1574239">
                <a:moveTo>
                  <a:pt x="0" y="0"/>
                </a:moveTo>
                <a:lnTo>
                  <a:pt x="2193321" y="0"/>
                </a:lnTo>
                <a:lnTo>
                  <a:pt x="2193321" y="1574238"/>
                </a:lnTo>
                <a:lnTo>
                  <a:pt x="0" y="1574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15388" y="119052"/>
            <a:ext cx="2334759" cy="1025318"/>
          </a:xfrm>
          <a:custGeom>
            <a:avLst/>
            <a:gdLst/>
            <a:ahLst/>
            <a:cxnLst/>
            <a:rect l="l" t="t" r="r" b="b"/>
            <a:pathLst>
              <a:path w="3503050" h="1538377">
                <a:moveTo>
                  <a:pt x="0" y="0"/>
                </a:moveTo>
                <a:lnTo>
                  <a:pt x="3503050" y="0"/>
                </a:lnTo>
                <a:lnTo>
                  <a:pt x="3503050" y="1538377"/>
                </a:lnTo>
                <a:lnTo>
                  <a:pt x="0" y="1538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356648" y="612665"/>
            <a:ext cx="5475529" cy="86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TECNOLÓGICO NACIONAL DE MÉXICO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UNIDAD ACADÉMICA VENUSTIANO CARRANZA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275" y="1443749"/>
            <a:ext cx="9497126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“INGENIERÍA EN SISTEMAS COMPUTACIONALES”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ADMINISTRACION DE BASE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5405" y="2293085"/>
            <a:ext cx="7429984" cy="54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</a:t>
            </a:r>
          </a:p>
          <a:p>
            <a:pPr algn="ctr"/>
            <a:r>
              <a:rPr lang="es-MX" sz="1600" b="1" dirty="0">
                <a:latin typeface="-apple-system"/>
              </a:rPr>
              <a:t>ACTIVIDAD 3.3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73956" y="3132126"/>
            <a:ext cx="2437765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RPESENTA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99567" y="4815497"/>
            <a:ext cx="6094413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DOCENTE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ING. FRANCISCO JAVIER MINGO VELAZQUEZ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9401" y="6083702"/>
            <a:ext cx="8339464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24 DE MAYO DE 2026 VENUSTIANO CARRANZA, CHIAPAS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23F15EB-498F-21AC-540F-B4832C9E5A89}"/>
              </a:ext>
            </a:extLst>
          </p:cNvPr>
          <p:cNvGraphicFramePr>
            <a:graphicFrameLocks noGrp="1"/>
          </p:cNvGraphicFramePr>
          <p:nvPr/>
        </p:nvGraphicFramePr>
        <p:xfrm>
          <a:off x="3656647" y="3803787"/>
          <a:ext cx="5484972" cy="670386"/>
        </p:xfrm>
        <a:graphic>
          <a:graphicData uri="http://schemas.openxmlformats.org/drawingml/2006/table">
            <a:tbl>
              <a:tblPr/>
              <a:tblGrid>
                <a:gridCol w="2742486">
                  <a:extLst>
                    <a:ext uri="{9D8B030D-6E8A-4147-A177-3AD203B41FA5}">
                      <a16:colId xmlns:a16="http://schemas.microsoft.com/office/drawing/2014/main" val="3099188907"/>
                    </a:ext>
                  </a:extLst>
                </a:gridCol>
                <a:gridCol w="2742486">
                  <a:extLst>
                    <a:ext uri="{9D8B030D-6E8A-4147-A177-3AD203B41FA5}">
                      <a16:colId xmlns:a16="http://schemas.microsoft.com/office/drawing/2014/main" val="3475046580"/>
                    </a:ext>
                  </a:extLst>
                </a:gridCol>
              </a:tblGrid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NOMBRE DEL ALUMNO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MATRICULA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15266"/>
                  </a:ext>
                </a:extLst>
              </a:tr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Amaury Jahaziel Gordillo Hernandez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effectLst/>
                        </a:rPr>
                        <a:t>231260074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13360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04D78428-F81B-1E82-50A7-BDB098FC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647" y="3681028"/>
            <a:ext cx="123143" cy="246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0944" tIns="30472" rIns="60944" bIns="30472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Indice General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02/23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840738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85188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Introduccion y Objetivo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368296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" y="2368296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361946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406396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Justificacion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889504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4360" y="2889504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883154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92760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Estado salud MySQL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10712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4360" y="3410712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404362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448812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Estado SGBD MySQL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93192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94360" y="3931920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925570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97002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Crear estudiante MySQL (POST)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453128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94360" y="4453128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4446778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491228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Listar estudiantes MySQL (GET)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974336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94360" y="4974336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4967986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12436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Buscar por ID MySQL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495544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94360" y="5495544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5489194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53364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Actualizar estudiante MySQL (PUT)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1847088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400800" y="1847088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1840738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1885188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Estado salud Oracle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2368296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400800" y="2368296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0" y="2361946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2406396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Estado SGBD Oracle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2889504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400800" y="2889504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0" y="2883154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292760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Crear estudiante Oracle (POST)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3410712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400800" y="3410712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0" y="3404362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3448812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Listar estudiantes Oracle (GET)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393192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400800" y="3931920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0" y="3925570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397002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Buscar por ID Oracle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4453128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400800" y="4453128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0" y="4446778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4491228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Actualizar estudiante Oracle (PUT)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0" y="4974336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400800" y="4974336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0" y="4967986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5012436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Eliminar Oracle / Pruebas Jest MySQL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0" y="5495544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6400800" y="5495544"/>
            <a:ext cx="384048" cy="4572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0800" y="5489194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EJ14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0" y="553364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11827"/>
                </a:solidFill>
                <a:latin typeface="Segoe UI"/>
              </a:rPr>
              <a:t>Pruebas Jest + Supertest Oracle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SECCION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Introduccion y Objetivo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03/23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394960" cy="4434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5394960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563EB"/>
                </a:solidFill>
                <a:latin typeface="Segoe UI Semibold"/>
              </a:rPr>
              <a:t>Introduccion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04288"/>
            <a:ext cx="502920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Este banco de ejercicios documenta las pruebas funcionales realizadas sobre dos microservicios REST desarrollados con Node.js y Express: uno conectado a MySQL y otro a Oracle Database 23ai Free corriendo en Docker.
Las pruebas manuales se ejecutaron con Thunder Client, extension de VSCode equivalente a Postman que permite hacer peticiones HTTP sin salir del editor. Las pruebas automatizadas se realizaron con Jest y Supertest, que es el equivalente a JUnit + Mockito pero para el ecosistema de Node.js.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94960" cy="4434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394960" cy="7315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93852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5A5A"/>
                </a:solidFill>
                <a:latin typeface="Segoe UI Semibold"/>
              </a:rPr>
              <a:t>Objetivo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2342388"/>
            <a:ext cx="237744" cy="237744"/>
          </a:xfrm>
          <a:prstGeom prst="ellipse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3042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291588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Aplicar pruebas funcionales con Thunder Client sobre los endpoints GET, POST, PUT y DELETE en ambos microservicios (MySQL puerto 3000, Oracle puerto 3010).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3622548"/>
            <a:ext cx="237744" cy="237744"/>
          </a:xfrm>
          <a:prstGeom prst="ellipse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5844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571748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Ejecutar pruebas automatizadas con Jest + Supertest para verificar que cada endpoint responde correctamente en condiciones normales y de error (body vacio).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902708"/>
            <a:ext cx="237744" cy="237744"/>
          </a:xfrm>
          <a:prstGeom prst="ellipse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486460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851908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Identificar y documentar las diferencias de comportamiento entre MySQL y Oracle: columnas en mayusculas, SEQUENCE para IDs, pool manual en Oracle,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5A5A"/>
                </a:solidFill>
                <a:latin typeface="Segoe UI Semibold"/>
              </a:rPr>
              <a:t>SECCION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Justificacion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04/23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10972800" cy="4434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72800" cy="7315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93852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Las pruebas de software son fundamentales en el ciclo de desarrollo de cualquier sistema. En microservicios conectados a bases de datos, validar cada endpoint garantiza que la logica del negocio y las consultas SQL funcionan correctamente antes de pasar a produccion. Este banco justifica su realizacion por: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17520"/>
            <a:ext cx="3474720" cy="29260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" y="3017520"/>
            <a:ext cx="3474720" cy="54864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145536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5A5A"/>
                </a:solidFill>
                <a:latin typeface="Segoe UI Semibold"/>
              </a:rPr>
              <a:t>Verificacion de integridad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93592"/>
            <a:ext cx="3200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Las pruebas con Thunder Client confirman que los datos se insertan, consultan, modifican y eliminan correctamente en ambos motores (MySQL y Oracle) respondiendo con los codigos HTTP esperados: 200, 201, 400, 404.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3017520"/>
            <a:ext cx="3474720" cy="29260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53128" y="3017520"/>
            <a:ext cx="3474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3145536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563EB"/>
                </a:solidFill>
                <a:latin typeface="Segoe UI Semibold"/>
              </a:rPr>
              <a:t>Automatizacion con Jest + Supertest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593592"/>
            <a:ext cx="3200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Las pruebas automatizadas documentan el comportamiento esperado de cada endpoint y permiten detectar regresiones inmediatamente al modificar el codigo del microservicio, sin ejecutar las pruebas manualmente cada vez.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3017520"/>
            <a:ext cx="3474720" cy="29260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56448" y="3017520"/>
            <a:ext cx="34747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93608" y="3145536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9488"/>
                </a:solidFill>
                <a:latin typeface="Segoe UI Semibold"/>
              </a:rPr>
              <a:t>Comparacion entre SGBD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593592"/>
            <a:ext cx="3200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Ejecutar las mismas pruebas sobre MySQL y Oracle permite documentar diferencias reales: Oracle devuelve columnas en MAYUSCULAS, usa SEQUENCE para IDs y requiere inicializacion de pool manual antes de cualquier consulta.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EJERCICIO 01 —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Verificar salud del microservicio MySQL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05/23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82132"/>
                </a:solidFill>
                <a:latin typeface="Consolas"/>
              </a:rPr>
              <a:t>http://localhost:3000/api/salud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819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verifica que el microservicio MySQL esta levantado y respondiendo. Este endpoint no consulta la base de datos, solo confirma que el servidor Express esta activo en el puerto 3000.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90288"/>
            <a:ext cx="4800600" cy="20391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9188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Observaciones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013960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Responde 200 OK con campo "estado": "activo".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5416296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34009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No requiere headers ni body en Thunder Client.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5818632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74243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Si Express no esta corriendo: ERR_CONNECTION_REFUSED.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6220968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614476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Es el primer endpoint a probar antes de cualquier CRUD.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FAF95A01-B1DE-E7E4-DBD4-A6D974B15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072" y="2610387"/>
            <a:ext cx="6240775" cy="3509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EJERCICIO 02 —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Consultar estado del SGBD MySQL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06/23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182132"/>
                </a:solidFill>
                <a:latin typeface="Consolas"/>
              </a:rPr>
              <a:t>http://localhost:3000/api/sgbd/estado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819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consulta el estado de la conexion con MySQL. El endpoint ejecuta "SELECT VERSION()" contra el servidor y devuelve la version instalada. Verifica que el pool de mysql2 funciona correctamente.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90288"/>
            <a:ext cx="4800600" cy="20391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9188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Observaciones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013960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Responde 200 con "estado": "conectado" y "version" de MySQL.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5416296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34009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Si MySQL no esta activo, el pool lanza un error y responde 500.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5818632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74243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La version de MySQL es algo como: 8.0.39.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6220968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614476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No modifica datos, es solo lectura.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DA054C9C-FD13-B81A-A6D7-05A7CEA84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9" y="2437353"/>
            <a:ext cx="6263641" cy="35218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6A34A"/>
                </a:solidFill>
                <a:latin typeface="Segoe UI Semibold"/>
              </a:rPr>
              <a:t>EJERCICIO 03 —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Crear nuevo estudiante MySQL (POST)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07/23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182132"/>
                </a:solidFill>
                <a:latin typeface="Consolas"/>
              </a:rPr>
              <a:t>http://localhost:3000/api/estudiantes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6A34A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179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registra un nuevo estudiante en la BD MySQL con un JSON. El endpoint valida que nombre, email y matricula esten presentes antes de insertar. Email y matricula tienen restriccion UNIQUE.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50208"/>
            <a:ext cx="4800600" cy="1013968"/>
          </a:xfrm>
          <a:prstGeom prst="roundRect">
            <a:avLst>
              <a:gd name="adj" fmla="val 5000"/>
            </a:avLst>
          </a:prstGeom>
          <a:solidFill>
            <a:srgbClr val="18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13708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4748B"/>
                </a:solidFill>
                <a:latin typeface="Consolas"/>
              </a:rPr>
              <a:t>Body (JSON):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" y="4151376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dirty="0">
                <a:solidFill>
                  <a:srgbClr val="86EFAC"/>
                </a:solidFill>
                <a:latin typeface="Consolas"/>
              </a:rPr>
              <a:t>{
  "</a:t>
            </a:r>
            <a:r>
              <a:rPr sz="900" b="0" i="0" dirty="0" err="1">
                <a:solidFill>
                  <a:srgbClr val="86EFAC"/>
                </a:solidFill>
                <a:latin typeface="Consolas"/>
              </a:rPr>
              <a:t>nombre</a:t>
            </a:r>
            <a:r>
              <a:rPr sz="900" b="0" i="0" dirty="0">
                <a:solidFill>
                  <a:srgbClr val="86EFAC"/>
                </a:solidFill>
                <a:latin typeface="Consolas"/>
              </a:rPr>
              <a:t>": "Ana Martinez",
  "email": "ana@ejemplo.com",
  "matricula": "21IS001"
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910328"/>
            <a:ext cx="4800600" cy="18318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01192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6A34A"/>
                </a:solidFill>
                <a:latin typeface="Segoe UI Semibold"/>
              </a:rPr>
              <a:t>Observaciones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" y="5334000"/>
            <a:ext cx="73152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257800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Responde 201 Created con el "id" autoincremental generado por MySQL.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" y="5736336"/>
            <a:ext cx="73152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66013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Configurar Content-Type: application/json en Thunder Client.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" y="6138672"/>
            <a:ext cx="73152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606247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Si email o matricula ya existen, responde 409 Conflict.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" y="6541008"/>
            <a:ext cx="73152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646480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Si faltan campos obligatorios, responde 400 Bad Request.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F39EEBA9-97CB-36CE-2142-22BFD3CB4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296" y="2593449"/>
            <a:ext cx="6218440" cy="3496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EJERCICIO 04 —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Listar todos los estudiantes MySQL (GET)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08/23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182132"/>
                </a:solidFill>
                <a:latin typeface="Consolas"/>
              </a:rPr>
              <a:t>http://localhost:3000/api/estudiantes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819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consultan todos los registros de la tabla ESTUDIANTES en MySQL. El endpoint devuelve el arreglo completo de estudiantes existentes en la base de datos prueba_sgbd.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90288"/>
            <a:ext cx="4800600" cy="20391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9188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Observaciones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013960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Responde 200 OK con "exito": true.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5416296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34009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"datos" es un Array de objetos; si no hay registros devuelve [].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5818632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74243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Columnas en minusculas: id, nombre, email, matricula, estado.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6220968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614476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No requiere parametros en la URL.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326DEE2B-7423-C8CB-D65D-F2F2EF2ED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632" y="2490827"/>
            <a:ext cx="6254416" cy="35166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EJERCICIO 05 —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Buscar estudiante por ID MySQL (GET)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09/23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182132"/>
                </a:solidFill>
                <a:latin typeface="Consolas"/>
              </a:rPr>
              <a:t>http://localhost:3000/api/estudiantes/:id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819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busca un estudiante por su ID en la URL. La query usa placeholder "?" de mysql2 para prevenir SQL injection. Devuelve el objeto del estudiante si existe, o 404 si no se encuentra.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90288"/>
            <a:ext cx="4800600" cy="20391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9188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Observaciones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013960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19" y="4937760"/>
            <a:ext cx="5027725" cy="167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374151"/>
                </a:solidFill>
                <a:latin typeface="Segoe UI"/>
              </a:rPr>
              <a:t>Cambia :id </a:t>
            </a:r>
            <a:r>
              <a:rPr sz="1000" b="0" i="0" dirty="0" err="1">
                <a:solidFill>
                  <a:srgbClr val="374151"/>
                </a:solidFill>
                <a:latin typeface="Segoe UI"/>
              </a:rPr>
              <a:t>por</a:t>
            </a:r>
            <a:r>
              <a:rPr sz="100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374151"/>
                </a:solidFill>
                <a:latin typeface="Segoe UI"/>
              </a:rPr>
              <a:t>el</a:t>
            </a:r>
            <a:r>
              <a:rPr sz="1000" b="0" i="0" dirty="0">
                <a:solidFill>
                  <a:srgbClr val="374151"/>
                </a:solidFill>
                <a:latin typeface="Segoe UI"/>
              </a:rPr>
              <a:t> ID real, </a:t>
            </a:r>
            <a:r>
              <a:rPr sz="1000" b="0" i="0" dirty="0" err="1">
                <a:solidFill>
                  <a:srgbClr val="374151"/>
                </a:solidFill>
                <a:latin typeface="Segoe UI"/>
              </a:rPr>
              <a:t>ej</a:t>
            </a:r>
            <a:r>
              <a:rPr sz="1000" b="0" i="0" dirty="0">
                <a:solidFill>
                  <a:srgbClr val="374151"/>
                </a:solidFill>
                <a:latin typeface="Segoe UI"/>
              </a:rPr>
              <a:t>: /</a:t>
            </a:r>
            <a:r>
              <a:rPr sz="1000" b="0" i="0" dirty="0" err="1">
                <a:solidFill>
                  <a:srgbClr val="374151"/>
                </a:solidFill>
                <a:latin typeface="Segoe UI"/>
              </a:rPr>
              <a:t>api</a:t>
            </a:r>
            <a:r>
              <a:rPr sz="1000" b="0" i="0" dirty="0">
                <a:solidFill>
                  <a:srgbClr val="374151"/>
                </a:solidFill>
                <a:latin typeface="Segoe UI"/>
              </a:rPr>
              <a:t>/</a:t>
            </a:r>
            <a:r>
              <a:rPr sz="1000" b="0" i="0" dirty="0" err="1">
                <a:solidFill>
                  <a:srgbClr val="374151"/>
                </a:solidFill>
                <a:latin typeface="Segoe UI"/>
              </a:rPr>
              <a:t>estudiantes</a:t>
            </a:r>
            <a:r>
              <a:rPr sz="1000" b="0" i="0" dirty="0">
                <a:solidFill>
                  <a:srgbClr val="374151"/>
                </a:solidFill>
                <a:latin typeface="Segoe UI"/>
              </a:rPr>
              <a:t>/1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5416296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34009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"datos" es un objeto (no arreglo) con los campos del estudiante.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5818632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74243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Columnas en minusculas: datos.id, datos.nombre, datos.email.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6220968"/>
            <a:ext cx="73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614476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ID inexistente retorna 404 Not Found.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54C6AEE3-3E2D-9543-1ED7-B347CDE70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520" y="2221899"/>
            <a:ext cx="3922896" cy="2205735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2E8DF76B-678A-76D3-722D-0D8CA3C88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59" y="4557852"/>
            <a:ext cx="6147434" cy="16631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Segoe UI Semibold"/>
              </a:rPr>
              <a:t>EJERCICIO 06 —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Actualizar estudiante MySQL (PUT)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10/23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182132"/>
                </a:solidFill>
                <a:latin typeface="Consolas"/>
              </a:rPr>
              <a:t>http://localhost:3000/api/estudiantes/:id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179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actualiza el estado de un estudiante existente. El ID va en la URL y el campo a modificar en el body JSON. Despues se puede hacer un GET al mismo ID para verificar el cambio.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50208"/>
            <a:ext cx="4800600" cy="868680"/>
          </a:xfrm>
          <a:prstGeom prst="roundRect">
            <a:avLst>
              <a:gd name="adj" fmla="val 5000"/>
            </a:avLst>
          </a:prstGeom>
          <a:solidFill>
            <a:srgbClr val="18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13708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4748B"/>
                </a:solidFill>
                <a:latin typeface="Consolas"/>
              </a:rPr>
              <a:t>Body (JSON):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97096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dirty="0">
                <a:solidFill>
                  <a:srgbClr val="86EFAC"/>
                </a:solidFill>
                <a:latin typeface="Consolas"/>
              </a:rPr>
              <a:t>{
  "</a:t>
            </a:r>
            <a:r>
              <a:rPr sz="900" b="0" i="0" dirty="0" err="1">
                <a:solidFill>
                  <a:srgbClr val="86EFAC"/>
                </a:solidFill>
                <a:latin typeface="Consolas"/>
              </a:rPr>
              <a:t>estado</a:t>
            </a:r>
            <a:r>
              <a:rPr sz="900" b="0" i="0" dirty="0">
                <a:solidFill>
                  <a:srgbClr val="86EFAC"/>
                </a:solidFill>
                <a:latin typeface="Consolas"/>
              </a:rPr>
              <a:t>": "</a:t>
            </a:r>
            <a:r>
              <a:rPr sz="900" b="0" i="0" dirty="0" err="1">
                <a:solidFill>
                  <a:srgbClr val="86EFAC"/>
                </a:solidFill>
                <a:latin typeface="Consolas"/>
              </a:rPr>
              <a:t>inactivo</a:t>
            </a:r>
            <a:r>
              <a:rPr sz="900" b="0" i="0" dirty="0">
                <a:solidFill>
                  <a:srgbClr val="86EFAC"/>
                </a:solidFill>
                <a:latin typeface="Consolas"/>
              </a:rPr>
              <a:t>"
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910328"/>
            <a:ext cx="4800600" cy="186639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01192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Segoe UI Semibold"/>
              </a:rPr>
              <a:t>Observaciones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" y="5334000"/>
            <a:ext cx="7315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257800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Responde 200 OK con "exito": true al actualizar.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" y="5736336"/>
            <a:ext cx="7315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66013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Solo el campo "estado" es actualizable en este microservicio.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" y="6138672"/>
            <a:ext cx="7315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606247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Body vacio devuelve 400; ID inexistente devuelve 404.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" y="6541008"/>
            <a:ext cx="7315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646480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Verificar con GET by ID despues de actualizar.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AB14F030-C33B-D37C-DDE0-760C8CC0D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319" y="2313568"/>
            <a:ext cx="3765249" cy="2117094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06C640F-595A-966F-E1FB-83667B62C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619" y="4478281"/>
            <a:ext cx="4646648" cy="19536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5A5A"/>
                </a:solidFill>
                <a:latin typeface="Segoe UI Semibold"/>
              </a:rPr>
              <a:t>EJERCICIO 07 —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Eliminar estudiante MySQL (DELETE)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11/23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DELETE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82132"/>
                </a:solidFill>
                <a:latin typeface="Consolas"/>
              </a:rPr>
              <a:t>http://localhost:3000/api/estudiantes/:id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5A5A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819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elimina un estudiante de la base de datos MySQL por su ID. La eliminacion es permanente. Para confirmar se hace un GET al mismo ID y debe retornar 404.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90288"/>
            <a:ext cx="4800600" cy="20391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9188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5A5A"/>
                </a:solidFill>
                <a:latin typeface="Segoe UI Semibold"/>
              </a:rPr>
              <a:t>Observaciones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013960"/>
            <a:ext cx="73152" cy="82296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Responde 200 OK con "exito": true al eliminar.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5416296"/>
            <a:ext cx="73152" cy="82296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34009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No requiere body en la peticion DELETE.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5818632"/>
            <a:ext cx="73152" cy="82296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74243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GET al mismo ID despues de eliminar debe devolver 404.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6220968"/>
            <a:ext cx="73152" cy="82296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614476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Eliminacion permanente, no hay forma de deshacer.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78088237-4C1C-CE08-813C-09579A5C9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2587752"/>
            <a:ext cx="6181145" cy="34754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Segoe UI Semibold"/>
              </a:rPr>
              <a:t>EJERCICIO 08 —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Verificar salud del microservicio Oracle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12/23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182132"/>
                </a:solidFill>
                <a:latin typeface="Consolas"/>
              </a:rPr>
              <a:t>http://localhost:3010/api/salud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819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verifica que el microservicio Oracle esta activo. Para que funcione, el contenedor Docker "oracle-abd" debe estar corriendo con Oracle Database 23ai Free. El puerto de Oracle es 3010.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90288"/>
            <a:ext cx="4800600" cy="20391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9188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Segoe UI Semibold"/>
              </a:rPr>
              <a:t>Observaciones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013960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Primero verificar: docker start oracle-abd.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5416296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34009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El servicio Express escucha en puerto 3010 (diferente a MySQL en 3000).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5818632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74243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Responde 200 OK con "estado": "activo".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6220968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614476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Si Oracle no inicio, el pool falla al arrancar.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40608C16-61FF-8A3F-EB8D-E2F08241D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2613150"/>
            <a:ext cx="6194885" cy="34767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Segoe UI Semibold"/>
              </a:rPr>
              <a:t>EJERCICIO 09 —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Consultar estado del SGBD Oracle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13/23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182132"/>
                </a:solidFill>
                <a:latin typeface="Consolas"/>
              </a:rPr>
              <a:t>http://localhost:3010/api/sgbd/estado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819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consulta el estado de la conexion Oracle. El microservicio conecta a localhost:1521/FREEPDB1 con el usuario alumno_sgbd usando el driver oracledb en modo thin (sin Oracle Client instalado).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90288"/>
            <a:ext cx="4800600" cy="20391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9188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Segoe UI Semibold"/>
              </a:rPr>
              <a:t>Observaciones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013960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Responde con "motor": "Oracle Database" (no solo "Oracle").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5416296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34009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"version" muestra la version de Oracle, ej: Oracle Database 23ai Free.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5818632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74243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"bd" muestra el PDB: FREEPDB1.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6220968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614476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A diferencia de MySQL, requiere inicializacion manual del pool.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4AE02BD3-A9AB-4E96-2BB1-ED20DC67B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220" y="2683256"/>
            <a:ext cx="5637245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6A34A"/>
                </a:solidFill>
                <a:latin typeface="Segoe UI Semibold"/>
              </a:rPr>
              <a:t>EJERCICIO 10 —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Crear nuevo estudiante Oracle (POST)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14/23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182132"/>
                </a:solidFill>
                <a:latin typeface="Consolas"/>
              </a:rPr>
              <a:t>http://localhost:3010/api/estudiantes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6A34A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179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inserta un estudiante en Oracle. El ID se genera con una SEQUENCE (ESTUDIANTES_SEQ) activada por un TRIGGER BEFORE INSERT, equivalente al AUTO_INCREMENT de MySQL pero requiere creacion explicita.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50208"/>
            <a:ext cx="4800600" cy="1063752"/>
          </a:xfrm>
          <a:prstGeom prst="roundRect">
            <a:avLst>
              <a:gd name="adj" fmla="val 5000"/>
            </a:avLst>
          </a:prstGeom>
          <a:solidFill>
            <a:srgbClr val="18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13708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4748B"/>
                </a:solidFill>
                <a:latin typeface="Consolas"/>
              </a:rPr>
              <a:t>Body (JSON):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48328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dirty="0">
                <a:solidFill>
                  <a:srgbClr val="86EFAC"/>
                </a:solidFill>
                <a:latin typeface="Consolas"/>
              </a:rPr>
              <a:t>{
  "</a:t>
            </a:r>
            <a:r>
              <a:rPr sz="900" b="0" i="0" dirty="0" err="1">
                <a:solidFill>
                  <a:srgbClr val="86EFAC"/>
                </a:solidFill>
                <a:latin typeface="Consolas"/>
              </a:rPr>
              <a:t>nombre</a:t>
            </a:r>
            <a:r>
              <a:rPr sz="900" b="0" i="0" dirty="0">
                <a:solidFill>
                  <a:srgbClr val="86EFAC"/>
                </a:solidFill>
                <a:latin typeface="Consolas"/>
              </a:rPr>
              <a:t>": "Carlos Lopez",
  "email": "carlos@ejemplo.com",
  "matricula": "21IS002"
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910328"/>
            <a:ext cx="4800600" cy="171907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01192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6A34A"/>
                </a:solidFill>
                <a:latin typeface="Segoe UI Semibold"/>
              </a:rPr>
              <a:t>Observaciones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" y="5334000"/>
            <a:ext cx="73152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257800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Responde 201 Created con el ID generado por la SEQUENCE.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" y="5736336"/>
            <a:ext cx="73152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66013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Oracle usa SEQUENCE + TRIGGER, no AUTO_INCREMENT como MySQL.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" y="6138672"/>
            <a:ext cx="73152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606247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El JSON del body es el mismo formato que en MySQL.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" y="6541008"/>
            <a:ext cx="73152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646480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Email y matricula son UNIQUE en Oracle tambien.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5C45EFA2-D5A4-4A67-F931-B52BF28A7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469" y="2519670"/>
            <a:ext cx="5670949" cy="36433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Segoe UI Semibold"/>
              </a:rPr>
              <a:t>EJERCICIO 11 —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Listar todos los estudiantes Oracle (GET)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15/23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182132"/>
                </a:solidFill>
                <a:latin typeface="Consolas"/>
              </a:rPr>
              <a:t>http://localhost:3010/api/estudiantes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819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consultan todos los registros de ESTUDIANTES en Oracle. La diferencia mas notable es que Oracle devuelve los nombres de columna en MAYUSCULAS por defecto, a diferencia de MySQL que los devuelve en minusculas.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90288"/>
            <a:ext cx="4800600" cy="20391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9188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Segoe UI Semibold"/>
              </a:rPr>
              <a:t>Observaciones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013960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Responde 200 OK con "exito": true y "datos" como arreglo.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5416296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34009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IMPORTANTE: columnas en MAYUSCULAS: ID, NOMBRE, EMAIL, MATRICULA.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5818632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74243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Esto difiere de MySQL donde vienen: id, nombre, email, matricula.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6220968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614476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Las pruebas Jest usan datos.ID (no datos.id) por esto.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16E57DC5-88B7-727D-6AEF-CBB063C1E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849" y="2353105"/>
            <a:ext cx="5895471" cy="38978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Segoe UI Semibold"/>
              </a:rPr>
              <a:t>EJERCICIO 12 —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Buscar estudiante por ID Oracle (GET)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16/23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182132"/>
                </a:solidFill>
                <a:latin typeface="Consolas"/>
              </a:rPr>
              <a:t>http://localhost:3010/api/estudiantes/:id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819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dirty="0">
                <a:solidFill>
                  <a:srgbClr val="374151"/>
                </a:solidFill>
                <a:latin typeface="Segoe UI"/>
              </a:rPr>
              <a:t>Se 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busca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 un 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estudiante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en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 Oracle 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por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 ID. 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oracledb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usa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 bind variables (:id 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en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lugar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 del ? de mysql2) para 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parametrizar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consultas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 y 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evitar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 SQL injection. El ID de Oracle es </a:t>
            </a:r>
            <a:r>
              <a:rPr sz="1050" b="0" i="0" dirty="0" err="1">
                <a:solidFill>
                  <a:srgbClr val="374151"/>
                </a:solidFill>
                <a:latin typeface="Segoe UI"/>
              </a:rPr>
              <a:t>tipo</a:t>
            </a:r>
            <a:r>
              <a:rPr sz="1050" b="0" i="0" dirty="0">
                <a:solidFill>
                  <a:srgbClr val="374151"/>
                </a:solidFill>
                <a:latin typeface="Segoe UI"/>
              </a:rPr>
              <a:t> NUMBER.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90288"/>
            <a:ext cx="4800600" cy="20391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9188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Segoe UI Semibold"/>
              </a:rPr>
              <a:t>Observaciones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013960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Cambia :id por el ID real, ej: /api/estudiantes/1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5416296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34009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Columnas en MAYUSCULAS en la respuesta: datos.ID, datos.NOMBRE.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5818632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74243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Oracle usa :id como bind variable, no ? como MySQL.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6220968"/>
            <a:ext cx="73152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614476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ID inexistente retorna 404 Not Found.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3B837B85-C5A3-2667-9AD4-B86A6B2E1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2748214"/>
            <a:ext cx="5374426" cy="33183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Segoe UI Semibold"/>
              </a:rPr>
              <a:t>EJERCICIO 13 —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Actualizar estudiante Oracle (PUT)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17/23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182132"/>
                </a:solidFill>
                <a:latin typeface="Consolas"/>
              </a:rPr>
              <a:t>http://localhost:3010/api/estudiantes/:id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179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actualiza el estado en Oracle. El UPDATE necesita COMMIT para persistir; oracledb lo hace automaticamente con autoCommit: true en la configuracion de la conexion.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50208"/>
            <a:ext cx="4800600" cy="868680"/>
          </a:xfrm>
          <a:prstGeom prst="roundRect">
            <a:avLst>
              <a:gd name="adj" fmla="val 5000"/>
            </a:avLst>
          </a:prstGeom>
          <a:solidFill>
            <a:srgbClr val="18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13708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4748B"/>
                </a:solidFill>
                <a:latin typeface="Consolas"/>
              </a:rPr>
              <a:t>Body (JSON):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97096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 dirty="0">
                <a:solidFill>
                  <a:srgbClr val="86EFAC"/>
                </a:solidFill>
                <a:latin typeface="Consolas"/>
              </a:rPr>
              <a:t>{
  "</a:t>
            </a:r>
            <a:r>
              <a:rPr sz="900" b="0" i="0" dirty="0" err="1">
                <a:solidFill>
                  <a:srgbClr val="86EFAC"/>
                </a:solidFill>
                <a:latin typeface="Consolas"/>
              </a:rPr>
              <a:t>estado</a:t>
            </a:r>
            <a:r>
              <a:rPr sz="900" b="0" i="0" dirty="0">
                <a:solidFill>
                  <a:srgbClr val="86EFAC"/>
                </a:solidFill>
                <a:latin typeface="Consolas"/>
              </a:rPr>
              <a:t>": "</a:t>
            </a:r>
            <a:r>
              <a:rPr sz="900" b="0" i="0" dirty="0" err="1">
                <a:solidFill>
                  <a:srgbClr val="86EFAC"/>
                </a:solidFill>
                <a:latin typeface="Consolas"/>
              </a:rPr>
              <a:t>inactivo</a:t>
            </a:r>
            <a:r>
              <a:rPr sz="900" b="0" i="0" dirty="0">
                <a:solidFill>
                  <a:srgbClr val="86EFAC"/>
                </a:solidFill>
                <a:latin typeface="Consolas"/>
              </a:rPr>
              <a:t>"
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910328"/>
            <a:ext cx="4800600" cy="194767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01192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Segoe UI Semibold"/>
              </a:rPr>
              <a:t>Observaciones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" y="5334000"/>
            <a:ext cx="7315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257800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Responde 200 OK con "exito": true.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" y="5736336"/>
            <a:ext cx="7315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66013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Oracle requiere COMMIT explicito; oracledb lo gestiona con autoCommit.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" y="6138672"/>
            <a:ext cx="7315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606247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Verificar con GET by ID despues de actualizar.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" y="6541008"/>
            <a:ext cx="7315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646480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ID inexistente retorna 404 Not Found.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2B58D8D4-668D-6B07-7531-A6B63D4AB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203704"/>
            <a:ext cx="6232391" cy="2340864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124983BA-9044-A70A-F17E-573EDB00C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08" y="4608060"/>
            <a:ext cx="4910454" cy="18641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5A5A"/>
                </a:solidFill>
                <a:latin typeface="Segoe UI Semibold"/>
              </a:rPr>
              <a:t>EJERCICIO 14 —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Eliminar estudiante Oracle (DELETE)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18/23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01368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95018"/>
            <a:ext cx="71323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DELETE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78308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>
                <a:solidFill>
                  <a:srgbClr val="182132"/>
                </a:solidFill>
                <a:latin typeface="Consolas"/>
              </a:rPr>
              <a:t>http://localhost:3010/api/estudiantes/:id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67128"/>
            <a:ext cx="4800600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167128"/>
            <a:ext cx="4800600" cy="7315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2677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5A5A"/>
                </a:solidFill>
                <a:latin typeface="Segoe UI Semibold"/>
              </a:rPr>
              <a:t>Descripcion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87752"/>
            <a:ext cx="4480560" cy="1819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elimina un estudiante de Oracle por ID. Al igual que el PUT, el DELETE necesita COMMIT que oracledb maneja automaticamente. Verificar con GET al mismo ID para confirmar la eliminacion.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90288"/>
            <a:ext cx="4800600" cy="203911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9188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5A5A"/>
                </a:solidFill>
                <a:latin typeface="Segoe UI Semibold"/>
              </a:rPr>
              <a:t>Observaciones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013960"/>
            <a:ext cx="73152" cy="82296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Responde 200 OK con "exito": true al eliminar.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5416296"/>
            <a:ext cx="73152" cy="82296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340096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oracledb hace COMMIT automatico; la eliminacion es permanente.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5818632"/>
            <a:ext cx="73152" cy="82296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742432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GET al mismo ID despues debe retornar 404.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6220968"/>
            <a:ext cx="73152" cy="82296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6144768"/>
            <a:ext cx="42976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No requiere body en la peticion DELETE.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50408" y="2167128"/>
            <a:ext cx="6291072" cy="431596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9ABBD874-BF1E-B771-6B6F-C6BDCEF92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332" y="2341490"/>
            <a:ext cx="5067821" cy="397396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EJERCICIO EJ15 —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Pruebas Automatizadas Jest + Supertest (MySQL)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19/23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4709160" cy="4434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4709160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Herramienta: Jest + Supertest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13432"/>
            <a:ext cx="43434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Jest es el framework de pruebas unitarias para Node.js, equivalente a JUnit en Java. Supertest permite lanzar peticiones HTTP directamente sobre la app Express sin levantar un puerto real, lo que hace las pruebas mas rapidas y aisladas.
El microservicio MySQL tiene 8 pruebas en total: 2 de salud/estado y 6 del CRUD completo (GET all, POST, GET by ID, PUT, DELETE, POST error 400). Todas deben pasar en verde con el comando npm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166360"/>
            <a:ext cx="4709160" cy="594360"/>
          </a:xfrm>
          <a:prstGeom prst="roundRect">
            <a:avLst>
              <a:gd name="adj" fmla="val 6000"/>
            </a:avLst>
          </a:prstGeom>
          <a:solidFill>
            <a:srgbClr val="18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Consolas"/>
              </a:rPr>
              <a:t>cd practica-sgbd-api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22392"/>
            <a:ext cx="4434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6EFAC"/>
                </a:solidFill>
                <a:latin typeface="Consolas"/>
              </a:rPr>
              <a:t>npm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870448"/>
            <a:ext cx="4709160" cy="658368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870448"/>
            <a:ext cx="4434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6A34A"/>
                </a:solidFill>
                <a:latin typeface="Segoe UI Semibold"/>
              </a:rPr>
              <a:t>Resultado esperado:  8 tests passed,  0 failed,  1 suite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1828800"/>
            <a:ext cx="6400800" cy="470916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40680" y="1828800"/>
            <a:ext cx="6400800" cy="470916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5C2F048A-B63F-28A3-8491-7EAF8808A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2374772"/>
            <a:ext cx="6217920" cy="34961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EJ16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D9488"/>
                </a:solidFill>
                <a:latin typeface="Segoe UI Semibold"/>
              </a:rPr>
              <a:t>EJERCICIO EJ16 —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Pruebas Automatizadas Jest + Supertest (Oracle)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20/23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4709160" cy="4434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470916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D9488"/>
                </a:solidFill>
                <a:latin typeface="Segoe UI Semibold"/>
              </a:rPr>
              <a:t>Herramienta: Jest + Supertest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13432"/>
            <a:ext cx="43434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Jest es el framework de pruebas unitarias para Node.js, equivalente a JUnit en Java. Supertest permite lanzar peticiones HTTP directamente sobre la app Express sin levantar un puerto real, lo que hace las pruebas mas rapidas y aisladas.
El microservicio Oracle tiene 8 pruebas en total: 2 de salud/estado y 6 del CRUD completo (GET all, POST, GET by ID, PUT, DELETE, POST error 400). Todas deben pasar en verde con el comando npm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166360"/>
            <a:ext cx="4709160" cy="594360"/>
          </a:xfrm>
          <a:prstGeom prst="roundRect">
            <a:avLst>
              <a:gd name="adj" fmla="val 6000"/>
            </a:avLst>
          </a:prstGeom>
          <a:solidFill>
            <a:srgbClr val="18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Consolas"/>
              </a:rPr>
              <a:t>cd practica-sgbd-api-oracle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22392"/>
            <a:ext cx="4434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6EFAC"/>
                </a:solidFill>
                <a:latin typeface="Consolas"/>
              </a:rPr>
              <a:t>npm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870448"/>
            <a:ext cx="4709160" cy="658368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870448"/>
            <a:ext cx="4434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6A34A"/>
                </a:solidFill>
                <a:latin typeface="Segoe UI Semibold"/>
              </a:rPr>
              <a:t>Resultado esperado:  8 tests passed,  0 failed,  1 suite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1828800"/>
            <a:ext cx="6400800" cy="470916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40680" y="1828800"/>
            <a:ext cx="6400800" cy="470916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B4C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BFD2406D-F0F5-245B-9BEF-5DDDC1F46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15131"/>
            <a:ext cx="6305826" cy="354558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21/23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920240"/>
            <a:ext cx="5486400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8483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563EB"/>
                </a:solidFill>
                <a:latin typeface="Segoe UI Semibold"/>
              </a:rPr>
              <a:t>Thunder Client como entorno de pruebas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Thunder Client dentro de VSCode resulto ser una herramienta efectiva para ejecutar pruebas funcionales sin cambiar de aplicacion. Permite enviar JSON, ver status codes y tiempos de respuesta igual que Postman.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1920240"/>
            <a:ext cx="548640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08483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D9488"/>
                </a:solidFill>
                <a:latin typeface="Segoe UI Semibold"/>
              </a:rPr>
              <a:t>Diferencias entre MySQL y Oracle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Ambos SGBD respondieron correctamente al CRUD. Oracle devuelve columnas en MAYUSCULAS (ID, NOMBRE), requiere inicializacion manual del pool y usa SEQUENCE + TRIGGER para autoincrementar IDs, a diferencia del AUTO_INCREMENT de MySQL.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25196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4360" y="4251960"/>
            <a:ext cx="5486400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41655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3AED"/>
                </a:solidFill>
                <a:latin typeface="Segoe UI Semibold"/>
              </a:rPr>
              <a:t>Automatizacion con Jest + Supertest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Las 8 pruebas de cada microservicio pasaron en verde. La automatizacion detecta regresiones de forma inmediata: si se rompe un endpoint, npm test lo reporta sin necesidad de probarlo manualmente.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25196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0" y="4251960"/>
            <a:ext cx="5486400" cy="7315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441655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5A5A"/>
                </a:solidFill>
                <a:latin typeface="Segoe UI Semibold"/>
              </a:rPr>
              <a:t>Cobertura completa del CRUD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0060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 validaron todos los verbos HTTP (GET salud, GET estado, GET all, POST, GET by ID, PUT, DELETE) en MySQL y Oracle, cubriendo tanto exito (200/201) como errores esperados (400 body vacio, 404 ID inexistente).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0" y="164592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5200" b="1" i="0">
                <a:solidFill>
                  <a:srgbClr val="EEF2FF"/>
                </a:solidFill>
                <a:latin typeface="Segoe UI Semibold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Segoe UI Semibold"/>
              </a:rPr>
              <a:t>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827"/>
                </a:solidFill>
                <a:latin typeface="Segoe UI Semibold"/>
              </a:rPr>
              <a:t>Fuentes de Informacion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18488"/>
            <a:ext cx="1129284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18488"/>
            <a:ext cx="1371600" cy="228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22/23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48640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221991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215641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Jest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148839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Jest Docs - JavaScript Testing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60319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2563EB"/>
                </a:solidFill>
                <a:latin typeface="Segoe UI"/>
              </a:rPr>
              <a:t>https://jestjs.io/docs/getting-started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74519"/>
            <a:ext cx="548640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37960" y="2221991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215641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Supertest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148839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ladjs/supertest - HTTP testing library for Node.js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60319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2563EB"/>
                </a:solidFill>
                <a:latin typeface="Segoe UI"/>
              </a:rPr>
              <a:t>https://github.com/ladjs/supertest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83279"/>
            <a:ext cx="548640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3730751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724401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Thunder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657599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Thunder Client - REST API Client para VSCode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69079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2563EB"/>
                </a:solidFill>
                <a:latin typeface="Segoe UI"/>
              </a:rPr>
              <a:t>https://www.thunderclient.com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383279"/>
            <a:ext cx="548640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37960" y="3730751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3724401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oracledb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3657599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node-oracledb v6 - Driver Oracle para Node.js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069079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2563EB"/>
                </a:solidFill>
                <a:latin typeface="Segoe UI"/>
              </a:rPr>
              <a:t>https://node-oracledb.readthedocs.io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892040"/>
            <a:ext cx="548640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1520" y="523951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23316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mysql2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1663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mysql2 - Driver MySQL rapido para Node.js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7784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2563EB"/>
                </a:solidFill>
                <a:latin typeface="Segoe UI"/>
              </a:rPr>
              <a:t>https://sidorares.github.io/node-mysql2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892040"/>
            <a:ext cx="548640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537960" y="523951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523316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Express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51663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Express.js - Web framework para Node.js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57784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2563EB"/>
                </a:solidFill>
                <a:latin typeface="Segoe UI"/>
              </a:rPr>
              <a:t>https://expressjs.com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DBEAFE"/>
                </a:solidFill>
                <a:latin typeface="Consolas"/>
              </a:rPr>
              <a:t>&lt;/&gt;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7360" y="5669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REPOSITORIO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8686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Codigo fuente, pruebas Jest y colecciones Postman / Thunder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10972800" cy="1325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BEAFE"/>
                </a:solidFill>
                <a:latin typeface="Segoe UI Semibold"/>
              </a:rPr>
              <a:t>Repositorio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10058400" cy="624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MX" sz="1200" dirty="0">
                <a:hlinkClick r:id="rId2"/>
              </a:rPr>
              <a:t>ADMINISTRACION-BASE-DE-DATOS/UNIDAD 2/practica-</a:t>
            </a:r>
            <a:r>
              <a:rPr lang="es-MX" sz="1200" dirty="0" err="1">
                <a:hlinkClick r:id="rId2"/>
              </a:rPr>
              <a:t>sgbd</a:t>
            </a:r>
            <a:r>
              <a:rPr lang="es-MX" sz="1200" dirty="0">
                <a:hlinkClick r:id="rId2"/>
              </a:rPr>
              <a:t>-api-</a:t>
            </a:r>
            <a:r>
              <a:rPr lang="es-MX" sz="1200" dirty="0" err="1">
                <a:hlinkClick r:id="rId2"/>
              </a:rPr>
              <a:t>oracle</a:t>
            </a:r>
            <a:r>
              <a:rPr lang="es-MX" sz="1200" dirty="0">
                <a:hlinkClick r:id="rId2"/>
              </a:rPr>
              <a:t> at master · </a:t>
            </a:r>
            <a:r>
              <a:rPr lang="es-MX" sz="1200" dirty="0" err="1">
                <a:hlinkClick r:id="rId2"/>
              </a:rPr>
              <a:t>amaurycolochos-cpu</a:t>
            </a:r>
            <a:r>
              <a:rPr lang="es-MX" sz="1200" dirty="0">
                <a:hlinkClick r:id="rId2"/>
              </a:rPr>
              <a:t>/ADMINISTRACION-BASE-DE-DATOS · GitHub</a:t>
            </a:r>
            <a:endParaRPr lang="es-MX" sz="1200" dirty="0"/>
          </a:p>
          <a:p>
            <a:pPr algn="l">
              <a:lnSpc>
                <a:spcPct val="115000"/>
              </a:lnSpc>
            </a:pPr>
            <a:endParaRPr lang="es-MX" sz="1200" b="0" i="0" dirty="0">
              <a:solidFill>
                <a:srgbClr val="0EA5E9"/>
              </a:solidFill>
              <a:latin typeface="Consolas"/>
            </a:endParaRPr>
          </a:p>
          <a:p>
            <a:pPr algn="l">
              <a:lnSpc>
                <a:spcPct val="115000"/>
              </a:lnSpc>
            </a:pPr>
            <a:r>
              <a:rPr lang="es-MX" sz="1200" dirty="0">
                <a:hlinkClick r:id="rId3"/>
              </a:rPr>
              <a:t>ADMINISTRACION-BASE-DE-DATOS/UNIDAD 2/practica-</a:t>
            </a:r>
            <a:r>
              <a:rPr lang="es-MX" sz="1200" dirty="0" err="1">
                <a:hlinkClick r:id="rId3"/>
              </a:rPr>
              <a:t>sgbd</a:t>
            </a:r>
            <a:r>
              <a:rPr lang="es-MX" sz="1200" dirty="0">
                <a:hlinkClick r:id="rId3"/>
              </a:rPr>
              <a:t>-api at master · </a:t>
            </a:r>
            <a:r>
              <a:rPr lang="es-MX" sz="1200" dirty="0" err="1">
                <a:hlinkClick r:id="rId3"/>
              </a:rPr>
              <a:t>amaurycolochos-cpu</a:t>
            </a:r>
            <a:r>
              <a:rPr lang="es-MX" sz="1200" dirty="0">
                <a:hlinkClick r:id="rId3"/>
              </a:rPr>
              <a:t>/ADMINISTRACION-BASE-DE-DATOS · GitHub</a:t>
            </a:r>
            <a:endParaRPr sz="1200" b="0" i="0" dirty="0">
              <a:solidFill>
                <a:srgbClr val="0EA5E9"/>
              </a:solidFill>
              <a:latin typeface="Consola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06040" y="2980944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94012" y="311531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BEAFE"/>
                </a:solidFill>
                <a:latin typeface="Segoe UI Semibold"/>
              </a:rPr>
              <a:t>Archivos de pruebas incluidos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4012" y="3517646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94012" y="3511296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Thunder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9892" y="3504946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FBBCD"/>
                </a:solidFill>
                <a:latin typeface="Consolas"/>
              </a:rPr>
              <a:t>thunder-tests/thunderclient.json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4012" y="401142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94012" y="4005072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Postman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9892" y="399872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FBBCD"/>
                </a:solidFill>
                <a:latin typeface="Consolas"/>
              </a:rPr>
              <a:t>postman/Pruebas_SGBD.postman_collection.json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4012" y="4505198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94012" y="4498848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Jest 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9892" y="4492498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FBBCD"/>
                </a:solidFill>
                <a:latin typeface="Consolas"/>
              </a:rPr>
              <a:t>practica-sgbd-api/__tests__/estudiantes.test.js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94012" y="4998974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94012" y="4992624"/>
            <a:ext cx="1234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Segoe UI Semibold"/>
              </a:rPr>
              <a:t>Jest Oracle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9892" y="4986274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FBBCD"/>
                </a:solidFill>
                <a:latin typeface="Consolas"/>
              </a:rPr>
              <a:t>practica-sgbd-api-oracle/__tests__/estudiantes.test.js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6035040"/>
            <a:ext cx="10972800" cy="530352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03504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Administracion de Base de Datos  |  6ISC  |  Amaury Gordillo  |  TecNM UAVC  | 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630936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46920" y="628192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23/23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2745</Words>
  <Application>Microsoft Office PowerPoint</Application>
  <PresentationFormat>Personalizado</PresentationFormat>
  <Paragraphs>336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-apple-system</vt:lpstr>
      <vt:lpstr>Aptos</vt:lpstr>
      <vt:lpstr>Arial</vt:lpstr>
      <vt:lpstr>Calibri</vt:lpstr>
      <vt:lpstr>Consolas</vt:lpstr>
      <vt:lpstr>Montserrat Bold</vt:lpstr>
      <vt:lpstr>Segoe UI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amaury rokete</cp:lastModifiedBy>
  <cp:revision>5</cp:revision>
  <dcterms:created xsi:type="dcterms:W3CDTF">2013-01-27T09:14:16Z</dcterms:created>
  <dcterms:modified xsi:type="dcterms:W3CDTF">2026-05-31T16:15:02Z</dcterms:modified>
  <cp:category/>
</cp:coreProperties>
</file>