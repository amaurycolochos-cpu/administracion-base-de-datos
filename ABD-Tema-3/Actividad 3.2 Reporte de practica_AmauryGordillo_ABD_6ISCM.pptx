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7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53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38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C5A63D-BBE3-48BC-8D06-2E9E2F064984}" type="datetimeFigureOut">
              <a:rPr lang="es-MX" smtClean="0"/>
              <a:t>31/05/2026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BE7083-AC32-45F7-9C09-5D592E80CCA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0407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aurycolochos-cpu/ADMINISTRACION-BASE-DE-DATOS/tree/master/UNIDAD%203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814" y="161905"/>
            <a:ext cx="1461833" cy="1049220"/>
          </a:xfrm>
          <a:custGeom>
            <a:avLst/>
            <a:gdLst/>
            <a:ahLst/>
            <a:cxnLst/>
            <a:rect l="l" t="t" r="r" b="b"/>
            <a:pathLst>
              <a:path w="2193321" h="1574239">
                <a:moveTo>
                  <a:pt x="0" y="0"/>
                </a:moveTo>
                <a:lnTo>
                  <a:pt x="2193321" y="0"/>
                </a:lnTo>
                <a:lnTo>
                  <a:pt x="2193321" y="1574238"/>
                </a:lnTo>
                <a:lnTo>
                  <a:pt x="0" y="1574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715388" y="119052"/>
            <a:ext cx="2334759" cy="1025318"/>
          </a:xfrm>
          <a:custGeom>
            <a:avLst/>
            <a:gdLst/>
            <a:ahLst/>
            <a:cxnLst/>
            <a:rect l="l" t="t" r="r" b="b"/>
            <a:pathLst>
              <a:path w="3503050" h="1538377">
                <a:moveTo>
                  <a:pt x="0" y="0"/>
                </a:moveTo>
                <a:lnTo>
                  <a:pt x="3503050" y="0"/>
                </a:lnTo>
                <a:lnTo>
                  <a:pt x="3503050" y="1538377"/>
                </a:lnTo>
                <a:lnTo>
                  <a:pt x="0" y="15383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356648" y="612665"/>
            <a:ext cx="5475529" cy="86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TECNOLÓGICO NACIONAL DE MÉXICO</a:t>
            </a:r>
          </a:p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UNIDAD ACADÉMICA VENUSTIANO CARRANZA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44275" y="1443749"/>
            <a:ext cx="9497126" cy="571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“INGENIERÍA EN SISTEMAS COMPUTACIONALES”</a:t>
            </a:r>
          </a:p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ADMINISTRACION DE BASE DE DATOS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85405" y="2293085"/>
            <a:ext cx="7429984" cy="5411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ACTIVIDAD </a:t>
            </a:r>
          </a:p>
          <a:p>
            <a:pPr algn="ctr"/>
            <a:r>
              <a:rPr lang="es-MX" sz="1600" b="1" dirty="0">
                <a:latin typeface="-apple-system"/>
              </a:rPr>
              <a:t>ACTIVIDAD 3.2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73956" y="3132126"/>
            <a:ext cx="2437765" cy="2766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RPESENTA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99567" y="4815497"/>
            <a:ext cx="6094413" cy="571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DOCENTE</a:t>
            </a:r>
          </a:p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ING. FRANCISCO JAVIER MINGO VELAZQUEZ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29401" y="6083702"/>
            <a:ext cx="8339464" cy="2766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19 DE MAYO DE 2026 VENUSTIANO CARRANZA, CHIAPAS</a:t>
            </a:r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323F15EB-498F-21AC-540F-B4832C9E5A89}"/>
              </a:ext>
            </a:extLst>
          </p:cNvPr>
          <p:cNvGraphicFramePr>
            <a:graphicFrameLocks noGrp="1"/>
          </p:cNvGraphicFramePr>
          <p:nvPr/>
        </p:nvGraphicFramePr>
        <p:xfrm>
          <a:off x="3656647" y="3803787"/>
          <a:ext cx="5484972" cy="670386"/>
        </p:xfrm>
        <a:graphic>
          <a:graphicData uri="http://schemas.openxmlformats.org/drawingml/2006/table">
            <a:tbl>
              <a:tblPr/>
              <a:tblGrid>
                <a:gridCol w="2742486">
                  <a:extLst>
                    <a:ext uri="{9D8B030D-6E8A-4147-A177-3AD203B41FA5}">
                      <a16:colId xmlns:a16="http://schemas.microsoft.com/office/drawing/2014/main" val="3099188907"/>
                    </a:ext>
                  </a:extLst>
                </a:gridCol>
                <a:gridCol w="2742486">
                  <a:extLst>
                    <a:ext uri="{9D8B030D-6E8A-4147-A177-3AD203B41FA5}">
                      <a16:colId xmlns:a16="http://schemas.microsoft.com/office/drawing/2014/main" val="3475046580"/>
                    </a:ext>
                  </a:extLst>
                </a:gridCol>
              </a:tblGrid>
              <a:tr h="335193">
                <a:tc>
                  <a:txBody>
                    <a:bodyPr/>
                    <a:lstStyle/>
                    <a:p>
                      <a:r>
                        <a:rPr lang="es-MX" sz="1200" b="1">
                          <a:effectLst/>
                        </a:rPr>
                        <a:t>NOMBRE DEL ALUMNO</a:t>
                      </a:r>
                    </a:p>
                  </a:txBody>
                  <a:tcPr marL="60944" marR="60944" marT="30472" marB="30472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b="1">
                          <a:effectLst/>
                        </a:rPr>
                        <a:t>MATRICULA</a:t>
                      </a:r>
                    </a:p>
                  </a:txBody>
                  <a:tcPr marL="60944" marR="60944" marT="30472" marB="30472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815266"/>
                  </a:ext>
                </a:extLst>
              </a:tr>
              <a:tr h="335193">
                <a:tc>
                  <a:txBody>
                    <a:bodyPr/>
                    <a:lstStyle/>
                    <a:p>
                      <a:r>
                        <a:rPr lang="es-MX" sz="1200" b="1">
                          <a:effectLst/>
                        </a:rPr>
                        <a:t>Amaury Jahaziel Gordillo Hernandez</a:t>
                      </a:r>
                    </a:p>
                  </a:txBody>
                  <a:tcPr marL="60944" marR="60944" marT="30472" marB="30472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b="1" dirty="0">
                          <a:effectLst/>
                        </a:rPr>
                        <a:t>231260074</a:t>
                      </a:r>
                    </a:p>
                  </a:txBody>
                  <a:tcPr marL="60944" marR="60944" marT="30472" marB="30472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113360"/>
                  </a:ext>
                </a:extLst>
              </a:tr>
            </a:tbl>
          </a:graphicData>
        </a:graphic>
      </p:graphicFrame>
      <p:sp>
        <p:nvSpPr>
          <p:cNvPr id="12" name="Rectangle 1">
            <a:extLst>
              <a:ext uri="{FF2B5EF4-FFF2-40B4-BE49-F238E27FC236}">
                <a16:creationId xmlns:a16="http://schemas.microsoft.com/office/drawing/2014/main" id="{04D78428-F81B-1E82-50A7-BDB098FC5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6647" y="3681028"/>
            <a:ext cx="123143" cy="246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0944" tIns="30472" rIns="60944" bIns="30472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2563EB"/>
                </a:solidFill>
                <a:latin typeface="Segoe UI Semibold"/>
              </a:rPr>
              <a:t>CONTENIDO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Indice General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927080" y="6455664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27080" y="6449314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02 / 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965960"/>
            <a:ext cx="539496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" y="2103120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" y="20904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1965960"/>
            <a:ext cx="44805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11827"/>
                </a:solidFill>
                <a:latin typeface="Segoe UI Semibold"/>
              </a:rPr>
              <a:t>Introduccion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807208"/>
            <a:ext cx="539496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4672" y="2944368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F45A5A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293166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807208"/>
            <a:ext cx="44805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11827"/>
                </a:solidFill>
                <a:latin typeface="Segoe UI Semibold"/>
              </a:rPr>
              <a:t>Justificacion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648456"/>
            <a:ext cx="539496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04672" y="3785616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" y="377291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648456"/>
            <a:ext cx="44805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11827"/>
                </a:solidFill>
                <a:latin typeface="Segoe UI Semibold"/>
              </a:rPr>
              <a:t>Marco Teorico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489704"/>
            <a:ext cx="539496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04672" y="4626864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4672" y="461416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489704"/>
            <a:ext cx="44805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11827"/>
                </a:solidFill>
                <a:latin typeface="Segoe UI Semibold"/>
              </a:rPr>
              <a:t>Objetivo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330952"/>
            <a:ext cx="539496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04672" y="5468112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D97706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4672" y="545541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330952"/>
            <a:ext cx="44805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11827"/>
                </a:solidFill>
                <a:latin typeface="Segoe UI Semibold"/>
              </a:rPr>
              <a:t>Configuracion Inicial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81928" y="1965960"/>
            <a:ext cx="539496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428232" y="2103120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28232" y="20904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1965960"/>
            <a:ext cx="44805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11827"/>
                </a:solidFill>
                <a:latin typeface="Segoe UI Semibold"/>
              </a:rPr>
              <a:t>Tablespaces y Almacenamiento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81928" y="2807208"/>
            <a:ext cx="539496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428232" y="2944368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F45A5A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28232" y="293166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2807208"/>
            <a:ext cx="44805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11827"/>
                </a:solidFill>
                <a:latin typeface="Segoe UI Semibold"/>
              </a:rPr>
              <a:t>Cuotas de Usuario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81928" y="3648456"/>
            <a:ext cx="539496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428232" y="3785616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28232" y="377291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3648456"/>
            <a:ext cx="44805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11827"/>
                </a:solidFill>
                <a:latin typeface="Segoe UI Semibold"/>
              </a:rPr>
              <a:t>Roles y Privilegios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81928" y="4489704"/>
            <a:ext cx="539496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428232" y="4626864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28232" y="461416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09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95160" y="4489704"/>
            <a:ext cx="44805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11827"/>
                </a:solidFill>
                <a:latin typeface="Segoe UI Semibold"/>
              </a:rPr>
              <a:t>Monitoreo de Espacio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81928" y="5330952"/>
            <a:ext cx="539496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428232" y="5468112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D97706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28232" y="545541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95160" y="5330952"/>
            <a:ext cx="44805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11827"/>
                </a:solidFill>
                <a:latin typeface="Segoe UI Semibold"/>
              </a:rPr>
              <a:t>Resultados y Conclusiones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2563EB"/>
                </a:solidFill>
                <a:latin typeface="Segoe UI Semibold"/>
              </a:rPr>
              <a:t>SECCION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Introduccion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927080" y="6455664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27080" y="6449314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03 / 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783080"/>
            <a:ext cx="10881360" cy="77724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1783080"/>
            <a:ext cx="91440" cy="7772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1783080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1E3A8A"/>
                </a:solidFill>
                <a:latin typeface="Segoe UI"/>
              </a:rPr>
              <a:t>La correcta administracion del espacio en disco es un pilar fundamental del trabajo del DBA. Esta practica demuestra como configurar tablespaces, asignar cuotas de usuario, gestionar roles y monitorear el uso del almacenamiento directamente en MySQL 8.0.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724912"/>
            <a:ext cx="5321808" cy="3858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553" y="2837688"/>
            <a:ext cx="477316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dirty="0">
                <a:solidFill>
                  <a:srgbClr val="111827"/>
                </a:solidFill>
                <a:latin typeface="Segoe UI Semibold"/>
              </a:rPr>
              <a:t>Variables </a:t>
            </a:r>
            <a:r>
              <a:rPr sz="1300" b="1" i="0" dirty="0" err="1">
                <a:solidFill>
                  <a:srgbClr val="111827"/>
                </a:solidFill>
                <a:latin typeface="Segoe UI Semibold"/>
              </a:rPr>
              <a:t>InnoDB</a:t>
            </a:r>
            <a:r>
              <a:rPr sz="130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300" b="1" i="0" dirty="0" err="1">
                <a:solidFill>
                  <a:srgbClr val="111827"/>
                </a:solidFill>
                <a:latin typeface="Segoe UI Semibold"/>
              </a:rPr>
              <a:t>en</a:t>
            </a:r>
            <a:r>
              <a:rPr sz="1300" b="1" i="0" dirty="0">
                <a:solidFill>
                  <a:srgbClr val="111827"/>
                </a:solidFill>
                <a:latin typeface="Segoe UI Semibold"/>
              </a:rPr>
              <a:t> MySQL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7272" y="2852928"/>
            <a:ext cx="477316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dirty="0">
                <a:solidFill>
                  <a:srgbClr val="111827"/>
                </a:solidFill>
                <a:latin typeface="Segoe UI Semibold"/>
              </a:rPr>
              <a:t>Directorio de </a:t>
            </a:r>
            <a:r>
              <a:rPr sz="1300" b="1" i="0" dirty="0" err="1">
                <a:solidFill>
                  <a:srgbClr val="111827"/>
                </a:solidFill>
                <a:latin typeface="Segoe UI Semibold"/>
              </a:rPr>
              <a:t>datos</a:t>
            </a:r>
            <a:r>
              <a:rPr sz="1300" b="1" i="0" dirty="0">
                <a:solidFill>
                  <a:srgbClr val="111827"/>
                </a:solidFill>
                <a:latin typeface="Segoe UI Semibold"/>
              </a:rPr>
              <a:t> MySQL</a:t>
            </a:r>
          </a:p>
        </p:txBody>
      </p:sp>
      <p:pic>
        <p:nvPicPr>
          <p:cNvPr id="44" name="Imagen 43">
            <a:extLst>
              <a:ext uri="{FF2B5EF4-FFF2-40B4-BE49-F238E27FC236}">
                <a16:creationId xmlns:a16="http://schemas.microsoft.com/office/drawing/2014/main" id="{9BADD76E-1DC4-B95D-03B3-B5C4CCCD5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03" y="3209544"/>
            <a:ext cx="5157049" cy="2899664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7572A001-21E3-354B-BF24-05B81F4D7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361" y="3157917"/>
            <a:ext cx="5618181" cy="31605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F45A5A"/>
                </a:solidFill>
                <a:latin typeface="Segoe UI Semibold"/>
              </a:rPr>
              <a:t>SECCION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Justificacion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927080" y="6455664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27080" y="6449314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04 / 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965960"/>
            <a:ext cx="10881360" cy="8778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1965960"/>
            <a:ext cx="91440" cy="87782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32688" y="218541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21727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112264"/>
            <a:ext cx="9692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11827"/>
                </a:solidFill>
                <a:latin typeface="Segoe UI Semibold"/>
              </a:rPr>
              <a:t>Eficiencia en almacenamiento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2441448"/>
            <a:ext cx="9692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Segoe UI"/>
              </a:rPr>
              <a:t>Configurar correctamente los tablespaces evita fragmentacion y mejora el rendimiento de I/O.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990088"/>
            <a:ext cx="10881360" cy="8778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58368" y="2990088"/>
            <a:ext cx="91440" cy="877824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32688" y="3209544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45A5A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" y="319684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136392"/>
            <a:ext cx="9692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11827"/>
                </a:solidFill>
                <a:latin typeface="Segoe UI Semibold"/>
              </a:rPr>
              <a:t>Control de recursos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465576"/>
            <a:ext cx="9692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Segoe UI"/>
              </a:rPr>
              <a:t>Asignar cuotas impide que un usuario monopolice el espacio del servidor y afecte al resto.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014216"/>
            <a:ext cx="10881360" cy="8778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58368" y="4014216"/>
            <a:ext cx="91440" cy="877824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32688" y="423367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42209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160520"/>
            <a:ext cx="9692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11827"/>
                </a:solidFill>
                <a:latin typeface="Segoe UI Semibold"/>
              </a:rPr>
              <a:t>Seguridad y roles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4489704"/>
            <a:ext cx="9692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Segoe UI"/>
              </a:rPr>
              <a:t>Los roles permiten gestionar permisos de forma centralizada, reduciendo errores de configuracion.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038344"/>
            <a:ext cx="10881360" cy="8778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58368" y="5038344"/>
            <a:ext cx="91440" cy="87782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32688" y="52578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2688" y="52451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184648"/>
            <a:ext cx="9692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11827"/>
                </a:solidFill>
                <a:latin typeface="Segoe UI Semibold"/>
              </a:rPr>
              <a:t>Monitoreo proactivo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513832"/>
            <a:ext cx="9692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280"/>
                </a:solidFill>
                <a:latin typeface="Segoe UI"/>
              </a:rPr>
              <a:t>Consultar information_schema permite detectar tablas criticas antes de que se agote el espacio.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0D9488"/>
                </a:solidFill>
                <a:latin typeface="Segoe UI Semibold"/>
              </a:rPr>
              <a:t>SECCION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Marco Teorico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927080" y="6455664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27080" y="6449314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05 / 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965960"/>
            <a:ext cx="5321808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1965960"/>
            <a:ext cx="5321808" cy="822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32688" y="2258568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224586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Segoe UI Semibold"/>
              </a:rPr>
              <a:t>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2276856"/>
            <a:ext cx="41330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11827"/>
                </a:solidFill>
                <a:latin typeface="Segoe UI Semibold"/>
              </a:rPr>
              <a:t>Tablespace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2834640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Unidad logica de almacenamiento que agrupa archivos fisicos. En InnoDB puede ser general o por tabla (file-per-table).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965960"/>
            <a:ext cx="5321808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17920" y="1965960"/>
            <a:ext cx="5321808" cy="82296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92240" y="2258568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F45A5A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224586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Segoe UI Semibold"/>
              </a:rPr>
              <a:t>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276856"/>
            <a:ext cx="41330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11827"/>
                </a:solidFill>
                <a:latin typeface="Segoe UI Semibold"/>
              </a:rPr>
              <a:t>Pagina InnoDB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2834640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Unidad minima de almacenamiento de 16 KB. Varias paginas forman extensiones y segmentos dentro del tablespace.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005072"/>
            <a:ext cx="5321808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58368" y="4005072"/>
            <a:ext cx="5321808" cy="822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32688" y="429768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428498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Segoe UI Semibold"/>
              </a:rPr>
              <a:t>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4208" y="4315968"/>
            <a:ext cx="41330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11827"/>
                </a:solidFill>
                <a:latin typeface="Segoe UI Semibold"/>
              </a:rPr>
              <a:t>Cuotas de recurso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" y="4873752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Limites configurables por usuario: max queries/hora, max conexiones/hora y max conexiones simultaneas.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005072"/>
            <a:ext cx="5321808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217920" y="4005072"/>
            <a:ext cx="5321808" cy="822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492240" y="429768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0" y="428498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Segoe UI Semibold"/>
              </a:rPr>
              <a:t>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4315968"/>
            <a:ext cx="413308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11827"/>
                </a:solidFill>
                <a:latin typeface="Segoe UI Semibold"/>
              </a:rPr>
              <a:t>Roles MySQL 8.0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4873752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Conjuntos de privilegios reutilizables que se asignan a usuarios, simplificando la gestion de permisos.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388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 spc="220" dirty="0">
                <a:solidFill>
                  <a:srgbClr val="7C3AED"/>
                </a:solidFill>
                <a:latin typeface="Segoe UI Semibold"/>
              </a:rPr>
              <a:t>SECCION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927080" y="6455664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27080" y="6449314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06 / 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92024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1920240"/>
            <a:ext cx="10881360" cy="822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1488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00">
                <a:solidFill>
                  <a:srgbClr val="7C3AED"/>
                </a:solidFill>
                <a:latin typeface="Segoe UI Semibold"/>
              </a:rPr>
              <a:t>OBJETIVO GENERAL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374151"/>
                </a:solidFill>
                <a:latin typeface="Segoe UI"/>
              </a:rPr>
              <a:t>Configurar y administrar el espacio en disco en MySQL 8.0, incluyendo la creacion de bases de datos con parametros de almacenamiento, asignacion de cuotas por usuario, gestion de roles y monitoreo del espacio mediante vistas del sistema.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6118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00">
                <a:solidFill>
                  <a:srgbClr val="F45A5A"/>
                </a:solidFill>
                <a:latin typeface="Segoe UI Semibold"/>
              </a:rPr>
              <a:t>OBJETIVOS ESPECIFICOS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41648"/>
            <a:ext cx="108813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68680" y="4160520"/>
            <a:ext cx="219456" cy="21945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133088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041648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74151"/>
                </a:solidFill>
                <a:latin typeface="Segoe UI"/>
              </a:rPr>
              <a:t>Verificar y configurar las variables de almacenamiento InnoDB en MySQL.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608576"/>
            <a:ext cx="108813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68680" y="4727448"/>
            <a:ext cx="219456" cy="21945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700016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608576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74151"/>
                </a:solidFill>
                <a:latin typeface="Segoe UI"/>
              </a:rPr>
              <a:t>Crear bases de datos y revisar su espacio asignado con information_schema.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175504"/>
            <a:ext cx="108813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68680" y="5294376"/>
            <a:ext cx="219456" cy="21945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5266944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175504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74151"/>
                </a:solidFill>
                <a:latin typeface="Segoe UI"/>
              </a:rPr>
              <a:t>Definir usuarios con limites de recursos (cuotas de queries y conexiones).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742432"/>
            <a:ext cx="1088136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68680" y="5861304"/>
            <a:ext cx="219456" cy="21945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5833872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74243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74151"/>
                </a:solidFill>
                <a:latin typeface="Segoe UI"/>
              </a:rPr>
              <a:t>Crear roles, asignarles privilegios y vincularlos a usuarios.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D97706"/>
                </a:solidFill>
                <a:latin typeface="Segoe UI Semibold"/>
              </a:rPr>
              <a:t>SECCION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Configuracion Inicial del Entorno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927080" y="6455664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27080" y="6449314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07 / 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0976" y="2103120"/>
            <a:ext cx="27940" cy="382219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04088" y="2011680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" y="1998980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27048" y="1975104"/>
            <a:ext cx="1065276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01368" y="204825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11827"/>
                </a:solidFill>
                <a:latin typeface="Segoe UI Semibold"/>
              </a:rPr>
              <a:t>Verificar servicio MySQL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1368" y="235915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Segoe UI"/>
              </a:rPr>
              <a:t>Confirmar que MySQL8080 esta activo en services.msc (puerto 3306).</a:t>
            </a:r>
          </a:p>
        </p:txBody>
      </p:sp>
      <p:sp>
        <p:nvSpPr>
          <p:cNvPr id="18" name="Oval 17"/>
          <p:cNvSpPr/>
          <p:nvPr/>
        </p:nvSpPr>
        <p:spPr>
          <a:xfrm>
            <a:off x="704088" y="2852928"/>
            <a:ext cx="530352" cy="530352"/>
          </a:xfrm>
          <a:prstGeom prst="ellipse">
            <a:avLst/>
          </a:prstGeom>
          <a:solidFill>
            <a:srgbClr val="F45A5A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" y="284022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27048" y="2816352"/>
            <a:ext cx="1065276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01368" y="288950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11827"/>
                </a:solidFill>
                <a:latin typeface="Segoe UI Semibold"/>
              </a:rPr>
              <a:t>Conectarse al servidor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01368" y="32004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Segoe UI"/>
              </a:rPr>
              <a:t>Usar MySQL Workbench o terminal: mysql -u root -p -P 3306</a:t>
            </a:r>
          </a:p>
        </p:txBody>
      </p:sp>
      <p:sp>
        <p:nvSpPr>
          <p:cNvPr id="23" name="Oval 22"/>
          <p:cNvSpPr/>
          <p:nvPr/>
        </p:nvSpPr>
        <p:spPr>
          <a:xfrm>
            <a:off x="704088" y="369417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" y="368147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27048" y="3657600"/>
            <a:ext cx="1065276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801368" y="3730752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11827"/>
                </a:solidFill>
                <a:latin typeface="Segoe UI Semibold"/>
              </a:rPr>
              <a:t>Revisar version instalada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01368" y="40416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Segoe UI"/>
              </a:rPr>
              <a:t>Ejecutar: SELECT VERSION(); — debe mostrar 8.0.x</a:t>
            </a:r>
          </a:p>
        </p:txBody>
      </p:sp>
      <p:sp>
        <p:nvSpPr>
          <p:cNvPr id="28" name="Oval 27"/>
          <p:cNvSpPr/>
          <p:nvPr/>
        </p:nvSpPr>
        <p:spPr>
          <a:xfrm>
            <a:off x="704088" y="45354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4088" y="4522724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27048" y="4498848"/>
            <a:ext cx="1065276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801368" y="457200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11827"/>
                </a:solidFill>
                <a:latin typeface="Segoe UI Semibold"/>
              </a:rPr>
              <a:t>Verificar configuracion InnoDB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01368" y="4882896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Segoe UI"/>
              </a:rPr>
              <a:t>Ejecutar: SHOW VARIABLES LIKE 'innodb_file_per_table';</a:t>
            </a:r>
          </a:p>
        </p:txBody>
      </p:sp>
      <p:sp>
        <p:nvSpPr>
          <p:cNvPr id="33" name="Oval 32"/>
          <p:cNvSpPr/>
          <p:nvPr/>
        </p:nvSpPr>
        <p:spPr>
          <a:xfrm>
            <a:off x="704088" y="5376672"/>
            <a:ext cx="530352" cy="530352"/>
          </a:xfrm>
          <a:prstGeom prst="ellipse">
            <a:avLst/>
          </a:prstGeom>
          <a:solidFill>
            <a:srgbClr val="D97706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4088" y="5363972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527048" y="5340096"/>
            <a:ext cx="1065276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01368" y="5413248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11827"/>
                </a:solidFill>
                <a:latin typeface="Segoe UI Semibold"/>
              </a:rPr>
              <a:t>Consultar directorio de datos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01368" y="572414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7280"/>
                </a:solidFill>
                <a:latin typeface="Segoe UI"/>
              </a:rPr>
              <a:t>Ejecutar: SHOW VARIABLES LIKE 'datadir'; para ubicar los archivos.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{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2563EB"/>
                </a:solidFill>
                <a:latin typeface="Segoe UI Semibold"/>
              </a:rPr>
              <a:t>SECCION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Tablespaces y Almacenamiento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927080" y="6455664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27080" y="6449314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08 / 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874519"/>
            <a:ext cx="10881360" cy="4434840"/>
          </a:xfrm>
          <a:prstGeom prst="roundRect">
            <a:avLst>
              <a:gd name="adj" fmla="val 3500"/>
            </a:avLst>
          </a:prstGeom>
          <a:solidFill>
            <a:srgbClr val="182132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1874519"/>
            <a:ext cx="10881360" cy="384048"/>
          </a:xfrm>
          <a:prstGeom prst="roundRect">
            <a:avLst>
              <a:gd name="adj" fmla="val 3500"/>
            </a:avLst>
          </a:prstGeom>
          <a:solidFill>
            <a:srgbClr val="21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9536" y="2002535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7280" y="2002535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335024" y="2002535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1874519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94A3B8"/>
                </a:solidFill>
                <a:latin typeface="Consolas"/>
              </a:rPr>
              <a:t>sesion_01.sql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350007"/>
            <a:ext cx="10378440" cy="3867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1  </a:t>
            </a:r>
            <a:r>
              <a:rPr sz="950">
                <a:solidFill>
                  <a:srgbClr val="64748B"/>
                </a:solidFill>
                <a:latin typeface="Consolas"/>
              </a:rPr>
              <a:t>-- Verificar configuracion de tablespace por tabla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2  </a:t>
            </a:r>
            <a:r>
              <a:rPr sz="950">
                <a:solidFill>
                  <a:srgbClr val="A78BFA"/>
                </a:solidFill>
                <a:latin typeface="Consolas"/>
              </a:rPr>
              <a:t>SHOW</a:t>
            </a:r>
            <a:r>
              <a:rPr sz="950">
                <a:solidFill>
                  <a:srgbClr val="E2E8F0"/>
                </a:solidFill>
                <a:latin typeface="Consolas"/>
              </a:rPr>
              <a:t> VARIABLES LIKE </a:t>
            </a:r>
            <a:r>
              <a:rPr sz="950">
                <a:solidFill>
                  <a:srgbClr val="86EFAC"/>
                </a:solidFill>
                <a:latin typeface="Consolas"/>
              </a:rPr>
              <a:t>'innodb_file_per_table'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3  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4  </a:t>
            </a:r>
            <a:r>
              <a:rPr sz="950">
                <a:solidFill>
                  <a:srgbClr val="64748B"/>
                </a:solidFill>
                <a:latin typeface="Consolas"/>
              </a:rPr>
              <a:t>-- Crear base de datos con charset y collation especificos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5  </a:t>
            </a:r>
            <a:r>
              <a:rPr sz="950">
                <a:solidFill>
                  <a:srgbClr val="A78BFA"/>
                </a:solidFill>
                <a:latin typeface="Consolas"/>
              </a:rPr>
              <a:t>CREATE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A78BFA"/>
                </a:solidFill>
                <a:latin typeface="Consolas"/>
              </a:rPr>
              <a:t>DATABASE</a:t>
            </a:r>
            <a:r>
              <a:rPr sz="950">
                <a:solidFill>
                  <a:srgbClr val="E2E8F0"/>
                </a:solidFill>
                <a:latin typeface="Consolas"/>
              </a:rPr>
              <a:t> disco_practica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6  </a:t>
            </a:r>
            <a:r>
              <a:rPr sz="950">
                <a:solidFill>
                  <a:srgbClr val="E2E8F0"/>
                </a:solidFill>
                <a:latin typeface="Consolas"/>
              </a:rPr>
              <a:t>  </a:t>
            </a:r>
            <a:r>
              <a:rPr sz="950">
                <a:solidFill>
                  <a:srgbClr val="A78BFA"/>
                </a:solidFill>
                <a:latin typeface="Consolas"/>
              </a:rPr>
              <a:t>CHARACTER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A78BFA"/>
                </a:solidFill>
                <a:latin typeface="Consolas"/>
              </a:rPr>
              <a:t>SET</a:t>
            </a:r>
            <a:r>
              <a:rPr sz="950">
                <a:solidFill>
                  <a:srgbClr val="E2E8F0"/>
                </a:solidFill>
                <a:latin typeface="Consolas"/>
              </a:rPr>
              <a:t> utf8mb4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7  </a:t>
            </a:r>
            <a:r>
              <a:rPr sz="950">
                <a:solidFill>
                  <a:srgbClr val="E2E8F0"/>
                </a:solidFill>
                <a:latin typeface="Consolas"/>
              </a:rPr>
              <a:t>  </a:t>
            </a:r>
            <a:r>
              <a:rPr sz="950">
                <a:solidFill>
                  <a:srgbClr val="A78BFA"/>
                </a:solidFill>
                <a:latin typeface="Consolas"/>
              </a:rPr>
              <a:t>COLLATE</a:t>
            </a:r>
            <a:r>
              <a:rPr sz="950">
                <a:solidFill>
                  <a:srgbClr val="E2E8F0"/>
                </a:solidFill>
                <a:latin typeface="Consolas"/>
              </a:rPr>
              <a:t> utf8mb4_unicode_ci;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8  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9  </a:t>
            </a:r>
            <a:r>
              <a:rPr sz="950">
                <a:solidFill>
                  <a:srgbClr val="A78BFA"/>
                </a:solidFill>
                <a:latin typeface="Consolas"/>
              </a:rPr>
              <a:t>USE</a:t>
            </a:r>
            <a:r>
              <a:rPr sz="950">
                <a:solidFill>
                  <a:srgbClr val="E2E8F0"/>
                </a:solidFill>
                <a:latin typeface="Consolas"/>
              </a:rPr>
              <a:t> disco_practica;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10  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11  </a:t>
            </a:r>
            <a:r>
              <a:rPr sz="950">
                <a:solidFill>
                  <a:srgbClr val="64748B"/>
                </a:solidFill>
                <a:latin typeface="Consolas"/>
              </a:rPr>
              <a:t>-- Crear tabla (genera archivo .ibd propio con file_per_table=ON)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12  </a:t>
            </a:r>
            <a:r>
              <a:rPr sz="950">
                <a:solidFill>
                  <a:srgbClr val="A78BFA"/>
                </a:solidFill>
                <a:latin typeface="Consolas"/>
              </a:rPr>
              <a:t>CREATE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A78BFA"/>
                </a:solidFill>
                <a:latin typeface="Consolas"/>
              </a:rPr>
              <a:t>TABLE</a:t>
            </a:r>
            <a:r>
              <a:rPr sz="950">
                <a:solidFill>
                  <a:srgbClr val="E2E8F0"/>
                </a:solidFill>
                <a:latin typeface="Consolas"/>
              </a:rPr>
              <a:t> productos (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13  </a:t>
            </a:r>
            <a:r>
              <a:rPr sz="950">
                <a:solidFill>
                  <a:srgbClr val="E2E8F0"/>
                </a:solidFill>
                <a:latin typeface="Consolas"/>
              </a:rPr>
              <a:t>  id        </a:t>
            </a:r>
            <a:r>
              <a:rPr sz="950">
                <a:solidFill>
                  <a:srgbClr val="A78BFA"/>
                </a:solidFill>
                <a:latin typeface="Consolas"/>
              </a:rPr>
              <a:t>INT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A78BFA"/>
                </a:solidFill>
                <a:latin typeface="Consolas"/>
              </a:rPr>
              <a:t>PRIMARY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A78BFA"/>
                </a:solidFill>
                <a:latin typeface="Consolas"/>
              </a:rPr>
              <a:t>KEY</a:t>
            </a:r>
            <a:r>
              <a:rPr sz="950">
                <a:solidFill>
                  <a:srgbClr val="E2E8F0"/>
                </a:solidFill>
                <a:latin typeface="Consolas"/>
              </a:rPr>
              <a:t> AUTO_INCREMENT,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14  </a:t>
            </a:r>
            <a:r>
              <a:rPr sz="950">
                <a:solidFill>
                  <a:srgbClr val="E2E8F0"/>
                </a:solidFill>
                <a:latin typeface="Consolas"/>
              </a:rPr>
              <a:t>  nombre    </a:t>
            </a:r>
            <a:r>
              <a:rPr sz="950">
                <a:solidFill>
                  <a:srgbClr val="A78BFA"/>
                </a:solidFill>
                <a:latin typeface="Consolas"/>
              </a:rPr>
              <a:t>VARCHAR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FBBF24"/>
                </a:solidFill>
                <a:latin typeface="Consolas"/>
              </a:rPr>
              <a:t>100</a:t>
            </a:r>
            <a:r>
              <a:rPr sz="950">
                <a:solidFill>
                  <a:srgbClr val="E2E8F0"/>
                </a:solidFill>
                <a:latin typeface="Consolas"/>
              </a:rPr>
              <a:t>) </a:t>
            </a:r>
            <a:r>
              <a:rPr sz="950">
                <a:solidFill>
                  <a:srgbClr val="A78BFA"/>
                </a:solidFill>
                <a:latin typeface="Consolas"/>
              </a:rPr>
              <a:t>NOT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A78BFA"/>
                </a:solidFill>
                <a:latin typeface="Consolas"/>
              </a:rPr>
              <a:t>NULL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15  </a:t>
            </a:r>
            <a:r>
              <a:rPr sz="950">
                <a:solidFill>
                  <a:srgbClr val="E2E8F0"/>
                </a:solidFill>
                <a:latin typeface="Consolas"/>
              </a:rPr>
              <a:t>  precio    DECIMAL(</a:t>
            </a:r>
            <a:r>
              <a:rPr sz="950">
                <a:solidFill>
                  <a:srgbClr val="FBBF24"/>
                </a:solidFill>
                <a:latin typeface="Consolas"/>
              </a:rPr>
              <a:t>10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  <a:r>
              <a:rPr sz="950">
                <a:solidFill>
                  <a:srgbClr val="FBBF24"/>
                </a:solidFill>
                <a:latin typeface="Consolas"/>
              </a:rPr>
              <a:t>2</a:t>
            </a:r>
            <a:r>
              <a:rPr sz="950">
                <a:solidFill>
                  <a:srgbClr val="E2E8F0"/>
                </a:solidFill>
                <a:latin typeface="Consolas"/>
              </a:rPr>
              <a:t>),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16  </a:t>
            </a:r>
            <a:r>
              <a:rPr sz="950">
                <a:solidFill>
                  <a:srgbClr val="E2E8F0"/>
                </a:solidFill>
                <a:latin typeface="Consolas"/>
              </a:rPr>
              <a:t>  creado_en </a:t>
            </a:r>
            <a:r>
              <a:rPr sz="950">
                <a:solidFill>
                  <a:srgbClr val="A78BFA"/>
                </a:solidFill>
                <a:latin typeface="Consolas"/>
              </a:rPr>
              <a:t>DATETIME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A78BFA"/>
                </a:solidFill>
                <a:latin typeface="Consolas"/>
              </a:rPr>
              <a:t>DEFAULT</a:t>
            </a:r>
            <a:r>
              <a:rPr sz="950">
                <a:solidFill>
                  <a:srgbClr val="E2E8F0"/>
                </a:solidFill>
                <a:latin typeface="Consolas"/>
              </a:rPr>
              <a:t> CURRENT_TIMESTAMP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17  </a:t>
            </a:r>
            <a:r>
              <a:rPr sz="950">
                <a:solidFill>
                  <a:srgbClr val="E2E8F0"/>
                </a:solidFill>
                <a:latin typeface="Consolas"/>
              </a:rPr>
              <a:t>) </a:t>
            </a:r>
            <a:r>
              <a:rPr sz="950">
                <a:solidFill>
                  <a:srgbClr val="A78BFA"/>
                </a:solidFill>
                <a:latin typeface="Consolas"/>
              </a:rPr>
              <a:t>ENGINE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A78BFA"/>
                </a:solidFill>
                <a:latin typeface="Consolas"/>
              </a:rPr>
              <a:t>InnoDB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18  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19  </a:t>
            </a:r>
            <a:r>
              <a:rPr sz="950">
                <a:solidFill>
                  <a:srgbClr val="64748B"/>
                </a:solidFill>
                <a:latin typeface="Consolas"/>
              </a:rPr>
              <a:t>-- Ver ruta del datadir (donde viven los .ibd)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20  </a:t>
            </a:r>
            <a:r>
              <a:rPr sz="950">
                <a:solidFill>
                  <a:srgbClr val="A78BFA"/>
                </a:solidFill>
                <a:latin typeface="Consolas"/>
              </a:rPr>
              <a:t>SHOW</a:t>
            </a:r>
            <a:r>
              <a:rPr sz="950">
                <a:solidFill>
                  <a:srgbClr val="E2E8F0"/>
                </a:solidFill>
                <a:latin typeface="Consolas"/>
              </a:rPr>
              <a:t> VARIABLES LIKE </a:t>
            </a:r>
            <a:r>
              <a:rPr sz="950">
                <a:solidFill>
                  <a:srgbClr val="86EFAC"/>
                </a:solidFill>
                <a:latin typeface="Consolas"/>
              </a:rPr>
              <a:t>'datadir'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{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0D9488"/>
                </a:solidFill>
                <a:latin typeface="Segoe UI Semibold"/>
              </a:rPr>
              <a:t>SECCION 06 .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Monitoreo de Espacio en Disco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927080" y="6455664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27080" y="6449314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09 / 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874519"/>
            <a:ext cx="10881360" cy="4434840"/>
          </a:xfrm>
          <a:prstGeom prst="roundRect">
            <a:avLst>
              <a:gd name="adj" fmla="val 3500"/>
            </a:avLst>
          </a:prstGeom>
          <a:solidFill>
            <a:srgbClr val="182132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1874519"/>
            <a:ext cx="10881360" cy="384048"/>
          </a:xfrm>
          <a:prstGeom prst="roundRect">
            <a:avLst>
              <a:gd name="adj" fmla="val 3500"/>
            </a:avLst>
          </a:prstGeom>
          <a:solidFill>
            <a:srgbClr val="21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9536" y="2002535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7280" y="2002535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335024" y="2002535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1874519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94A3B8"/>
                </a:solidFill>
                <a:latin typeface="Consolas"/>
              </a:rPr>
              <a:t>sesion_02.sql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350007"/>
            <a:ext cx="10378440" cy="3867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1  </a:t>
            </a:r>
            <a:r>
              <a:rPr sz="950">
                <a:solidFill>
                  <a:srgbClr val="64748B"/>
                </a:solidFill>
                <a:latin typeface="Consolas"/>
              </a:rPr>
              <a:t>-- Tamano de cada base de datos en MB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2  </a:t>
            </a:r>
            <a:r>
              <a:rPr sz="950">
                <a:solidFill>
                  <a:srgbClr val="A78BFA"/>
                </a:solidFill>
                <a:latin typeface="Consolas"/>
              </a:rPr>
              <a:t>SELECT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3  </a:t>
            </a:r>
            <a:r>
              <a:rPr sz="950">
                <a:solidFill>
                  <a:srgbClr val="E2E8F0"/>
                </a:solidFill>
                <a:latin typeface="Consolas"/>
              </a:rPr>
              <a:t>  table_schema        </a:t>
            </a:r>
            <a:r>
              <a:rPr sz="950">
                <a:solidFill>
                  <a:srgbClr val="A78BFA"/>
                </a:solidFill>
                <a:latin typeface="Consolas"/>
              </a:rPr>
              <a:t>AS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86EFAC"/>
                </a:solidFill>
                <a:latin typeface="Consolas"/>
              </a:rPr>
              <a:t>'Base de Datos'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4  </a:t>
            </a:r>
            <a:r>
              <a:rPr sz="950">
                <a:solidFill>
                  <a:srgbClr val="E2E8F0"/>
                </a:solidFill>
                <a:latin typeface="Consolas"/>
              </a:rPr>
              <a:t>  </a:t>
            </a:r>
            <a:r>
              <a:rPr sz="950">
                <a:solidFill>
                  <a:srgbClr val="A78BFA"/>
                </a:solidFill>
                <a:latin typeface="Consolas"/>
              </a:rPr>
              <a:t>ROUND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A78BFA"/>
                </a:solidFill>
                <a:latin typeface="Consolas"/>
              </a:rPr>
              <a:t>SUM</a:t>
            </a:r>
            <a:r>
              <a:rPr sz="950">
                <a:solidFill>
                  <a:srgbClr val="E2E8F0"/>
                </a:solidFill>
                <a:latin typeface="Consolas"/>
              </a:rPr>
              <a:t>(data_length + index_length) / </a:t>
            </a:r>
            <a:r>
              <a:rPr sz="950">
                <a:solidFill>
                  <a:srgbClr val="FBBF24"/>
                </a:solidFill>
                <a:latin typeface="Consolas"/>
              </a:rPr>
              <a:t>1024</a:t>
            </a:r>
            <a:r>
              <a:rPr sz="950">
                <a:solidFill>
                  <a:srgbClr val="E2E8F0"/>
                </a:solidFill>
                <a:latin typeface="Consolas"/>
              </a:rPr>
              <a:t> / </a:t>
            </a:r>
            <a:r>
              <a:rPr sz="950">
                <a:solidFill>
                  <a:srgbClr val="FBBF24"/>
                </a:solidFill>
                <a:latin typeface="Consolas"/>
              </a:rPr>
              <a:t>1024</a:t>
            </a:r>
            <a:r>
              <a:rPr sz="950">
                <a:solidFill>
                  <a:srgbClr val="E2E8F0"/>
                </a:solidFill>
                <a:latin typeface="Consolas"/>
              </a:rPr>
              <a:t>, </a:t>
            </a:r>
            <a:r>
              <a:rPr sz="950">
                <a:solidFill>
                  <a:srgbClr val="FBBF24"/>
                </a:solidFill>
                <a:latin typeface="Consolas"/>
              </a:rPr>
              <a:t>2</a:t>
            </a:r>
            <a:r>
              <a:rPr sz="950">
                <a:solidFill>
                  <a:srgbClr val="E2E8F0"/>
                </a:solidFill>
                <a:latin typeface="Consolas"/>
              </a:rPr>
              <a:t>) </a:t>
            </a:r>
            <a:r>
              <a:rPr sz="950">
                <a:solidFill>
                  <a:srgbClr val="A78BFA"/>
                </a:solidFill>
                <a:latin typeface="Consolas"/>
              </a:rPr>
              <a:t>AS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86EFAC"/>
                </a:solidFill>
                <a:latin typeface="Consolas"/>
              </a:rPr>
              <a:t>'Total MB'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5  </a:t>
            </a:r>
            <a:r>
              <a:rPr sz="950">
                <a:solidFill>
                  <a:srgbClr val="E2E8F0"/>
                </a:solidFill>
                <a:latin typeface="Consolas"/>
              </a:rPr>
              <a:t>  </a:t>
            </a:r>
            <a:r>
              <a:rPr sz="950">
                <a:solidFill>
                  <a:srgbClr val="A78BFA"/>
                </a:solidFill>
                <a:latin typeface="Consolas"/>
              </a:rPr>
              <a:t>ROUND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A78BFA"/>
                </a:solidFill>
                <a:latin typeface="Consolas"/>
              </a:rPr>
              <a:t>SUM</a:t>
            </a:r>
            <a:r>
              <a:rPr sz="950">
                <a:solidFill>
                  <a:srgbClr val="E2E8F0"/>
                </a:solidFill>
                <a:latin typeface="Consolas"/>
              </a:rPr>
              <a:t>(data_length)  / </a:t>
            </a:r>
            <a:r>
              <a:rPr sz="950">
                <a:solidFill>
                  <a:srgbClr val="FBBF24"/>
                </a:solidFill>
                <a:latin typeface="Consolas"/>
              </a:rPr>
              <a:t>1024</a:t>
            </a:r>
            <a:r>
              <a:rPr sz="950">
                <a:solidFill>
                  <a:srgbClr val="E2E8F0"/>
                </a:solidFill>
                <a:latin typeface="Consolas"/>
              </a:rPr>
              <a:t> / </a:t>
            </a:r>
            <a:r>
              <a:rPr sz="950">
                <a:solidFill>
                  <a:srgbClr val="FBBF24"/>
                </a:solidFill>
                <a:latin typeface="Consolas"/>
              </a:rPr>
              <a:t>1024</a:t>
            </a:r>
            <a:r>
              <a:rPr sz="950">
                <a:solidFill>
                  <a:srgbClr val="E2E8F0"/>
                </a:solidFill>
                <a:latin typeface="Consolas"/>
              </a:rPr>
              <a:t>, </a:t>
            </a:r>
            <a:r>
              <a:rPr sz="950">
                <a:solidFill>
                  <a:srgbClr val="FBBF24"/>
                </a:solidFill>
                <a:latin typeface="Consolas"/>
              </a:rPr>
              <a:t>2</a:t>
            </a:r>
            <a:r>
              <a:rPr sz="950">
                <a:solidFill>
                  <a:srgbClr val="E2E8F0"/>
                </a:solidFill>
                <a:latin typeface="Consolas"/>
              </a:rPr>
              <a:t>) </a:t>
            </a:r>
            <a:r>
              <a:rPr sz="950">
                <a:solidFill>
                  <a:srgbClr val="A78BFA"/>
                </a:solidFill>
                <a:latin typeface="Consolas"/>
              </a:rPr>
              <a:t>AS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86EFAC"/>
                </a:solidFill>
                <a:latin typeface="Consolas"/>
              </a:rPr>
              <a:t>'Datos MB'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6  </a:t>
            </a:r>
            <a:r>
              <a:rPr sz="950">
                <a:solidFill>
                  <a:srgbClr val="E2E8F0"/>
                </a:solidFill>
                <a:latin typeface="Consolas"/>
              </a:rPr>
              <a:t>  </a:t>
            </a:r>
            <a:r>
              <a:rPr sz="950">
                <a:solidFill>
                  <a:srgbClr val="A78BFA"/>
                </a:solidFill>
                <a:latin typeface="Consolas"/>
              </a:rPr>
              <a:t>ROUND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A78BFA"/>
                </a:solidFill>
                <a:latin typeface="Consolas"/>
              </a:rPr>
              <a:t>SUM</a:t>
            </a:r>
            <a:r>
              <a:rPr sz="950">
                <a:solidFill>
                  <a:srgbClr val="E2E8F0"/>
                </a:solidFill>
                <a:latin typeface="Consolas"/>
              </a:rPr>
              <a:t>(index_length) / </a:t>
            </a:r>
            <a:r>
              <a:rPr sz="950">
                <a:solidFill>
                  <a:srgbClr val="FBBF24"/>
                </a:solidFill>
                <a:latin typeface="Consolas"/>
              </a:rPr>
              <a:t>1024</a:t>
            </a:r>
            <a:r>
              <a:rPr sz="950">
                <a:solidFill>
                  <a:srgbClr val="E2E8F0"/>
                </a:solidFill>
                <a:latin typeface="Consolas"/>
              </a:rPr>
              <a:t> / </a:t>
            </a:r>
            <a:r>
              <a:rPr sz="950">
                <a:solidFill>
                  <a:srgbClr val="FBBF24"/>
                </a:solidFill>
                <a:latin typeface="Consolas"/>
              </a:rPr>
              <a:t>1024</a:t>
            </a:r>
            <a:r>
              <a:rPr sz="950">
                <a:solidFill>
                  <a:srgbClr val="E2E8F0"/>
                </a:solidFill>
                <a:latin typeface="Consolas"/>
              </a:rPr>
              <a:t>, </a:t>
            </a:r>
            <a:r>
              <a:rPr sz="950">
                <a:solidFill>
                  <a:srgbClr val="FBBF24"/>
                </a:solidFill>
                <a:latin typeface="Consolas"/>
              </a:rPr>
              <a:t>2</a:t>
            </a:r>
            <a:r>
              <a:rPr sz="950">
                <a:solidFill>
                  <a:srgbClr val="E2E8F0"/>
                </a:solidFill>
                <a:latin typeface="Consolas"/>
              </a:rPr>
              <a:t>) </a:t>
            </a:r>
            <a:r>
              <a:rPr sz="950">
                <a:solidFill>
                  <a:srgbClr val="A78BFA"/>
                </a:solidFill>
                <a:latin typeface="Consolas"/>
              </a:rPr>
              <a:t>AS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86EFAC"/>
                </a:solidFill>
                <a:latin typeface="Consolas"/>
              </a:rPr>
              <a:t>'Indices MB'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7  </a:t>
            </a:r>
            <a:r>
              <a:rPr sz="950">
                <a:solidFill>
                  <a:srgbClr val="A78BFA"/>
                </a:solidFill>
                <a:latin typeface="Consolas"/>
              </a:rPr>
              <a:t>FROM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A78BFA"/>
                </a:solidFill>
                <a:latin typeface="Consolas"/>
              </a:rPr>
              <a:t>information_schema</a:t>
            </a:r>
            <a:r>
              <a:rPr sz="950">
                <a:solidFill>
                  <a:srgbClr val="E2E8F0"/>
                </a:solidFill>
                <a:latin typeface="Consolas"/>
              </a:rPr>
              <a:t>.tables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8  </a:t>
            </a:r>
            <a:r>
              <a:rPr sz="950">
                <a:solidFill>
                  <a:srgbClr val="A78BFA"/>
                </a:solidFill>
                <a:latin typeface="Consolas"/>
              </a:rPr>
              <a:t>GROUP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A78BFA"/>
                </a:solidFill>
                <a:latin typeface="Consolas"/>
              </a:rPr>
              <a:t>BY</a:t>
            </a:r>
            <a:r>
              <a:rPr sz="950">
                <a:solidFill>
                  <a:srgbClr val="E2E8F0"/>
                </a:solidFill>
                <a:latin typeface="Consolas"/>
              </a:rPr>
              <a:t> table_schema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9  </a:t>
            </a:r>
            <a:r>
              <a:rPr sz="950">
                <a:solidFill>
                  <a:srgbClr val="A78BFA"/>
                </a:solidFill>
                <a:latin typeface="Consolas"/>
              </a:rPr>
              <a:t>ORDER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A78BFA"/>
                </a:solidFill>
                <a:latin typeface="Consolas"/>
              </a:rPr>
              <a:t>BY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A78BFA"/>
                </a:solidFill>
                <a:latin typeface="Consolas"/>
              </a:rPr>
              <a:t>SUM</a:t>
            </a:r>
            <a:r>
              <a:rPr sz="950">
                <a:solidFill>
                  <a:srgbClr val="E2E8F0"/>
                </a:solidFill>
                <a:latin typeface="Consolas"/>
              </a:rPr>
              <a:t>(data_length + index_length) DESC;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10  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11  </a:t>
            </a:r>
            <a:r>
              <a:rPr sz="950">
                <a:solidFill>
                  <a:srgbClr val="64748B"/>
                </a:solidFill>
                <a:latin typeface="Consolas"/>
              </a:rPr>
              <a:t>-- Tamano de cada tabla dentro de una BD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12  </a:t>
            </a:r>
            <a:r>
              <a:rPr sz="950">
                <a:solidFill>
                  <a:srgbClr val="A78BFA"/>
                </a:solidFill>
                <a:latin typeface="Consolas"/>
              </a:rPr>
              <a:t>SELECT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13  </a:t>
            </a:r>
            <a:r>
              <a:rPr sz="950">
                <a:solidFill>
                  <a:srgbClr val="E2E8F0"/>
                </a:solidFill>
                <a:latin typeface="Consolas"/>
              </a:rPr>
              <a:t>  table_name              </a:t>
            </a:r>
            <a:r>
              <a:rPr sz="950">
                <a:solidFill>
                  <a:srgbClr val="A78BFA"/>
                </a:solidFill>
                <a:latin typeface="Consolas"/>
              </a:rPr>
              <a:t>AS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86EFAC"/>
                </a:solidFill>
                <a:latin typeface="Consolas"/>
              </a:rPr>
              <a:t>'Tabla'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14  </a:t>
            </a:r>
            <a:r>
              <a:rPr sz="950">
                <a:solidFill>
                  <a:srgbClr val="E2E8F0"/>
                </a:solidFill>
                <a:latin typeface="Consolas"/>
              </a:rPr>
              <a:t>  </a:t>
            </a:r>
            <a:r>
              <a:rPr sz="950">
                <a:solidFill>
                  <a:srgbClr val="A78BFA"/>
                </a:solidFill>
                <a:latin typeface="Consolas"/>
              </a:rPr>
              <a:t>ROUND</a:t>
            </a:r>
            <a:r>
              <a:rPr sz="950">
                <a:solidFill>
                  <a:srgbClr val="E2E8F0"/>
                </a:solidFill>
                <a:latin typeface="Consolas"/>
              </a:rPr>
              <a:t>(data_length  / </a:t>
            </a:r>
            <a:r>
              <a:rPr sz="950">
                <a:solidFill>
                  <a:srgbClr val="FBBF24"/>
                </a:solidFill>
                <a:latin typeface="Consolas"/>
              </a:rPr>
              <a:t>1024</a:t>
            </a:r>
            <a:r>
              <a:rPr sz="950">
                <a:solidFill>
                  <a:srgbClr val="E2E8F0"/>
                </a:solidFill>
                <a:latin typeface="Consolas"/>
              </a:rPr>
              <a:t> / </a:t>
            </a:r>
            <a:r>
              <a:rPr sz="950">
                <a:solidFill>
                  <a:srgbClr val="FBBF24"/>
                </a:solidFill>
                <a:latin typeface="Consolas"/>
              </a:rPr>
              <a:t>1024</a:t>
            </a:r>
            <a:r>
              <a:rPr sz="950">
                <a:solidFill>
                  <a:srgbClr val="E2E8F0"/>
                </a:solidFill>
                <a:latin typeface="Consolas"/>
              </a:rPr>
              <a:t>, </a:t>
            </a:r>
            <a:r>
              <a:rPr sz="950">
                <a:solidFill>
                  <a:srgbClr val="FBBF24"/>
                </a:solidFill>
                <a:latin typeface="Consolas"/>
              </a:rPr>
              <a:t>3</a:t>
            </a:r>
            <a:r>
              <a:rPr sz="950">
                <a:solidFill>
                  <a:srgbClr val="E2E8F0"/>
                </a:solidFill>
                <a:latin typeface="Consolas"/>
              </a:rPr>
              <a:t>) </a:t>
            </a:r>
            <a:r>
              <a:rPr sz="950">
                <a:solidFill>
                  <a:srgbClr val="A78BFA"/>
                </a:solidFill>
                <a:latin typeface="Consolas"/>
              </a:rPr>
              <a:t>AS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86EFAC"/>
                </a:solidFill>
                <a:latin typeface="Consolas"/>
              </a:rPr>
              <a:t>'Datos MB'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15  </a:t>
            </a:r>
            <a:r>
              <a:rPr sz="950">
                <a:solidFill>
                  <a:srgbClr val="E2E8F0"/>
                </a:solidFill>
                <a:latin typeface="Consolas"/>
              </a:rPr>
              <a:t>  </a:t>
            </a:r>
            <a:r>
              <a:rPr sz="950">
                <a:solidFill>
                  <a:srgbClr val="A78BFA"/>
                </a:solidFill>
                <a:latin typeface="Consolas"/>
              </a:rPr>
              <a:t>ROUND</a:t>
            </a:r>
            <a:r>
              <a:rPr sz="950">
                <a:solidFill>
                  <a:srgbClr val="E2E8F0"/>
                </a:solidFill>
                <a:latin typeface="Consolas"/>
              </a:rPr>
              <a:t>(index_length / </a:t>
            </a:r>
            <a:r>
              <a:rPr sz="950">
                <a:solidFill>
                  <a:srgbClr val="FBBF24"/>
                </a:solidFill>
                <a:latin typeface="Consolas"/>
              </a:rPr>
              <a:t>1024</a:t>
            </a:r>
            <a:r>
              <a:rPr sz="950">
                <a:solidFill>
                  <a:srgbClr val="E2E8F0"/>
                </a:solidFill>
                <a:latin typeface="Consolas"/>
              </a:rPr>
              <a:t> / </a:t>
            </a:r>
            <a:r>
              <a:rPr sz="950">
                <a:solidFill>
                  <a:srgbClr val="FBBF24"/>
                </a:solidFill>
                <a:latin typeface="Consolas"/>
              </a:rPr>
              <a:t>1024</a:t>
            </a:r>
            <a:r>
              <a:rPr sz="950">
                <a:solidFill>
                  <a:srgbClr val="E2E8F0"/>
                </a:solidFill>
                <a:latin typeface="Consolas"/>
              </a:rPr>
              <a:t>, </a:t>
            </a:r>
            <a:r>
              <a:rPr sz="950">
                <a:solidFill>
                  <a:srgbClr val="FBBF24"/>
                </a:solidFill>
                <a:latin typeface="Consolas"/>
              </a:rPr>
              <a:t>3</a:t>
            </a:r>
            <a:r>
              <a:rPr sz="950">
                <a:solidFill>
                  <a:srgbClr val="E2E8F0"/>
                </a:solidFill>
                <a:latin typeface="Consolas"/>
              </a:rPr>
              <a:t>) </a:t>
            </a:r>
            <a:r>
              <a:rPr sz="950">
                <a:solidFill>
                  <a:srgbClr val="A78BFA"/>
                </a:solidFill>
                <a:latin typeface="Consolas"/>
              </a:rPr>
              <a:t>AS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86EFAC"/>
                </a:solidFill>
                <a:latin typeface="Consolas"/>
              </a:rPr>
              <a:t>'Indices MB'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16  </a:t>
            </a:r>
            <a:r>
              <a:rPr sz="950">
                <a:solidFill>
                  <a:srgbClr val="E2E8F0"/>
                </a:solidFill>
                <a:latin typeface="Consolas"/>
              </a:rPr>
              <a:t>  table_rows              </a:t>
            </a:r>
            <a:r>
              <a:rPr sz="950">
                <a:solidFill>
                  <a:srgbClr val="A78BFA"/>
                </a:solidFill>
                <a:latin typeface="Consolas"/>
              </a:rPr>
              <a:t>AS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86EFAC"/>
                </a:solidFill>
                <a:latin typeface="Consolas"/>
              </a:rPr>
              <a:t>'Filas aprox'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17  </a:t>
            </a:r>
            <a:r>
              <a:rPr sz="950">
                <a:solidFill>
                  <a:srgbClr val="A78BFA"/>
                </a:solidFill>
                <a:latin typeface="Consolas"/>
              </a:rPr>
              <a:t>FROM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A78BFA"/>
                </a:solidFill>
                <a:latin typeface="Consolas"/>
              </a:rPr>
              <a:t>information_schema</a:t>
            </a:r>
            <a:r>
              <a:rPr sz="950">
                <a:solidFill>
                  <a:srgbClr val="E2E8F0"/>
                </a:solidFill>
                <a:latin typeface="Consolas"/>
              </a:rPr>
              <a:t>.tables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18  </a:t>
            </a:r>
            <a:r>
              <a:rPr sz="950">
                <a:solidFill>
                  <a:srgbClr val="A78BFA"/>
                </a:solidFill>
                <a:latin typeface="Consolas"/>
              </a:rPr>
              <a:t>WHERE</a:t>
            </a:r>
            <a:r>
              <a:rPr sz="950">
                <a:solidFill>
                  <a:srgbClr val="E2E8F0"/>
                </a:solidFill>
                <a:latin typeface="Consolas"/>
              </a:rPr>
              <a:t> table_schema = </a:t>
            </a:r>
            <a:r>
              <a:rPr sz="950">
                <a:solidFill>
                  <a:srgbClr val="86EFAC"/>
                </a:solidFill>
                <a:latin typeface="Consolas"/>
              </a:rPr>
              <a:t>'disco_practica'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19  </a:t>
            </a:r>
            <a:r>
              <a:rPr sz="950">
                <a:solidFill>
                  <a:srgbClr val="A78BFA"/>
                </a:solidFill>
                <a:latin typeface="Consolas"/>
              </a:rPr>
              <a:t>ORDER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A78BFA"/>
                </a:solidFill>
                <a:latin typeface="Consolas"/>
              </a:rPr>
              <a:t>BY</a:t>
            </a:r>
            <a:r>
              <a:rPr sz="950">
                <a:solidFill>
                  <a:srgbClr val="E2E8F0"/>
                </a:solidFill>
                <a:latin typeface="Consolas"/>
              </a:rPr>
              <a:t> (data_length + index_length) DESC;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{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F45A5A"/>
                </a:solidFill>
                <a:latin typeface="Segoe UI Semibold"/>
              </a:rPr>
              <a:t>SECCION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Cuotas y Limites de Usuario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927080" y="6455664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27080" y="6449314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10 / 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874519"/>
            <a:ext cx="10881360" cy="4434840"/>
          </a:xfrm>
          <a:prstGeom prst="roundRect">
            <a:avLst>
              <a:gd name="adj" fmla="val 3500"/>
            </a:avLst>
          </a:prstGeom>
          <a:solidFill>
            <a:srgbClr val="182132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1874519"/>
            <a:ext cx="10881360" cy="384048"/>
          </a:xfrm>
          <a:prstGeom prst="roundRect">
            <a:avLst>
              <a:gd name="adj" fmla="val 3500"/>
            </a:avLst>
          </a:prstGeom>
          <a:solidFill>
            <a:srgbClr val="21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9536" y="2002535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7280" y="2002535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335024" y="2002535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1874519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94A3B8"/>
                </a:solidFill>
                <a:latin typeface="Consolas"/>
              </a:rPr>
              <a:t>sesion_03.sql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350007"/>
            <a:ext cx="10378440" cy="3867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1  </a:t>
            </a:r>
            <a:r>
              <a:rPr sz="950">
                <a:solidFill>
                  <a:srgbClr val="64748B"/>
                </a:solidFill>
                <a:latin typeface="Consolas"/>
              </a:rPr>
              <a:t>-- Crear usuario con limites de recursos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2  </a:t>
            </a:r>
            <a:r>
              <a:rPr sz="950">
                <a:solidFill>
                  <a:srgbClr val="A78BFA"/>
                </a:solidFill>
                <a:latin typeface="Consolas"/>
              </a:rPr>
              <a:t>CREATE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A78BFA"/>
                </a:solidFill>
                <a:latin typeface="Consolas"/>
              </a:rPr>
              <a:t>USER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86EFAC"/>
                </a:solidFill>
                <a:latin typeface="Consolas"/>
              </a:rPr>
              <a:t>'alumno_practica'</a:t>
            </a:r>
            <a:r>
              <a:rPr sz="950">
                <a:solidFill>
                  <a:srgbClr val="E2E8F0"/>
                </a:solidFill>
                <a:latin typeface="Consolas"/>
              </a:rPr>
              <a:t>@</a:t>
            </a:r>
            <a:r>
              <a:rPr sz="950">
                <a:solidFill>
                  <a:srgbClr val="86EFAC"/>
                </a:solidFill>
                <a:latin typeface="Consolas"/>
              </a:rPr>
              <a:t>'localhost'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3  </a:t>
            </a:r>
            <a:r>
              <a:rPr sz="950">
                <a:solidFill>
                  <a:srgbClr val="E2E8F0"/>
                </a:solidFill>
                <a:latin typeface="Consolas"/>
              </a:rPr>
              <a:t>  </a:t>
            </a:r>
            <a:r>
              <a:rPr sz="950">
                <a:solidFill>
                  <a:srgbClr val="A78BFA"/>
                </a:solidFill>
                <a:latin typeface="Consolas"/>
              </a:rPr>
              <a:t>IDENTIFIED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A78BFA"/>
                </a:solidFill>
                <a:latin typeface="Consolas"/>
              </a:rPr>
              <a:t>BY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86EFAC"/>
                </a:solidFill>
                <a:latin typeface="Consolas"/>
              </a:rPr>
              <a:t>'Abc123!'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4  </a:t>
            </a:r>
            <a:r>
              <a:rPr sz="950">
                <a:solidFill>
                  <a:srgbClr val="E2E8F0"/>
                </a:solidFill>
                <a:latin typeface="Consolas"/>
              </a:rPr>
              <a:t>  </a:t>
            </a:r>
            <a:r>
              <a:rPr sz="950">
                <a:solidFill>
                  <a:srgbClr val="A78BFA"/>
                </a:solidFill>
                <a:latin typeface="Consolas"/>
              </a:rPr>
              <a:t>WITH</a:t>
            </a:r>
            <a:r>
              <a:rPr sz="950">
                <a:solidFill>
                  <a:srgbClr val="E2E8F0"/>
                </a:solidFill>
                <a:latin typeface="Consolas"/>
              </a:rPr>
              <a:t> MAX_QUERIES_PER_HOUR     </a:t>
            </a:r>
            <a:r>
              <a:rPr sz="950">
                <a:solidFill>
                  <a:srgbClr val="FBBF24"/>
                </a:solidFill>
                <a:latin typeface="Consolas"/>
              </a:rPr>
              <a:t>500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5  </a:t>
            </a:r>
            <a:r>
              <a:rPr sz="950">
                <a:solidFill>
                  <a:srgbClr val="E2E8F0"/>
                </a:solidFill>
                <a:latin typeface="Consolas"/>
              </a:rPr>
              <a:t>       MAX_UPDATES_PER_HOUR     </a:t>
            </a:r>
            <a:r>
              <a:rPr sz="950">
                <a:solidFill>
                  <a:srgbClr val="FBBF24"/>
                </a:solidFill>
                <a:latin typeface="Consolas"/>
              </a:rPr>
              <a:t>100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6  </a:t>
            </a:r>
            <a:r>
              <a:rPr sz="950">
                <a:solidFill>
                  <a:srgbClr val="E2E8F0"/>
                </a:solidFill>
                <a:latin typeface="Consolas"/>
              </a:rPr>
              <a:t>       MAX_CONNECTIONS_PER_HOUR  </a:t>
            </a:r>
            <a:r>
              <a:rPr sz="950">
                <a:solidFill>
                  <a:srgbClr val="FBBF24"/>
                </a:solidFill>
                <a:latin typeface="Consolas"/>
              </a:rPr>
              <a:t>50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7  </a:t>
            </a:r>
            <a:r>
              <a:rPr sz="950">
                <a:solidFill>
                  <a:srgbClr val="E2E8F0"/>
                </a:solidFill>
                <a:latin typeface="Consolas"/>
              </a:rPr>
              <a:t>       MAX_USER_CONNECTIONS       </a:t>
            </a:r>
            <a:r>
              <a:rPr sz="950">
                <a:solidFill>
                  <a:srgbClr val="FBBF24"/>
                </a:solidFill>
                <a:latin typeface="Consolas"/>
              </a:rPr>
              <a:t>3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8  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9  </a:t>
            </a:r>
            <a:r>
              <a:rPr sz="950">
                <a:solidFill>
                  <a:srgbClr val="64748B"/>
                </a:solidFill>
                <a:latin typeface="Consolas"/>
              </a:rPr>
              <a:t>-- Verificar los limites asignados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10  </a:t>
            </a:r>
            <a:r>
              <a:rPr sz="950">
                <a:solidFill>
                  <a:srgbClr val="A78BFA"/>
                </a:solidFill>
                <a:latin typeface="Consolas"/>
              </a:rPr>
              <a:t>SELECT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A78BFA"/>
                </a:solidFill>
                <a:latin typeface="Consolas"/>
              </a:rPr>
              <a:t>user</a:t>
            </a:r>
            <a:r>
              <a:rPr sz="950">
                <a:solidFill>
                  <a:srgbClr val="E2E8F0"/>
                </a:solidFill>
                <a:latin typeface="Consolas"/>
              </a:rPr>
              <a:t>, host,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11  </a:t>
            </a:r>
            <a:r>
              <a:rPr sz="950">
                <a:solidFill>
                  <a:srgbClr val="E2E8F0"/>
                </a:solidFill>
                <a:latin typeface="Consolas"/>
              </a:rPr>
              <a:t>       max_questions, max_updates,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12  </a:t>
            </a:r>
            <a:r>
              <a:rPr sz="950">
                <a:solidFill>
                  <a:srgbClr val="E2E8F0"/>
                </a:solidFill>
                <a:latin typeface="Consolas"/>
              </a:rPr>
              <a:t>       max_connections, max_user_connections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13  </a:t>
            </a:r>
            <a:r>
              <a:rPr sz="950">
                <a:solidFill>
                  <a:srgbClr val="A78BFA"/>
                </a:solidFill>
                <a:latin typeface="Consolas"/>
              </a:rPr>
              <a:t>FROM</a:t>
            </a:r>
            <a:r>
              <a:rPr sz="950">
                <a:solidFill>
                  <a:srgbClr val="E2E8F0"/>
                </a:solidFill>
                <a:latin typeface="Consolas"/>
              </a:rPr>
              <a:t> mysql.</a:t>
            </a:r>
            <a:r>
              <a:rPr sz="950">
                <a:solidFill>
                  <a:srgbClr val="A78BFA"/>
                </a:solidFill>
                <a:latin typeface="Consolas"/>
              </a:rPr>
              <a:t>user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14  </a:t>
            </a:r>
            <a:r>
              <a:rPr sz="950">
                <a:solidFill>
                  <a:srgbClr val="A78BFA"/>
                </a:solidFill>
                <a:latin typeface="Consolas"/>
              </a:rPr>
              <a:t>WHERE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A78BFA"/>
                </a:solidFill>
                <a:latin typeface="Consolas"/>
              </a:rPr>
              <a:t>user</a:t>
            </a:r>
            <a:r>
              <a:rPr sz="950">
                <a:solidFill>
                  <a:srgbClr val="E2E8F0"/>
                </a:solidFill>
                <a:latin typeface="Consolas"/>
              </a:rPr>
              <a:t> = </a:t>
            </a:r>
            <a:r>
              <a:rPr sz="950">
                <a:solidFill>
                  <a:srgbClr val="86EFAC"/>
                </a:solidFill>
                <a:latin typeface="Consolas"/>
              </a:rPr>
              <a:t>'alumno_practica'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15  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16  </a:t>
            </a:r>
            <a:r>
              <a:rPr sz="950">
                <a:solidFill>
                  <a:srgbClr val="64748B"/>
                </a:solidFill>
                <a:latin typeface="Consolas"/>
              </a:rPr>
              <a:t>-- Modificar limites de un usuario existente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17  </a:t>
            </a:r>
            <a:r>
              <a:rPr sz="950">
                <a:solidFill>
                  <a:srgbClr val="A78BFA"/>
                </a:solidFill>
                <a:latin typeface="Consolas"/>
              </a:rPr>
              <a:t>ALTER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A78BFA"/>
                </a:solidFill>
                <a:latin typeface="Consolas"/>
              </a:rPr>
              <a:t>USER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86EFAC"/>
                </a:solidFill>
                <a:latin typeface="Consolas"/>
              </a:rPr>
              <a:t>'alumno_practica'</a:t>
            </a:r>
            <a:r>
              <a:rPr sz="950">
                <a:solidFill>
                  <a:srgbClr val="E2E8F0"/>
                </a:solidFill>
                <a:latin typeface="Consolas"/>
              </a:rPr>
              <a:t>@</a:t>
            </a:r>
            <a:r>
              <a:rPr sz="950">
                <a:solidFill>
                  <a:srgbClr val="86EFAC"/>
                </a:solidFill>
                <a:latin typeface="Consolas"/>
              </a:rPr>
              <a:t>'localhost'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18  </a:t>
            </a:r>
            <a:r>
              <a:rPr sz="950">
                <a:solidFill>
                  <a:srgbClr val="E2E8F0"/>
                </a:solidFill>
                <a:latin typeface="Consolas"/>
              </a:rPr>
              <a:t>  </a:t>
            </a:r>
            <a:r>
              <a:rPr sz="950">
                <a:solidFill>
                  <a:srgbClr val="A78BFA"/>
                </a:solidFill>
                <a:latin typeface="Consolas"/>
              </a:rPr>
              <a:t>WITH</a:t>
            </a:r>
            <a:r>
              <a:rPr sz="950">
                <a:solidFill>
                  <a:srgbClr val="E2E8F0"/>
                </a:solidFill>
                <a:latin typeface="Consolas"/>
              </a:rPr>
              <a:t> MAX_QUERIES_PER_HOUR </a:t>
            </a:r>
            <a:r>
              <a:rPr sz="950">
                <a:solidFill>
                  <a:srgbClr val="FBBF24"/>
                </a:solidFill>
                <a:latin typeface="Consolas"/>
              </a:rPr>
              <a:t>1000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19  </a:t>
            </a:r>
            <a:r>
              <a:rPr sz="950">
                <a:solidFill>
                  <a:srgbClr val="E2E8F0"/>
                </a:solidFill>
                <a:latin typeface="Consolas"/>
              </a:rPr>
              <a:t>       MAX_USER_CONNECTIONS    </a:t>
            </a:r>
            <a:r>
              <a:rPr sz="950">
                <a:solidFill>
                  <a:srgbClr val="FBBF24"/>
                </a:solidFill>
                <a:latin typeface="Consolas"/>
              </a:rPr>
              <a:t>5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20  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21  </a:t>
            </a:r>
            <a:r>
              <a:rPr sz="950">
                <a:solidFill>
                  <a:srgbClr val="64748B"/>
                </a:solidFill>
                <a:latin typeface="Consolas"/>
              </a:rPr>
              <a:t>-- Aplicar cambios sin reiniciar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22  </a:t>
            </a:r>
            <a:r>
              <a:rPr sz="950">
                <a:solidFill>
                  <a:srgbClr val="A78BFA"/>
                </a:solidFill>
                <a:latin typeface="Consolas"/>
              </a:rPr>
              <a:t>FLUSH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A78BFA"/>
                </a:solidFill>
                <a:latin typeface="Consolas"/>
              </a:rPr>
              <a:t>PRIVILEGES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{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7C3AED"/>
                </a:solidFill>
                <a:latin typeface="Segoe UI Semibold"/>
              </a:rPr>
              <a:t>SECCION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Roles y Privilegios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927080" y="6455664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27080" y="6449314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11 / 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874519"/>
            <a:ext cx="10881360" cy="4434840"/>
          </a:xfrm>
          <a:prstGeom prst="roundRect">
            <a:avLst>
              <a:gd name="adj" fmla="val 3500"/>
            </a:avLst>
          </a:prstGeom>
          <a:solidFill>
            <a:srgbClr val="182132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1874519"/>
            <a:ext cx="10881360" cy="384048"/>
          </a:xfrm>
          <a:prstGeom prst="roundRect">
            <a:avLst>
              <a:gd name="adj" fmla="val 3500"/>
            </a:avLst>
          </a:prstGeom>
          <a:solidFill>
            <a:srgbClr val="21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9536" y="2002535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7280" y="2002535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335024" y="2002535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1874519"/>
            <a:ext cx="108813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94A3B8"/>
                </a:solidFill>
                <a:latin typeface="Consolas"/>
              </a:rPr>
              <a:t>sesion_04.sql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350007"/>
            <a:ext cx="10378440" cy="3867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1  </a:t>
            </a:r>
            <a:r>
              <a:rPr sz="950">
                <a:solidFill>
                  <a:srgbClr val="64748B"/>
                </a:solidFill>
                <a:latin typeface="Consolas"/>
              </a:rPr>
              <a:t>-- Crear los roles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2  </a:t>
            </a:r>
            <a:r>
              <a:rPr sz="950">
                <a:solidFill>
                  <a:srgbClr val="A78BFA"/>
                </a:solidFill>
                <a:latin typeface="Consolas"/>
              </a:rPr>
              <a:t>CREATE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A78BFA"/>
                </a:solidFill>
                <a:latin typeface="Consolas"/>
              </a:rPr>
              <a:t>ROLE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86EFAC"/>
                </a:solidFill>
                <a:latin typeface="Consolas"/>
              </a:rPr>
              <a:t>'rol_lectura'</a:t>
            </a:r>
            <a:r>
              <a:rPr sz="950">
                <a:solidFill>
                  <a:srgbClr val="E2E8F0"/>
                </a:solidFill>
                <a:latin typeface="Consolas"/>
              </a:rPr>
              <a:t>, </a:t>
            </a:r>
            <a:r>
              <a:rPr sz="950">
                <a:solidFill>
                  <a:srgbClr val="86EFAC"/>
                </a:solidFill>
                <a:latin typeface="Consolas"/>
              </a:rPr>
              <a:t>'rol_escritura'</a:t>
            </a:r>
            <a:r>
              <a:rPr sz="950">
                <a:solidFill>
                  <a:srgbClr val="E2E8F0"/>
                </a:solidFill>
                <a:latin typeface="Consolas"/>
              </a:rPr>
              <a:t>, </a:t>
            </a:r>
            <a:r>
              <a:rPr sz="950">
                <a:solidFill>
                  <a:srgbClr val="86EFAC"/>
                </a:solidFill>
                <a:latin typeface="Consolas"/>
              </a:rPr>
              <a:t>'rol_admin'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3  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4  </a:t>
            </a:r>
            <a:r>
              <a:rPr sz="950">
                <a:solidFill>
                  <a:srgbClr val="64748B"/>
                </a:solidFill>
                <a:latin typeface="Consolas"/>
              </a:rPr>
              <a:t>-- Asignar privilegios a cada rol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5  </a:t>
            </a:r>
            <a:r>
              <a:rPr sz="950">
                <a:solidFill>
                  <a:srgbClr val="A78BFA"/>
                </a:solidFill>
                <a:latin typeface="Consolas"/>
              </a:rPr>
              <a:t>GRANT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A78BFA"/>
                </a:solidFill>
                <a:latin typeface="Consolas"/>
              </a:rPr>
              <a:t>SELECT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A78BFA"/>
                </a:solidFill>
                <a:latin typeface="Consolas"/>
              </a:rPr>
              <a:t>ON</a:t>
            </a:r>
            <a:r>
              <a:rPr sz="950">
                <a:solidFill>
                  <a:srgbClr val="E2E8F0"/>
                </a:solidFill>
                <a:latin typeface="Consolas"/>
              </a:rPr>
              <a:t> disco_practica.* </a:t>
            </a:r>
            <a:r>
              <a:rPr sz="950">
                <a:solidFill>
                  <a:srgbClr val="A78BFA"/>
                </a:solidFill>
                <a:latin typeface="Consolas"/>
              </a:rPr>
              <a:t>TO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86EFAC"/>
                </a:solidFill>
                <a:latin typeface="Consolas"/>
              </a:rPr>
              <a:t>'rol_lectura'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6  </a:t>
            </a:r>
            <a:r>
              <a:rPr sz="950">
                <a:solidFill>
                  <a:srgbClr val="A78BFA"/>
                </a:solidFill>
                <a:latin typeface="Consolas"/>
              </a:rPr>
              <a:t>GRANT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A78BFA"/>
                </a:solidFill>
                <a:latin typeface="Consolas"/>
              </a:rPr>
              <a:t>SELECT</a:t>
            </a:r>
            <a:r>
              <a:rPr sz="950">
                <a:solidFill>
                  <a:srgbClr val="E2E8F0"/>
                </a:solidFill>
                <a:latin typeface="Consolas"/>
              </a:rPr>
              <a:t>, </a:t>
            </a:r>
            <a:r>
              <a:rPr sz="950">
                <a:solidFill>
                  <a:srgbClr val="A78BFA"/>
                </a:solidFill>
                <a:latin typeface="Consolas"/>
              </a:rPr>
              <a:t>INSERT</a:t>
            </a:r>
            <a:r>
              <a:rPr sz="950">
                <a:solidFill>
                  <a:srgbClr val="E2E8F0"/>
                </a:solidFill>
                <a:latin typeface="Consolas"/>
              </a:rPr>
              <a:t>, </a:t>
            </a:r>
            <a:r>
              <a:rPr sz="950">
                <a:solidFill>
                  <a:srgbClr val="A78BFA"/>
                </a:solidFill>
                <a:latin typeface="Consolas"/>
              </a:rPr>
              <a:t>UPDATE</a:t>
            </a:r>
            <a:r>
              <a:rPr sz="950">
                <a:solidFill>
                  <a:srgbClr val="E2E8F0"/>
                </a:solidFill>
                <a:latin typeface="Consolas"/>
              </a:rPr>
              <a:t>, </a:t>
            </a:r>
            <a:r>
              <a:rPr sz="950">
                <a:solidFill>
                  <a:srgbClr val="A78BFA"/>
                </a:solidFill>
                <a:latin typeface="Consolas"/>
              </a:rPr>
              <a:t>DELETE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A78BFA"/>
                </a:solidFill>
                <a:latin typeface="Consolas"/>
              </a:rPr>
              <a:t>ON</a:t>
            </a:r>
            <a:r>
              <a:rPr sz="950">
                <a:solidFill>
                  <a:srgbClr val="E2E8F0"/>
                </a:solidFill>
                <a:latin typeface="Consolas"/>
              </a:rPr>
              <a:t> disco_practica.* </a:t>
            </a:r>
            <a:r>
              <a:rPr sz="950">
                <a:solidFill>
                  <a:srgbClr val="A78BFA"/>
                </a:solidFill>
                <a:latin typeface="Consolas"/>
              </a:rPr>
              <a:t>TO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86EFAC"/>
                </a:solidFill>
                <a:latin typeface="Consolas"/>
              </a:rPr>
              <a:t>'rol_escritura'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7  </a:t>
            </a:r>
            <a:r>
              <a:rPr sz="950">
                <a:solidFill>
                  <a:srgbClr val="A78BFA"/>
                </a:solidFill>
                <a:latin typeface="Consolas"/>
              </a:rPr>
              <a:t>GRANT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A78BFA"/>
                </a:solidFill>
                <a:latin typeface="Consolas"/>
              </a:rPr>
              <a:t>ALL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A78BFA"/>
                </a:solidFill>
                <a:latin typeface="Consolas"/>
              </a:rPr>
              <a:t>PRIVILEGES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A78BFA"/>
                </a:solidFill>
                <a:latin typeface="Consolas"/>
              </a:rPr>
              <a:t>ON</a:t>
            </a:r>
            <a:r>
              <a:rPr sz="950">
                <a:solidFill>
                  <a:srgbClr val="E2E8F0"/>
                </a:solidFill>
                <a:latin typeface="Consolas"/>
              </a:rPr>
              <a:t> disco_practica.* </a:t>
            </a:r>
            <a:r>
              <a:rPr sz="950">
                <a:solidFill>
                  <a:srgbClr val="A78BFA"/>
                </a:solidFill>
                <a:latin typeface="Consolas"/>
              </a:rPr>
              <a:t>TO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86EFAC"/>
                </a:solidFill>
                <a:latin typeface="Consolas"/>
              </a:rPr>
              <a:t>'rol_admin'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8  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9  </a:t>
            </a:r>
            <a:r>
              <a:rPr sz="950">
                <a:solidFill>
                  <a:srgbClr val="64748B"/>
                </a:solidFill>
                <a:latin typeface="Consolas"/>
              </a:rPr>
              <a:t>-- Asignar rol al usuario creado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10  </a:t>
            </a:r>
            <a:r>
              <a:rPr sz="950">
                <a:solidFill>
                  <a:srgbClr val="A78BFA"/>
                </a:solidFill>
                <a:latin typeface="Consolas"/>
              </a:rPr>
              <a:t>GRANT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86EFAC"/>
                </a:solidFill>
                <a:latin typeface="Consolas"/>
              </a:rPr>
              <a:t>'rol_escritura'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A78BFA"/>
                </a:solidFill>
                <a:latin typeface="Consolas"/>
              </a:rPr>
              <a:t>TO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86EFAC"/>
                </a:solidFill>
                <a:latin typeface="Consolas"/>
              </a:rPr>
              <a:t>'alumno_practica'</a:t>
            </a:r>
            <a:r>
              <a:rPr sz="950">
                <a:solidFill>
                  <a:srgbClr val="E2E8F0"/>
                </a:solidFill>
                <a:latin typeface="Consolas"/>
              </a:rPr>
              <a:t>@</a:t>
            </a:r>
            <a:r>
              <a:rPr sz="950">
                <a:solidFill>
                  <a:srgbClr val="86EFAC"/>
                </a:solidFill>
                <a:latin typeface="Consolas"/>
              </a:rPr>
              <a:t>'localhost'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11  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12  </a:t>
            </a:r>
            <a:r>
              <a:rPr sz="950">
                <a:solidFill>
                  <a:srgbClr val="64748B"/>
                </a:solidFill>
                <a:latin typeface="Consolas"/>
              </a:rPr>
              <a:t>-- Activar el rol en la sesion del usuario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13  </a:t>
            </a:r>
            <a:r>
              <a:rPr sz="950">
                <a:solidFill>
                  <a:srgbClr val="A78BFA"/>
                </a:solidFill>
                <a:latin typeface="Consolas"/>
              </a:rPr>
              <a:t>SET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A78BFA"/>
                </a:solidFill>
                <a:latin typeface="Consolas"/>
              </a:rPr>
              <a:t>DEFAULT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A78BFA"/>
                </a:solidFill>
                <a:latin typeface="Consolas"/>
              </a:rPr>
              <a:t>ROLE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86EFAC"/>
                </a:solidFill>
                <a:latin typeface="Consolas"/>
              </a:rPr>
              <a:t>'rol_escritura'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A78BFA"/>
                </a:solidFill>
                <a:latin typeface="Consolas"/>
              </a:rPr>
              <a:t>TO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86EFAC"/>
                </a:solidFill>
                <a:latin typeface="Consolas"/>
              </a:rPr>
              <a:t>'alumno_practica'</a:t>
            </a:r>
            <a:r>
              <a:rPr sz="950">
                <a:solidFill>
                  <a:srgbClr val="E2E8F0"/>
                </a:solidFill>
                <a:latin typeface="Consolas"/>
              </a:rPr>
              <a:t>@</a:t>
            </a:r>
            <a:r>
              <a:rPr sz="950">
                <a:solidFill>
                  <a:srgbClr val="86EFAC"/>
                </a:solidFill>
                <a:latin typeface="Consolas"/>
              </a:rPr>
              <a:t>'localhost'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14  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15  </a:t>
            </a:r>
            <a:r>
              <a:rPr sz="950">
                <a:solidFill>
                  <a:srgbClr val="64748B"/>
                </a:solidFill>
                <a:latin typeface="Consolas"/>
              </a:rPr>
              <a:t>-- Ver privilegios del usuario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16  </a:t>
            </a:r>
            <a:r>
              <a:rPr sz="950">
                <a:solidFill>
                  <a:srgbClr val="A78BFA"/>
                </a:solidFill>
                <a:latin typeface="Consolas"/>
              </a:rPr>
              <a:t>SHOW</a:t>
            </a:r>
            <a:r>
              <a:rPr sz="950">
                <a:solidFill>
                  <a:srgbClr val="E2E8F0"/>
                </a:solidFill>
                <a:latin typeface="Consolas"/>
              </a:rPr>
              <a:t> GRANTS FOR </a:t>
            </a:r>
            <a:r>
              <a:rPr sz="950">
                <a:solidFill>
                  <a:srgbClr val="86EFAC"/>
                </a:solidFill>
                <a:latin typeface="Consolas"/>
              </a:rPr>
              <a:t>'alumno_practica'</a:t>
            </a:r>
            <a:r>
              <a:rPr sz="950">
                <a:solidFill>
                  <a:srgbClr val="E2E8F0"/>
                </a:solidFill>
                <a:latin typeface="Consolas"/>
              </a:rPr>
              <a:t>@</a:t>
            </a:r>
            <a:r>
              <a:rPr sz="950">
                <a:solidFill>
                  <a:srgbClr val="86EFAC"/>
                </a:solidFill>
                <a:latin typeface="Consolas"/>
              </a:rPr>
              <a:t>'localhost'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17  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18  </a:t>
            </a:r>
            <a:r>
              <a:rPr sz="950">
                <a:solidFill>
                  <a:srgbClr val="64748B"/>
                </a:solidFill>
                <a:latin typeface="Consolas"/>
              </a:rPr>
              <a:t>-- Ver roles existentes en el sistema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19  </a:t>
            </a:r>
            <a:r>
              <a:rPr sz="950">
                <a:solidFill>
                  <a:srgbClr val="A78BFA"/>
                </a:solidFill>
                <a:latin typeface="Consolas"/>
              </a:rPr>
              <a:t>SELECT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A78BFA"/>
                </a:solidFill>
                <a:latin typeface="Consolas"/>
              </a:rPr>
              <a:t>user</a:t>
            </a:r>
            <a:r>
              <a:rPr sz="950">
                <a:solidFill>
                  <a:srgbClr val="E2E8F0"/>
                </a:solidFill>
                <a:latin typeface="Consolas"/>
              </a:rPr>
              <a:t>, host </a:t>
            </a:r>
            <a:r>
              <a:rPr sz="950">
                <a:solidFill>
                  <a:srgbClr val="A78BFA"/>
                </a:solidFill>
                <a:latin typeface="Consolas"/>
              </a:rPr>
              <a:t>FROM</a:t>
            </a:r>
            <a:r>
              <a:rPr sz="950">
                <a:solidFill>
                  <a:srgbClr val="E2E8F0"/>
                </a:solidFill>
                <a:latin typeface="Consolas"/>
              </a:rPr>
              <a:t> mysql.</a:t>
            </a:r>
            <a:r>
              <a:rPr sz="950">
                <a:solidFill>
                  <a:srgbClr val="A78BFA"/>
                </a:solidFill>
                <a:latin typeface="Consolas"/>
              </a:rPr>
              <a:t>user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A78BFA"/>
                </a:solidFill>
                <a:latin typeface="Consolas"/>
              </a:rPr>
              <a:t>WHERE</a:t>
            </a:r>
            <a:r>
              <a:rPr sz="950">
                <a:solidFill>
                  <a:srgbClr val="E2E8F0"/>
                </a:solidFill>
                <a:latin typeface="Consolas"/>
              </a:rPr>
              <a:t> account_locked = </a:t>
            </a:r>
            <a:r>
              <a:rPr sz="950">
                <a:solidFill>
                  <a:srgbClr val="86EFAC"/>
                </a:solidFill>
                <a:latin typeface="Consolas"/>
              </a:rPr>
              <a:t>'Y'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F45A5A"/>
                </a:solidFill>
                <a:latin typeface="Segoe UI Semibold"/>
              </a:rPr>
              <a:t>SECCION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Resultados Obtenidos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927080" y="6455664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27080" y="6449314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12 / 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965960"/>
            <a:ext cx="5321808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2072132"/>
            <a:ext cx="477316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dirty="0">
                <a:solidFill>
                  <a:srgbClr val="111827"/>
                </a:solidFill>
                <a:latin typeface="Segoe UI Semibold"/>
              </a:rPr>
              <a:t>Consulta de </a:t>
            </a:r>
            <a:r>
              <a:rPr sz="1300" b="1" i="0" dirty="0" err="1">
                <a:solidFill>
                  <a:srgbClr val="111827"/>
                </a:solidFill>
                <a:latin typeface="Segoe UI Semibold"/>
              </a:rPr>
              <a:t>tamano</a:t>
            </a:r>
            <a:r>
              <a:rPr sz="1300" b="1" i="0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1300" b="1" i="0" dirty="0" err="1">
                <a:solidFill>
                  <a:srgbClr val="111827"/>
                </a:solidFill>
                <a:latin typeface="Segoe UI Semibold"/>
              </a:rPr>
              <a:t>por</a:t>
            </a:r>
            <a:r>
              <a:rPr sz="1300" b="1" i="0" dirty="0">
                <a:solidFill>
                  <a:srgbClr val="111827"/>
                </a:solidFill>
                <a:latin typeface="Segoe UI Semibold"/>
              </a:rPr>
              <a:t> base de </a:t>
            </a:r>
            <a:r>
              <a:rPr sz="1300" b="1" i="0" dirty="0" err="1">
                <a:solidFill>
                  <a:srgbClr val="111827"/>
                </a:solidFill>
                <a:latin typeface="Segoe UI Semibold"/>
              </a:rPr>
              <a:t>datos</a:t>
            </a:r>
            <a:endParaRPr sz="1300" b="1" i="0" dirty="0">
              <a:solidFill>
                <a:srgbClr val="111827"/>
              </a:solidFill>
              <a:latin typeface="Segoe UI Semibold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199632" y="1965960"/>
            <a:ext cx="5321808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51092" y="2069574"/>
            <a:ext cx="4773168" cy="2103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 dirty="0">
                <a:solidFill>
                  <a:srgbClr val="111827"/>
                </a:solidFill>
                <a:latin typeface="Segoe UI Semibold"/>
              </a:rPr>
              <a:t>SHOW GRANTS del </a:t>
            </a:r>
            <a:r>
              <a:rPr sz="1300" b="1" i="0" dirty="0" err="1">
                <a:solidFill>
                  <a:srgbClr val="111827"/>
                </a:solidFill>
                <a:latin typeface="Segoe UI Semibold"/>
              </a:rPr>
              <a:t>usuaio</a:t>
            </a:r>
            <a:r>
              <a:rPr sz="1300" b="1" i="0" dirty="0">
                <a:solidFill>
                  <a:srgbClr val="111827"/>
                </a:solidFill>
                <a:latin typeface="Segoe UI Semibold"/>
              </a:rPr>
              <a:t> con </a:t>
            </a:r>
            <a:r>
              <a:rPr sz="1300" b="1" i="0" dirty="0" err="1">
                <a:solidFill>
                  <a:srgbClr val="111827"/>
                </a:solidFill>
                <a:latin typeface="Segoe UI Semibold"/>
              </a:rPr>
              <a:t>rol</a:t>
            </a:r>
            <a:endParaRPr sz="1300" b="1" i="0" dirty="0">
              <a:solidFill>
                <a:srgbClr val="111827"/>
              </a:solidFill>
              <a:latin typeface="Segoe UI Semibold"/>
            </a:endParaRPr>
          </a:p>
        </p:txBody>
      </p:sp>
      <p:pic>
        <p:nvPicPr>
          <p:cNvPr id="41" name="Imagen 40">
            <a:extLst>
              <a:ext uri="{FF2B5EF4-FFF2-40B4-BE49-F238E27FC236}">
                <a16:creationId xmlns:a16="http://schemas.microsoft.com/office/drawing/2014/main" id="{5ABEE1F3-CB45-054B-D35A-A21F671F8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80" y="2699512"/>
            <a:ext cx="5318596" cy="2990498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C954A90F-F72B-B4F5-A4B2-B4926591A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650" y="2699511"/>
            <a:ext cx="5321807" cy="299230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0D9488"/>
                </a:solidFill>
                <a:latin typeface="Segoe UI Semibold"/>
              </a:rPr>
              <a:t>SECCION 09 .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Analisis de Resultados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927080" y="6455664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27080" y="6449314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13 / 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965960"/>
            <a:ext cx="5321808" cy="1810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1965960"/>
            <a:ext cx="5321808" cy="822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32688" y="2276856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22585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2295144"/>
            <a:ext cx="4224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Tablespace file-per-table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2834640"/>
            <a:ext cx="4754880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Con innodb_file_per_table=ON cada tabla genera su propio archivo .ibd, lo que facilita el mantenimiento y recuperacion de espacio al eliminar tablas.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965960"/>
            <a:ext cx="5321808" cy="1810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17920" y="1965960"/>
            <a:ext cx="5321808" cy="82296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92240" y="2276856"/>
            <a:ext cx="457200" cy="457200"/>
          </a:xfrm>
          <a:prstGeom prst="ellipse">
            <a:avLst/>
          </a:prstGeom>
          <a:solidFill>
            <a:srgbClr val="F45A5A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22585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295144"/>
            <a:ext cx="4224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Monitoreo con information_schema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2834640"/>
            <a:ext cx="4754880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Las vistas del sistema permiten auditar el uso real del disco en tiempo real sin herramientas externas, lo cual es muy util en produccion.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050792"/>
            <a:ext cx="5321808" cy="1810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58368" y="4050792"/>
            <a:ext cx="5321808" cy="822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32688" y="4361688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4343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7048" y="4379976"/>
            <a:ext cx="4224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Cuotas de usuario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" y="4919472"/>
            <a:ext cx="4754880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Los limites de recursos evitan que un usuario sature el servidor; son ideales en entornos compartidos como instituciones educativas.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050792"/>
            <a:ext cx="5321808" cy="1810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217920" y="4050792"/>
            <a:ext cx="5321808" cy="822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492240" y="4361688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0" y="4343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4379976"/>
            <a:ext cx="4224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Sistema de roles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4919472"/>
            <a:ext cx="4754880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Los roles centralizan la asignacion de permisos; cambiar privilegios del rol afecta automaticamente a todos los usuarios que lo tienen asignado.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0D9488"/>
                </a:solidFill>
                <a:latin typeface="Segoe UI Semibold"/>
              </a:rPr>
              <a:t>SECCION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Conclusiones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927080" y="6455664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27080" y="6449314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14 / 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965960"/>
            <a:ext cx="5321808" cy="1810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1965960"/>
            <a:ext cx="5321808" cy="822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32688" y="2276856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22585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2295144"/>
            <a:ext cx="4224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Administracion del espacio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2834640"/>
            <a:ext cx="4754880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La configuracion correcta de InnoDB con tablespaces por tabla mejora significativamente la gestion del almacenamiento fisico.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965960"/>
            <a:ext cx="5321808" cy="1810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17920" y="1965960"/>
            <a:ext cx="5321808" cy="82296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92240" y="2276856"/>
            <a:ext cx="457200" cy="457200"/>
          </a:xfrm>
          <a:prstGeom prst="ellipse">
            <a:avLst/>
          </a:prstGeom>
          <a:solidFill>
            <a:srgbClr val="F45A5A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22585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295144"/>
            <a:ext cx="4224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Control granular de usuarios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2834640"/>
            <a:ext cx="4754880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Definir cuotas de recursos protege la disponibilidad del servidor ante sobrecargas generadas por usuarios individuales.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050792"/>
            <a:ext cx="5321808" cy="1810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58368" y="4050792"/>
            <a:ext cx="5321808" cy="822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32688" y="4361688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4343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7048" y="4379976"/>
            <a:ext cx="4224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Roles como buena practica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" y="4919472"/>
            <a:ext cx="4754880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El sistema de roles de MySQL 8.0 simplifica la administracion de seguridad y reduce errores al cambiar permisos en masa.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050792"/>
            <a:ext cx="5321808" cy="1810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217920" y="4050792"/>
            <a:ext cx="5321808" cy="822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492240" y="4361688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92240" y="4343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4379976"/>
            <a:ext cx="422452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11827"/>
                </a:solidFill>
                <a:latin typeface="Segoe UI Semibold"/>
              </a:rPr>
              <a:t>Visibilidad total con SQL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4919472"/>
            <a:ext cx="4754880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Las vistas de information_schema eliminan la necesidad de herramientas adicionales para auditar el uso del disco.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7C3AED"/>
                </a:solidFill>
                <a:latin typeface="Segoe UI Semibold"/>
              </a:rPr>
              <a:t>SECCION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Fuentes de Informacion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927080" y="6455664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27080" y="6449314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15 / 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965960"/>
            <a:ext cx="1088136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68680" y="2084832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07213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1965960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MySQL Docs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965960"/>
            <a:ext cx="7040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Segoe UI"/>
              </a:rPr>
              <a:t>InnoDB Storage Engine (2024). dev.mysql.com/doc/refman/8.0/en/innodb-storage-engine.html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679192"/>
            <a:ext cx="1088136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68680" y="2798064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278536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2679192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MySQL Docs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679192"/>
            <a:ext cx="7040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Segoe UI"/>
              </a:rPr>
              <a:t>Using Roles (2024). dev.mysql.com/doc/refman/8.0/en/roles.html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392424"/>
            <a:ext cx="1088136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68680" y="3511296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349859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392424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MySQL Docs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3392424"/>
            <a:ext cx="7040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Segoe UI"/>
              </a:rPr>
              <a:t>INFORMATION_SCHEMA Tables (2024). dev.mysql.com/doc/refman/8.0/en/information-schema.html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105656"/>
            <a:ext cx="1088136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68680" y="4224528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421182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105656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Silberschatz et 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4105656"/>
            <a:ext cx="7040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Segoe UI"/>
              </a:rPr>
              <a:t>Database System Concepts, 7ma ed. (2019). McGraw-Hill Education.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818888"/>
            <a:ext cx="1088136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68680" y="4937760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492506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4818888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Schwartz et al.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4818888"/>
            <a:ext cx="7040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Segoe UI"/>
              </a:rPr>
              <a:t>High Performance MySQL, 3ra ed. (2012). O'Reilly Media.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532120"/>
            <a:ext cx="1088136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68680" y="5650992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8680" y="563829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5532120"/>
            <a:ext cx="2926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Coronel &amp; Morris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5532120"/>
            <a:ext cx="70408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Segoe UI"/>
              </a:rPr>
              <a:t>Database Systems: Design, Implementation &amp; Management, 13va ed. (2018). Cengage.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600" b="1" i="0">
                <a:solidFill>
                  <a:srgbClr val="EEF2FF"/>
                </a:solidFill>
                <a:latin typeface="Segoe UI Semibold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D97706"/>
                </a:solidFill>
                <a:latin typeface="Segoe UI Semibold"/>
              </a:rPr>
              <a:t>SECCION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11827"/>
                </a:solidFill>
                <a:latin typeface="Segoe UI Semibold"/>
              </a:rPr>
              <a:t>Resumen: Paso a Paso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927080" y="6455664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27080" y="6449314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16 / 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965960"/>
            <a:ext cx="5321808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1965960"/>
            <a:ext cx="82296" cy="67665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59536" y="2103120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20904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6" y="2039112"/>
            <a:ext cx="44074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11827"/>
                </a:solidFill>
                <a:latin typeface="Segoe UI Semibold"/>
              </a:rPr>
              <a:t>Verificar MySQL activo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8176" y="2350008"/>
            <a:ext cx="44074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B7280"/>
                </a:solidFill>
                <a:latin typeface="Consolas"/>
              </a:rPr>
              <a:t>services.msc -&gt; MySQL8080 -&gt; Running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965960"/>
            <a:ext cx="5321808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17920" y="1965960"/>
            <a:ext cx="82296" cy="676656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19088" y="2103120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F45A5A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9088" y="209042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2039112"/>
            <a:ext cx="44074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11827"/>
                </a:solidFill>
                <a:latin typeface="Segoe UI Semibold"/>
              </a:rPr>
              <a:t>Conectar al servidor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2350008"/>
            <a:ext cx="44074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B7280"/>
                </a:solidFill>
                <a:latin typeface="Consolas"/>
              </a:rPr>
              <a:t>mysql -u root -p -P 3306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807208"/>
            <a:ext cx="5321808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58368" y="2807208"/>
            <a:ext cx="82296" cy="67665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59536" y="2944368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9536" y="293166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2880360"/>
            <a:ext cx="44074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11827"/>
                </a:solidFill>
                <a:latin typeface="Segoe UI Semibold"/>
              </a:rPr>
              <a:t>Revisar InnoDB config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8176" y="3191256"/>
            <a:ext cx="44074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B7280"/>
                </a:solidFill>
                <a:latin typeface="Consolas"/>
              </a:rPr>
              <a:t>SHOW VARIABLES LIKE 'innodb_file_per_table'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807208"/>
            <a:ext cx="5321808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217920" y="2807208"/>
            <a:ext cx="82296" cy="67665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419088" y="2944368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19088" y="293166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7728" y="2880360"/>
            <a:ext cx="44074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11827"/>
                </a:solidFill>
                <a:latin typeface="Segoe UI Semibold"/>
              </a:rPr>
              <a:t>Crear base de datos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191256"/>
            <a:ext cx="44074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B7280"/>
                </a:solidFill>
                <a:latin typeface="Consolas"/>
              </a:rPr>
              <a:t>CREATE DATABASE disco_practica...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3648456"/>
            <a:ext cx="5321808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58368" y="3648456"/>
            <a:ext cx="82296" cy="67665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59536" y="3785616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D97706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9536" y="377291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08176" y="3721608"/>
            <a:ext cx="44074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11827"/>
                </a:solidFill>
                <a:latin typeface="Segoe UI Semibold"/>
              </a:rPr>
              <a:t>Crear tabla de prueba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08176" y="4032504"/>
            <a:ext cx="44074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B7280"/>
                </a:solidFill>
                <a:latin typeface="Consolas"/>
              </a:rPr>
              <a:t>CREATE TABLE productos (...) ENGINE=InnoDB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3648456"/>
            <a:ext cx="5321808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217920" y="3648456"/>
            <a:ext cx="82296" cy="67665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419088" y="3785616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19088" y="377291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67728" y="3721608"/>
            <a:ext cx="44074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11827"/>
                </a:solidFill>
                <a:latin typeface="Segoe UI Semibold"/>
              </a:rPr>
              <a:t>Consultar tamano BD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67728" y="4032504"/>
            <a:ext cx="44074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B7280"/>
                </a:solidFill>
                <a:latin typeface="Consolas"/>
              </a:rPr>
              <a:t>SELECT ... FROM information_schema.tables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" y="4489704"/>
            <a:ext cx="5321808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58368" y="4489704"/>
            <a:ext cx="82296" cy="676656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859536" y="4626864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F45A5A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9536" y="461416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08176" y="4562856"/>
            <a:ext cx="44074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11827"/>
                </a:solidFill>
                <a:latin typeface="Segoe UI Semibold"/>
              </a:rPr>
              <a:t>Crear usuario con cuotas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08176" y="4873752"/>
            <a:ext cx="44074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B7280"/>
                </a:solidFill>
                <a:latin typeface="Consolas"/>
              </a:rPr>
              <a:t>CREATE USER ... WITH MAX_QUERIES_PER_HOUR 500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4489704"/>
            <a:ext cx="5321808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6217920" y="4489704"/>
            <a:ext cx="82296" cy="67665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6419088" y="4626864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19088" y="461416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67728" y="4562856"/>
            <a:ext cx="44074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11827"/>
                </a:solidFill>
                <a:latin typeface="Segoe UI Semibold"/>
              </a:rPr>
              <a:t>Crear roles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67728" y="4873752"/>
            <a:ext cx="44074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B7280"/>
                </a:solidFill>
                <a:latin typeface="Consolas"/>
              </a:rPr>
              <a:t>CREATE ROLE 'rol_lectura', 'rol_escritura'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8368" y="5330952"/>
            <a:ext cx="5321808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658368" y="5330952"/>
            <a:ext cx="82296" cy="67665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859536" y="5468112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59536" y="545541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08176" y="5404104"/>
            <a:ext cx="44074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11827"/>
                </a:solidFill>
                <a:latin typeface="Segoe UI Semibold"/>
              </a:rPr>
              <a:t>Asignar privilegios a rol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08176" y="5715000"/>
            <a:ext cx="44074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B7280"/>
                </a:solidFill>
                <a:latin typeface="Consolas"/>
              </a:rPr>
              <a:t>GRANT SELECT ON disco_practica.* TO 'rol_lectura'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17920" y="5330952"/>
            <a:ext cx="5321808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6217920" y="5330952"/>
            <a:ext cx="82296" cy="67665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6419088" y="5468112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D97706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419088" y="545541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 Semibold"/>
              </a:rPr>
              <a:t>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67728" y="5404104"/>
            <a:ext cx="440740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11827"/>
                </a:solidFill>
                <a:latin typeface="Segoe UI Semibold"/>
              </a:rPr>
              <a:t>Asignar rol a usuario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67728" y="5715000"/>
            <a:ext cx="44074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B7280"/>
                </a:solidFill>
                <a:latin typeface="Consolas"/>
              </a:rPr>
              <a:t>GRANT 'rol_escritura' TO 'alumno_practica'@'localhost'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7C3AED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577840" y="868680"/>
            <a:ext cx="1005840" cy="10058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577840" y="86868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Segoe UI Semibold"/>
              </a:rPr>
              <a:t>&lt;/&gt;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2563EB"/>
                </a:solidFill>
                <a:latin typeface="Segoe UI Semibold"/>
              </a:rPr>
              <a:t>REPOSITORIO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1036015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Segoe UI Semibold"/>
              </a:rPr>
              <a:t>Codigo y Evidencias de la Practica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3703321"/>
            <a:ext cx="7799831" cy="1236709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2032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77440" y="4069080"/>
            <a:ext cx="7533476" cy="7795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s-MX" sz="1500" b="1" dirty="0">
                <a:solidFill>
                  <a:srgbClr val="94A3B8"/>
                </a:solidFill>
                <a:latin typeface="Consolas"/>
                <a:hlinkClick r:id="rId2"/>
              </a:rPr>
              <a:t>https://github.com/amaurycolochos-cpu/ADMINISTRACION-BASE-DE-DATOS/tree/master/UNIDAD%203</a:t>
            </a:r>
            <a:endParaRPr lang="es-MX" sz="1500" b="1" dirty="0">
              <a:solidFill>
                <a:srgbClr val="94A3B8"/>
              </a:solidFill>
              <a:latin typeface="Consolas"/>
            </a:endParaRPr>
          </a:p>
          <a:p>
            <a:pPr algn="ctr">
              <a:lnSpc>
                <a:spcPct val="115000"/>
              </a:lnSpc>
            </a:pPr>
            <a:endParaRPr lang="es-MX" sz="1500" b="1" dirty="0">
              <a:solidFill>
                <a:srgbClr val="94A3B8"/>
              </a:solidFill>
              <a:latin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5852160"/>
            <a:ext cx="10360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Amaury Gordillo   |   6ISC   |   Administracion de Base de Datos   |  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gradFill>
            <a:gsLst>
              <a:gs pos="0">
                <a:srgbClr val="0D9488"/>
              </a:gs>
              <a:gs pos="100000">
                <a:srgbClr val="2563EB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589520" y="822960"/>
            <a:ext cx="4315968" cy="51206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18120" y="1115568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80">
                <a:solidFill>
                  <a:srgbClr val="DBEAFE"/>
                </a:solidFill>
                <a:latin typeface="Segoe UI Semibold"/>
              </a:rPr>
              <a:t>HERRAMIENTAS DE PRUEBA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664208"/>
            <a:ext cx="566928" cy="347472"/>
          </a:xfrm>
          <a:prstGeom prst="roundRect">
            <a:avLst>
              <a:gd name="adj" fmla="val 22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8120" y="1651508"/>
            <a:ext cx="56692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Segoe UI Semibold"/>
              </a:rPr>
              <a:t>Postman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22208" y="1645920"/>
            <a:ext cx="32004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CBD5E1"/>
                </a:solidFill>
                <a:latin typeface="Segoe UI"/>
              </a:rPr>
              <a:t>Postman - Pruebas funcionales REST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2368296"/>
            <a:ext cx="566928" cy="347472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18120" y="2355596"/>
            <a:ext cx="56692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Segoe UI Semibold"/>
              </a:rPr>
              <a:t>Thunder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22208" y="2350008"/>
            <a:ext cx="32004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CBD5E1"/>
                </a:solidFill>
                <a:latin typeface="Segoe UI"/>
              </a:rPr>
              <a:t>Thunder Client - HTTP client en VSCode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3072384"/>
            <a:ext cx="566928" cy="347472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18120" y="3059684"/>
            <a:ext cx="56692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Segoe UI Semibold"/>
              </a:rPr>
              <a:t>Jest +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8" y="3054096"/>
            <a:ext cx="32004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CBD5E1"/>
                </a:solidFill>
                <a:latin typeface="Segoe UI"/>
              </a:rPr>
              <a:t>Jest + Supertest - Pruebas automatizadas Node.js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3776472"/>
            <a:ext cx="566928" cy="347472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18120" y="3763772"/>
            <a:ext cx="56692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Segoe UI Semibold"/>
              </a:rPr>
              <a:t>MySQL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3758184"/>
            <a:ext cx="32004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CBD5E1"/>
                </a:solidFill>
                <a:latin typeface="Segoe UI"/>
              </a:rPr>
              <a:t>MySQL - Motor de BD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4480560"/>
            <a:ext cx="566928" cy="347472"/>
          </a:xfrm>
          <a:prstGeom prst="roundRect">
            <a:avLst>
              <a:gd name="adj" fmla="val 22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18120" y="4467860"/>
            <a:ext cx="566928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FFFFFF"/>
                </a:solidFill>
                <a:latin typeface="Segoe UI Semibold"/>
              </a:rPr>
              <a:t>Oracle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4462272"/>
            <a:ext cx="32004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CBD5E1"/>
                </a:solidFill>
                <a:latin typeface="Segoe UI"/>
              </a:rPr>
              <a:t>Oracle 23ai - Motor de BD 2 (Docker)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011680"/>
            <a:ext cx="6858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Segoe UI Semibold"/>
              </a:rPr>
              <a:t>PRUEBAS 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834640"/>
            <a:ext cx="6858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0D9488"/>
                </a:solidFill>
                <a:latin typeface="Segoe UI Semibold"/>
              </a:rPr>
              <a:t>SOFTWARE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840480"/>
            <a:ext cx="3657600" cy="2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4041648"/>
            <a:ext cx="6400800" cy="492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 dirty="0">
                <a:solidFill>
                  <a:srgbClr val="CBD5E1"/>
                </a:solidFill>
                <a:latin typeface="Segoe UI"/>
              </a:rPr>
              <a:t>Se </a:t>
            </a:r>
            <a:r>
              <a:rPr sz="1300" b="0" i="0" dirty="0" err="1">
                <a:solidFill>
                  <a:srgbClr val="CBD5E1"/>
                </a:solidFill>
                <a:latin typeface="Segoe UI"/>
              </a:rPr>
              <a:t>prueban</a:t>
            </a:r>
            <a:r>
              <a:rPr sz="1300" b="0" i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CBD5E1"/>
                </a:solidFill>
                <a:latin typeface="Segoe UI"/>
              </a:rPr>
              <a:t>los</a:t>
            </a:r>
            <a:r>
              <a:rPr sz="1300" b="0" i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CBD5E1"/>
                </a:solidFill>
                <a:latin typeface="Segoe UI"/>
              </a:rPr>
              <a:t>microservicios</a:t>
            </a:r>
            <a:r>
              <a:rPr sz="1300" b="0" i="0" dirty="0">
                <a:solidFill>
                  <a:srgbClr val="CBD5E1"/>
                </a:solidFill>
                <a:latin typeface="Segoe UI"/>
              </a:rPr>
              <a:t> REST (MySQL y Oracle) </a:t>
            </a:r>
            <a:r>
              <a:rPr sz="1300" b="0" i="0" dirty="0" err="1">
                <a:solidFill>
                  <a:srgbClr val="CBD5E1"/>
                </a:solidFill>
                <a:latin typeface="Segoe UI"/>
              </a:rPr>
              <a:t>usando</a:t>
            </a:r>
            <a:r>
              <a:rPr sz="1300" b="0" i="0" dirty="0">
                <a:solidFill>
                  <a:srgbClr val="CBD5E1"/>
                </a:solidFill>
                <a:latin typeface="Segoe UI"/>
              </a:rPr>
              <a:t> Postman, Thunder Client y </a:t>
            </a:r>
            <a:r>
              <a:rPr sz="1300" b="0" i="0" dirty="0" err="1">
                <a:solidFill>
                  <a:srgbClr val="CBD5E1"/>
                </a:solidFill>
                <a:latin typeface="Segoe UI"/>
              </a:rPr>
              <a:t>pruebas</a:t>
            </a:r>
            <a:r>
              <a:rPr sz="1300" b="0" i="0" dirty="0">
                <a:solidFill>
                  <a:srgbClr val="CBD5E1"/>
                </a:solidFill>
                <a:latin typeface="Segoe UI"/>
              </a:rPr>
              <a:t> </a:t>
            </a:r>
            <a:r>
              <a:rPr sz="1300" b="0" i="0" dirty="0" err="1">
                <a:solidFill>
                  <a:srgbClr val="CBD5E1"/>
                </a:solidFill>
                <a:latin typeface="Segoe UI"/>
              </a:rPr>
              <a:t>automatizadas</a:t>
            </a:r>
            <a:r>
              <a:rPr sz="1300" b="0" i="0" dirty="0">
                <a:solidFill>
                  <a:srgbClr val="CBD5E1"/>
                </a:solidFill>
                <a:latin typeface="Segoe UI"/>
              </a:rPr>
              <a:t> con Jest + </a:t>
            </a:r>
            <a:r>
              <a:rPr sz="1300" b="0" i="0" dirty="0" err="1">
                <a:solidFill>
                  <a:srgbClr val="CBD5E1"/>
                </a:solidFill>
                <a:latin typeface="Segoe UI"/>
              </a:rPr>
              <a:t>Supertest</a:t>
            </a:r>
            <a:r>
              <a:rPr lang="es-MX" sz="1300" dirty="0">
                <a:solidFill>
                  <a:srgbClr val="CBD5E1"/>
                </a:solidFill>
                <a:latin typeface="Segoe UI"/>
              </a:rPr>
              <a:t>.</a:t>
            </a:r>
            <a:endParaRPr sz="1300" b="0" i="0" dirty="0">
              <a:solidFill>
                <a:srgbClr val="CBD5E1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000" b="1" i="0">
                <a:solidFill>
                  <a:srgbClr val="EEF2FF"/>
                </a:solidFill>
                <a:latin typeface="Segoe UI Semibold"/>
              </a:rPr>
              <a:t>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0D9488"/>
                </a:solidFill>
                <a:latin typeface="Segoe UI Semibold"/>
              </a:rPr>
              <a:t>SECCION - PRUEBAS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11827"/>
                </a:solidFill>
                <a:latin typeface="Segoe UI Semibold"/>
              </a:rPr>
              <a:t>Introduccion a las Pruebas de Software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927080" y="6455664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27080" y="6449314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19 / 27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828800"/>
            <a:ext cx="1097280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1828800"/>
            <a:ext cx="10972800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1956816"/>
            <a:ext cx="1051560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374151"/>
                </a:solidFill>
                <a:latin typeface="Segoe UI"/>
              </a:rPr>
              <a:t>Las pruebas de software permiten verificar que los microservicios funcionan correctamente antes de usarlos en produccion. En esta practica se probaron los endpoints REST de MySQL (puerto 3000) y Oracle (puerto 3010) usando tres herramientas: Postman, Thunder Client y Jest + Supertest.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926080"/>
            <a:ext cx="3493008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58368" y="2926080"/>
            <a:ext cx="3493008" cy="73152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" y="3127248"/>
            <a:ext cx="3090672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45A5A"/>
                </a:solidFill>
                <a:latin typeface="Segoe UI Semibold"/>
              </a:rPr>
              <a:t>Pruebas Funcionales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3749039"/>
            <a:ext cx="3090672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374151"/>
                </a:solidFill>
                <a:latin typeface="Segoe UI"/>
              </a:rPr>
              <a:t>Se prueban los endpoints manualmente enviando peticiones HTTP y verificando que la respuesta (status code y JSON) sea la esperada.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8536" y="2926080"/>
            <a:ext cx="3493008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288536" y="2926080"/>
            <a:ext cx="3493008" cy="7315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9704" y="3127248"/>
            <a:ext cx="3090672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7C3AED"/>
                </a:solidFill>
                <a:latin typeface="Segoe UI Semibold"/>
              </a:rPr>
              <a:t>Pruebas Unitarias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9704" y="3749039"/>
            <a:ext cx="3090672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374151"/>
                </a:solidFill>
                <a:latin typeface="Segoe UI"/>
              </a:rPr>
              <a:t>Con Jest + Supertest se automatiza el CRUD completo. Cada vez que se corren, se verifica que todos los test pasen (verde).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18704" y="2926080"/>
            <a:ext cx="3493008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918704" y="2926080"/>
            <a:ext cx="3493008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19872" y="3127248"/>
            <a:ext cx="3090672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D9488"/>
                </a:solidFill>
                <a:latin typeface="Segoe UI Semibold"/>
              </a:rPr>
              <a:t>Verificacion CRUD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9872" y="3749039"/>
            <a:ext cx="3090672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374151"/>
                </a:solidFill>
                <a:latin typeface="Segoe UI"/>
              </a:rPr>
              <a:t>Se comprueba Create, Read, Update y Delete sobre la tabla estudiantes en ambos motores: MySQL y Oracle 23ai.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000" b="1" i="0">
                <a:solidFill>
                  <a:srgbClr val="EEF2FF"/>
                </a:solidFill>
                <a:latin typeface="Segoe UI Semibold"/>
              </a:rPr>
              <a:t>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5176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 spc="220" dirty="0">
                <a:solidFill>
                  <a:srgbClr val="7C3AED"/>
                </a:solidFill>
                <a:latin typeface="Segoe UI Semibold"/>
              </a:rPr>
              <a:t>PRUEBAS DE SOFTWARE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927080" y="6455664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27080" y="6449314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20 / 27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920240"/>
            <a:ext cx="109728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1920240"/>
            <a:ext cx="10972800" cy="7315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157984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7C3AED"/>
                </a:solidFill>
                <a:latin typeface="Segoe UI Semibold"/>
              </a:rPr>
              <a:t>OBJETIVO GENERAL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487168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374151"/>
                </a:solidFill>
                <a:latin typeface="Segoe UI"/>
              </a:rPr>
              <a:t>Verificar el correcto funcionamiento de los microservicios REST desarrollados en Node.js (conexion a MySQL y Oracle Database) mediante pruebas funcionales con Postman y Thunder Client, y pruebas automatizadas con Jest + Supertest, validando todas las operaciones CRUD.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6118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200">
                <a:solidFill>
                  <a:srgbClr val="F45A5A"/>
                </a:solidFill>
                <a:latin typeface="Segoe UI Semibold"/>
              </a:rPr>
              <a:t>OBJETIVOS ESPECIFICOS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41648"/>
            <a:ext cx="109728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68680" y="4160520"/>
            <a:ext cx="219456" cy="21945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133088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041648"/>
            <a:ext cx="10149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74151"/>
                </a:solidFill>
                <a:latin typeface="Segoe UI"/>
              </a:rPr>
              <a:t>Probar los endpoints GET, POST, PUT y DELETE sobre la tabla estudiantes en MySQL (puerto 3000).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608576"/>
            <a:ext cx="109728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68680" y="4727448"/>
            <a:ext cx="219456" cy="21945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700016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608576"/>
            <a:ext cx="10149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74151"/>
                </a:solidFill>
                <a:latin typeface="Segoe UI"/>
              </a:rPr>
              <a:t>Probar los mismos endpoints sobre Oracle Database 23ai (puerto 3010) desde Docker.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175504"/>
            <a:ext cx="109728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68680" y="5294376"/>
            <a:ext cx="219456" cy="21945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5266944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175504"/>
            <a:ext cx="10149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74151"/>
                </a:solidFill>
                <a:latin typeface="Segoe UI"/>
              </a:rPr>
              <a:t>Usar Postman y Thunder Client para validar manualmente las respuestas HTTP (status y JSON).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742432"/>
            <a:ext cx="1097280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68680" y="5861304"/>
            <a:ext cx="219456" cy="219456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5833872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742432"/>
            <a:ext cx="10149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74151"/>
                </a:solidFill>
                <a:latin typeface="Segoe UI"/>
              </a:rPr>
              <a:t>Automatizar las pruebas con Jest + Supertest logrando 8/8 tests verdes en ambos motores.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000" b="1" i="0">
                <a:solidFill>
                  <a:srgbClr val="EEF2FF"/>
                </a:solidFill>
                <a:latin typeface="Segoe UI Semibold"/>
              </a:rPr>
              <a:t>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D97706"/>
                </a:solidFill>
                <a:latin typeface="Segoe UI Semibold"/>
              </a:rPr>
              <a:t>PRUEBAS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11827"/>
                </a:solidFill>
                <a:latin typeface="Segoe UI Semibold"/>
              </a:rPr>
              <a:t>Herramientas Utilizadas y Por 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927080" y="6455664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27080" y="6449314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21 / 27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920240"/>
            <a:ext cx="3493008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1920240"/>
            <a:ext cx="3493008" cy="73152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" y="2139696"/>
            <a:ext cx="30906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45A5A"/>
                </a:solidFill>
                <a:latin typeface="Segoe UI Semibold"/>
              </a:rPr>
              <a:t>Postman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43200"/>
            <a:ext cx="309067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Herramienta grafica para enviar peticiones HTTP. Permite importar colecciones de pruebas, verificar status codes y ver el JSON de respuesta. Se uso la coleccion Pruebas_SGBD.postman_collection.json.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2544" y="1920240"/>
            <a:ext cx="3493008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352544" y="1920240"/>
            <a:ext cx="3493008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53712" y="2139696"/>
            <a:ext cx="30906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D9488"/>
                </a:solidFill>
                <a:latin typeface="Segoe UI Semibold"/>
              </a:rPr>
              <a:t>Thunder Client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743200"/>
            <a:ext cx="309067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Extension de VSCode que funciona igual que Postman pero sin salir del editor. Ideal porque todo el proyecto se trabajo en VSCode. Permite enviar GET/POST/PUT/DELETE con body JSON.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920240"/>
            <a:ext cx="3493008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046720" y="1920240"/>
            <a:ext cx="3493008" cy="7315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47888" y="2139696"/>
            <a:ext cx="30906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7C3AED"/>
                </a:solidFill>
                <a:latin typeface="Segoe UI Semibold"/>
              </a:rPr>
              <a:t>Jest + Supertest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743200"/>
            <a:ext cx="309067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Framework de pruebas de Node.js (Jest) mas una libreria que simula peticiones HTTP sin levantar el servidor real (Supertest). Equivalente a JUnit + Mockito del stack Java.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069080"/>
            <a:ext cx="3493008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58368" y="4069080"/>
            <a:ext cx="3493008" cy="7315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9536" y="4288536"/>
            <a:ext cx="30906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2563EB"/>
                </a:solidFill>
                <a:latin typeface="Segoe UI Semibold"/>
              </a:rPr>
              <a:t>Node.js + Express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4892040"/>
            <a:ext cx="309067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Los microservicios a probar: practica-sgbd-api (MySQL, puerto 3000) y practica-sgbd-api-oracle (Oracle, puerto 3010).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52544" y="4069080"/>
            <a:ext cx="3493008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352544" y="4069080"/>
            <a:ext cx="3493008" cy="7315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53712" y="4288536"/>
            <a:ext cx="309067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D97706"/>
                </a:solidFill>
                <a:latin typeface="Segoe UI Semibold"/>
              </a:rPr>
              <a:t>MySQL 8.0 + Oracle 23ai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4892040"/>
            <a:ext cx="309067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374151"/>
                </a:solidFill>
                <a:latin typeface="Segoe UI"/>
              </a:rPr>
              <a:t>Los dos SGBD que se probaron. MySQL como servicio local y Oracle levantado en un contenedor Docker (imagen gvenzl/oracle-free:slim).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000" b="1" i="0">
                <a:solidFill>
                  <a:srgbClr val="EEF2FF"/>
                </a:solidFill>
                <a:latin typeface="Segoe UI Semibold"/>
              </a:rPr>
              <a:t>P1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F45A5A"/>
                </a:solidFill>
                <a:latin typeface="Segoe UI Semibold"/>
              </a:rPr>
              <a:t>HERRAMIENTA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11827"/>
                </a:solidFill>
                <a:latin typeface="Segoe UI Semibold"/>
              </a:rPr>
              <a:t>Pruebas con Postman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8813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927080" y="6455664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27080" y="6449314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22 / 27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783080"/>
            <a:ext cx="10881360" cy="621792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1783080"/>
            <a:ext cx="91440" cy="621792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1783080"/>
            <a:ext cx="104241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92400E"/>
                </a:solidFill>
                <a:latin typeface="Segoe UI"/>
              </a:rPr>
              <a:t>Postman: se importo la coleccion 'Pruebas_SGBD.postman_collection.json' desde la carpeta UNIDAD 3/pruebas-software/postman/. Contiene todas las requests para MySQL (puerto 3000) y Oracle (puerto 3010). Cada request incluye un test automatico que verifica el status code.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606040"/>
            <a:ext cx="5321808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" y="2635504"/>
            <a:ext cx="477316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 dirty="0" err="1">
                <a:solidFill>
                  <a:srgbClr val="111827"/>
                </a:solidFill>
                <a:latin typeface="Segoe UI Semibold"/>
              </a:rPr>
              <a:t>Coleccion</a:t>
            </a:r>
            <a:r>
              <a:rPr sz="1250" b="1" i="0" dirty="0">
                <a:solidFill>
                  <a:srgbClr val="111827"/>
                </a:solidFill>
                <a:latin typeface="Segoe UI Semibold"/>
              </a:rPr>
              <a:t> Postman - GET y POST </a:t>
            </a:r>
            <a:r>
              <a:rPr sz="1250" b="1" i="0" dirty="0" err="1">
                <a:solidFill>
                  <a:srgbClr val="111827"/>
                </a:solidFill>
                <a:latin typeface="Segoe UI Semibold"/>
              </a:rPr>
              <a:t>en</a:t>
            </a:r>
            <a:r>
              <a:rPr sz="1250" b="1" i="0" dirty="0">
                <a:solidFill>
                  <a:srgbClr val="111827"/>
                </a:solidFill>
                <a:latin typeface="Segoe UI Semibold"/>
              </a:rPr>
              <a:t> MySQL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2606040"/>
            <a:ext cx="5321808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75630" y="2654595"/>
            <a:ext cx="477316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Postman - Prueba POST creando estudiante</a:t>
            </a:r>
          </a:p>
        </p:txBody>
      </p:sp>
      <p:pic>
        <p:nvPicPr>
          <p:cNvPr id="44" name="Imagen 43">
            <a:extLst>
              <a:ext uri="{FF2B5EF4-FFF2-40B4-BE49-F238E27FC236}">
                <a16:creationId xmlns:a16="http://schemas.microsoft.com/office/drawing/2014/main" id="{496633DC-2AB6-157E-33C4-3E42E1A08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40" y="3112352"/>
            <a:ext cx="5250400" cy="2952153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B427C87A-41FB-DA8B-CF0E-79B2B95C5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871" y="3095011"/>
            <a:ext cx="5227032" cy="293901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000" b="1" i="0">
                <a:solidFill>
                  <a:srgbClr val="EEF2FF"/>
                </a:solidFill>
                <a:latin typeface="Segoe UI Semibold"/>
              </a:rPr>
              <a:t>P2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0D9488"/>
                </a:solidFill>
                <a:latin typeface="Segoe UI Semibold"/>
              </a:rPr>
              <a:t>HERRAMIENTA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11827"/>
                </a:solidFill>
                <a:latin typeface="Segoe UI Semibold"/>
              </a:rPr>
              <a:t>Pruebas con Thunder Client (VSCode)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6419088"/>
            <a:ext cx="1088136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927080" y="6455664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27080" y="6449314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23 / 27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783080"/>
            <a:ext cx="10881360" cy="621792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1783080"/>
            <a:ext cx="91440" cy="62179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1783080"/>
            <a:ext cx="104241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134E4A"/>
                </a:solidFill>
                <a:latin typeface="Segoe UI"/>
              </a:rPr>
              <a:t>Thunder Client: extension de VSCode (icono de rayo). Funciona igual que Postman pero directamente dentro del editor. Se importo el archivo UNIDAD 3/pruebas-software/thunder-tests/thunderclient.json con todas las requests listas para MySQL y Oracle.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606040"/>
            <a:ext cx="5321808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553" y="2752344"/>
            <a:ext cx="477316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 dirty="0">
                <a:solidFill>
                  <a:srgbClr val="111827"/>
                </a:solidFill>
                <a:latin typeface="Segoe UI Semibold"/>
              </a:rPr>
              <a:t>Thunder Client - GET /</a:t>
            </a:r>
            <a:r>
              <a:rPr sz="1250" b="1" i="0" dirty="0" err="1">
                <a:solidFill>
                  <a:srgbClr val="111827"/>
                </a:solidFill>
                <a:latin typeface="Segoe UI Semibold"/>
              </a:rPr>
              <a:t>api</a:t>
            </a:r>
            <a:r>
              <a:rPr sz="1250" b="1" i="0" dirty="0">
                <a:solidFill>
                  <a:srgbClr val="111827"/>
                </a:solidFill>
                <a:latin typeface="Segoe UI Semibold"/>
              </a:rPr>
              <a:t>/</a:t>
            </a:r>
            <a:r>
              <a:rPr sz="1250" b="1" i="0" dirty="0" err="1">
                <a:solidFill>
                  <a:srgbClr val="111827"/>
                </a:solidFill>
                <a:latin typeface="Segoe UI Semibold"/>
              </a:rPr>
              <a:t>estudiantes</a:t>
            </a:r>
            <a:r>
              <a:rPr sz="1250" b="1" i="0" dirty="0">
                <a:solidFill>
                  <a:srgbClr val="111827"/>
                </a:solidFill>
                <a:latin typeface="Segoe UI Semibold"/>
              </a:rPr>
              <a:t> (MySQL)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2606040"/>
            <a:ext cx="5321808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11392" y="2732532"/>
            <a:ext cx="4773168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Thunder Client - Prueba sobre Oracle (puerto 3010)</a:t>
            </a:r>
          </a:p>
        </p:txBody>
      </p:sp>
      <p:pic>
        <p:nvPicPr>
          <p:cNvPr id="43" name="Imagen 42">
            <a:extLst>
              <a:ext uri="{FF2B5EF4-FFF2-40B4-BE49-F238E27FC236}">
                <a16:creationId xmlns:a16="http://schemas.microsoft.com/office/drawing/2014/main" id="{3555B891-52F0-4911-E5A9-7B95C8A0F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40" y="3112352"/>
            <a:ext cx="5250400" cy="2952153"/>
          </a:xfrm>
          <a:prstGeom prst="rect">
            <a:avLst/>
          </a:pr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4D4308E9-7C2E-47FE-E003-5539C328C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600" y="3164077"/>
            <a:ext cx="5290586" cy="297474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000" b="1" i="0">
                <a:solidFill>
                  <a:srgbClr val="EEF2FF"/>
                </a:solidFill>
                <a:latin typeface="Segoe UI Semibold"/>
              </a:rPr>
              <a:t>P3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7C3AED"/>
                </a:solidFill>
                <a:latin typeface="Segoe UI Semibold"/>
              </a:rPr>
              <a:t>HERRAMIENTA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11827"/>
                </a:solidFill>
                <a:latin typeface="Segoe UI Semibold"/>
              </a:rPr>
              <a:t>Pruebas Automatizadas con Jest + Supertest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927080" y="6455664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27080" y="6449314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24 / 27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828800"/>
            <a:ext cx="5989320" cy="4815840"/>
          </a:xfrm>
          <a:prstGeom prst="roundRect">
            <a:avLst>
              <a:gd name="adj" fmla="val 3500"/>
            </a:avLst>
          </a:prstGeom>
          <a:solidFill>
            <a:srgbClr val="182132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1828800"/>
            <a:ext cx="5989320" cy="384048"/>
          </a:xfrm>
          <a:prstGeom prst="roundRect">
            <a:avLst>
              <a:gd name="adj" fmla="val 3500"/>
            </a:avLst>
          </a:prstGeom>
          <a:solidFill>
            <a:srgbClr val="21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9536" y="1956816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97280" y="1956816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335024" y="1956816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1828800"/>
            <a:ext cx="5989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94A3B8"/>
                </a:solidFill>
                <a:latin typeface="Consolas"/>
              </a:rPr>
              <a:t>__tests__/estudiantes.test.js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304288"/>
            <a:ext cx="5486400" cy="39136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1  </a:t>
            </a:r>
            <a:r>
              <a:rPr sz="950">
                <a:solidFill>
                  <a:srgbClr val="64748B"/>
                </a:solidFill>
                <a:latin typeface="Consolas"/>
              </a:rPr>
              <a:t>// __tests__/estudiantes.test.js — pruebas del microservicio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2  </a:t>
            </a:r>
            <a:r>
              <a:rPr sz="950">
                <a:solidFill>
                  <a:srgbClr val="64748B"/>
                </a:solidFill>
                <a:latin typeface="Consolas"/>
              </a:rPr>
              <a:t>// uso jest y supertest para probar sin levantar el puerto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3  </a:t>
            </a:r>
            <a:r>
              <a:rPr sz="950">
                <a:solidFill>
                  <a:srgbClr val="A78BFA"/>
                </a:solidFill>
                <a:latin typeface="Consolas"/>
              </a:rPr>
              <a:t>const</a:t>
            </a:r>
            <a:r>
              <a:rPr sz="950">
                <a:solidFill>
                  <a:srgbClr val="E2E8F0"/>
                </a:solidFill>
                <a:latin typeface="Consolas"/>
              </a:rPr>
              <a:t> request = </a:t>
            </a:r>
            <a:r>
              <a:rPr sz="950">
                <a:solidFill>
                  <a:srgbClr val="A78BFA"/>
                </a:solidFill>
                <a:latin typeface="Consolas"/>
              </a:rPr>
              <a:t>require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86EFAC"/>
                </a:solidFill>
                <a:latin typeface="Consolas"/>
              </a:rPr>
              <a:t>'supertest'</a:t>
            </a:r>
            <a:r>
              <a:rPr sz="950">
                <a:solidFill>
                  <a:srgbClr val="E2E8F0"/>
                </a:solidFill>
                <a:latin typeface="Consolas"/>
              </a:rPr>
              <a:t>);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4  </a:t>
            </a:r>
            <a:r>
              <a:rPr sz="950">
                <a:solidFill>
                  <a:srgbClr val="A78BFA"/>
                </a:solidFill>
                <a:latin typeface="Consolas"/>
              </a:rPr>
              <a:t>const</a:t>
            </a:r>
            <a:r>
              <a:rPr sz="950">
                <a:solidFill>
                  <a:srgbClr val="E2E8F0"/>
                </a:solidFill>
                <a:latin typeface="Consolas"/>
              </a:rPr>
              <a:t> app     = </a:t>
            </a:r>
            <a:r>
              <a:rPr sz="950">
                <a:solidFill>
                  <a:srgbClr val="A78BFA"/>
                </a:solidFill>
                <a:latin typeface="Consolas"/>
              </a:rPr>
              <a:t>require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86EFAC"/>
                </a:solidFill>
                <a:latin typeface="Consolas"/>
              </a:rPr>
              <a:t>'../src/app'</a:t>
            </a:r>
            <a:r>
              <a:rPr sz="950">
                <a:solidFill>
                  <a:srgbClr val="E2E8F0"/>
                </a:solidFill>
                <a:latin typeface="Consolas"/>
              </a:rPr>
              <a:t>);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5  </a:t>
            </a:r>
            <a:r>
              <a:rPr sz="950">
                <a:solidFill>
                  <a:srgbClr val="A78BFA"/>
                </a:solidFill>
                <a:latin typeface="Consolas"/>
              </a:rPr>
              <a:t>const</a:t>
            </a:r>
            <a:r>
              <a:rPr sz="950">
                <a:solidFill>
                  <a:srgbClr val="E2E8F0"/>
                </a:solidFill>
                <a:latin typeface="Consolas"/>
              </a:rPr>
              <a:t> { pool } = </a:t>
            </a:r>
            <a:r>
              <a:rPr sz="950">
                <a:solidFill>
                  <a:srgbClr val="A78BFA"/>
                </a:solidFill>
                <a:latin typeface="Consolas"/>
              </a:rPr>
              <a:t>require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86EFAC"/>
                </a:solidFill>
                <a:latin typeface="Consolas"/>
              </a:rPr>
              <a:t>'../src/db'</a:t>
            </a:r>
            <a:r>
              <a:rPr sz="950">
                <a:solidFill>
                  <a:srgbClr val="E2E8F0"/>
                </a:solidFill>
                <a:latin typeface="Consolas"/>
              </a:rPr>
              <a:t>);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6  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7  </a:t>
            </a:r>
            <a:r>
              <a:rPr sz="950">
                <a:solidFill>
                  <a:srgbClr val="A78BFA"/>
                </a:solidFill>
                <a:latin typeface="Consolas"/>
              </a:rPr>
              <a:t>let</a:t>
            </a:r>
            <a:r>
              <a:rPr sz="950">
                <a:solidFill>
                  <a:srgbClr val="E2E8F0"/>
                </a:solidFill>
                <a:latin typeface="Consolas"/>
              </a:rPr>
              <a:t> idCreado; </a:t>
            </a:r>
            <a:r>
              <a:rPr sz="950">
                <a:solidFill>
                  <a:srgbClr val="64748B"/>
                </a:solidFill>
                <a:latin typeface="Consolas"/>
              </a:rPr>
              <a:t>// guardo el id del estudiante que creo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8  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 9  </a:t>
            </a:r>
            <a:r>
              <a:rPr sz="950">
                <a:solidFill>
                  <a:srgbClr val="A78BFA"/>
                </a:solidFill>
                <a:latin typeface="Consolas"/>
              </a:rPr>
              <a:t>afterAll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A78BFA"/>
                </a:solidFill>
                <a:latin typeface="Consolas"/>
              </a:rPr>
              <a:t>async</a:t>
            </a:r>
            <a:r>
              <a:rPr sz="950">
                <a:solidFill>
                  <a:srgbClr val="E2E8F0"/>
                </a:solidFill>
                <a:latin typeface="Consolas"/>
              </a:rPr>
              <a:t> () =&gt; </a:t>
            </a:r>
            <a:r>
              <a:rPr sz="950">
                <a:solidFill>
                  <a:srgbClr val="A78BFA"/>
                </a:solidFill>
                <a:latin typeface="Consolas"/>
              </a:rPr>
              <a:t>await</a:t>
            </a:r>
            <a:r>
              <a:rPr sz="950">
                <a:solidFill>
                  <a:srgbClr val="E2E8F0"/>
                </a:solidFill>
                <a:latin typeface="Consolas"/>
              </a:rPr>
              <a:t> pool.end()); </a:t>
            </a:r>
            <a:r>
              <a:rPr sz="950">
                <a:solidFill>
                  <a:srgbClr val="64748B"/>
                </a:solidFill>
                <a:latin typeface="Consolas"/>
              </a:rPr>
              <a:t>// cierro el pool al terminar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10  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11  </a:t>
            </a:r>
            <a:r>
              <a:rPr sz="950">
                <a:solidFill>
                  <a:srgbClr val="A78BFA"/>
                </a:solidFill>
                <a:latin typeface="Consolas"/>
              </a:rPr>
              <a:t>test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86EFAC"/>
                </a:solidFill>
                <a:latin typeface="Consolas"/>
              </a:rPr>
              <a:t>'GET /api/salud devuelve estado activo'</a:t>
            </a:r>
            <a:r>
              <a:rPr sz="950">
                <a:solidFill>
                  <a:srgbClr val="E2E8F0"/>
                </a:solidFill>
                <a:latin typeface="Consolas"/>
              </a:rPr>
              <a:t>, </a:t>
            </a:r>
            <a:r>
              <a:rPr sz="950">
                <a:solidFill>
                  <a:srgbClr val="A78BFA"/>
                </a:solidFill>
                <a:latin typeface="Consolas"/>
              </a:rPr>
              <a:t>async</a:t>
            </a:r>
            <a:r>
              <a:rPr sz="950">
                <a:solidFill>
                  <a:srgbClr val="E2E8F0"/>
                </a:solidFill>
                <a:latin typeface="Consolas"/>
              </a:rPr>
              <a:t> () =&gt; {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12  </a:t>
            </a:r>
            <a:r>
              <a:rPr sz="950">
                <a:solidFill>
                  <a:srgbClr val="E2E8F0"/>
                </a:solidFill>
                <a:latin typeface="Consolas"/>
              </a:rPr>
              <a:t>  </a:t>
            </a:r>
            <a:r>
              <a:rPr sz="950">
                <a:solidFill>
                  <a:srgbClr val="A78BFA"/>
                </a:solidFill>
                <a:latin typeface="Consolas"/>
              </a:rPr>
              <a:t>const</a:t>
            </a:r>
            <a:r>
              <a:rPr sz="950">
                <a:solidFill>
                  <a:srgbClr val="E2E8F0"/>
                </a:solidFill>
                <a:latin typeface="Consolas"/>
              </a:rPr>
              <a:t> res = </a:t>
            </a:r>
            <a:r>
              <a:rPr sz="950">
                <a:solidFill>
                  <a:srgbClr val="A78BFA"/>
                </a:solidFill>
                <a:latin typeface="Consolas"/>
              </a:rPr>
              <a:t>await</a:t>
            </a:r>
            <a:r>
              <a:rPr sz="950">
                <a:solidFill>
                  <a:srgbClr val="E2E8F0"/>
                </a:solidFill>
                <a:latin typeface="Consolas"/>
              </a:rPr>
              <a:t> request(app).get(</a:t>
            </a:r>
            <a:r>
              <a:rPr sz="950">
                <a:solidFill>
                  <a:srgbClr val="86EFAC"/>
                </a:solidFill>
                <a:latin typeface="Consolas"/>
              </a:rPr>
              <a:t>'/api/salud'</a:t>
            </a:r>
            <a:r>
              <a:rPr sz="950">
                <a:solidFill>
                  <a:srgbClr val="E2E8F0"/>
                </a:solidFill>
                <a:latin typeface="Consolas"/>
              </a:rPr>
              <a:t>);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13  </a:t>
            </a:r>
            <a:r>
              <a:rPr sz="950">
                <a:solidFill>
                  <a:srgbClr val="E2E8F0"/>
                </a:solidFill>
                <a:latin typeface="Consolas"/>
              </a:rPr>
              <a:t>  </a:t>
            </a:r>
            <a:r>
              <a:rPr sz="950">
                <a:solidFill>
                  <a:srgbClr val="A78BFA"/>
                </a:solidFill>
                <a:latin typeface="Consolas"/>
              </a:rPr>
              <a:t>expect</a:t>
            </a:r>
            <a:r>
              <a:rPr sz="950">
                <a:solidFill>
                  <a:srgbClr val="E2E8F0"/>
                </a:solidFill>
                <a:latin typeface="Consolas"/>
              </a:rPr>
              <a:t>(res.status).toBe(</a:t>
            </a:r>
            <a:r>
              <a:rPr sz="950">
                <a:solidFill>
                  <a:srgbClr val="FBBF24"/>
                </a:solidFill>
                <a:latin typeface="Consolas"/>
              </a:rPr>
              <a:t>200</a:t>
            </a:r>
            <a:r>
              <a:rPr sz="950">
                <a:solidFill>
                  <a:srgbClr val="E2E8F0"/>
                </a:solidFill>
                <a:latin typeface="Consolas"/>
              </a:rPr>
              <a:t>);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14  </a:t>
            </a:r>
            <a:r>
              <a:rPr sz="950">
                <a:solidFill>
                  <a:srgbClr val="E2E8F0"/>
                </a:solidFill>
                <a:latin typeface="Consolas"/>
              </a:rPr>
              <a:t>  </a:t>
            </a:r>
            <a:r>
              <a:rPr sz="950">
                <a:solidFill>
                  <a:srgbClr val="A78BFA"/>
                </a:solidFill>
                <a:latin typeface="Consolas"/>
              </a:rPr>
              <a:t>expect</a:t>
            </a:r>
            <a:r>
              <a:rPr sz="950">
                <a:solidFill>
                  <a:srgbClr val="E2E8F0"/>
                </a:solidFill>
                <a:latin typeface="Consolas"/>
              </a:rPr>
              <a:t>(res.body.estado).toBe(</a:t>
            </a:r>
            <a:r>
              <a:rPr sz="950">
                <a:solidFill>
                  <a:srgbClr val="86EFAC"/>
                </a:solidFill>
                <a:latin typeface="Consolas"/>
              </a:rPr>
              <a:t>'activo'</a:t>
            </a:r>
            <a:r>
              <a:rPr sz="950">
                <a:solidFill>
                  <a:srgbClr val="E2E8F0"/>
                </a:solidFill>
                <a:latin typeface="Consolas"/>
              </a:rPr>
              <a:t>);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15  </a:t>
            </a:r>
            <a:r>
              <a:rPr sz="950">
                <a:solidFill>
                  <a:srgbClr val="E2E8F0"/>
                </a:solidFill>
                <a:latin typeface="Consolas"/>
              </a:rPr>
              <a:t>});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16  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17  </a:t>
            </a:r>
            <a:r>
              <a:rPr sz="950">
                <a:solidFill>
                  <a:srgbClr val="64748B"/>
                </a:solidFill>
                <a:latin typeface="Consolas"/>
              </a:rPr>
              <a:t>// email con Date.now() para que no choque con el UNIQUE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18  </a:t>
            </a:r>
            <a:r>
              <a:rPr sz="950">
                <a:solidFill>
                  <a:srgbClr val="A78BFA"/>
                </a:solidFill>
                <a:latin typeface="Consolas"/>
              </a:rPr>
              <a:t>test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86EFAC"/>
                </a:solidFill>
                <a:latin typeface="Consolas"/>
              </a:rPr>
              <a:t>'POST crea estudiante y devuelve 201'</a:t>
            </a:r>
            <a:r>
              <a:rPr sz="950">
                <a:solidFill>
                  <a:srgbClr val="E2E8F0"/>
                </a:solidFill>
                <a:latin typeface="Consolas"/>
              </a:rPr>
              <a:t>, </a:t>
            </a:r>
            <a:r>
              <a:rPr sz="950">
                <a:solidFill>
                  <a:srgbClr val="A78BFA"/>
                </a:solidFill>
                <a:latin typeface="Consolas"/>
              </a:rPr>
              <a:t>async</a:t>
            </a:r>
            <a:r>
              <a:rPr sz="950">
                <a:solidFill>
                  <a:srgbClr val="E2E8F0"/>
                </a:solidFill>
                <a:latin typeface="Consolas"/>
              </a:rPr>
              <a:t> () =&gt; {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19  </a:t>
            </a:r>
            <a:r>
              <a:rPr sz="950">
                <a:solidFill>
                  <a:srgbClr val="E2E8F0"/>
                </a:solidFill>
                <a:latin typeface="Consolas"/>
              </a:rPr>
              <a:t>  </a:t>
            </a:r>
            <a:r>
              <a:rPr sz="950">
                <a:solidFill>
                  <a:srgbClr val="A78BFA"/>
                </a:solidFill>
                <a:latin typeface="Consolas"/>
              </a:rPr>
              <a:t>const</a:t>
            </a:r>
            <a:r>
              <a:rPr sz="950">
                <a:solidFill>
                  <a:srgbClr val="E2E8F0"/>
                </a:solidFill>
                <a:latin typeface="Consolas"/>
              </a:rPr>
              <a:t> ts = Date.now();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20  </a:t>
            </a:r>
            <a:r>
              <a:rPr sz="950">
                <a:solidFill>
                  <a:srgbClr val="E2E8F0"/>
                </a:solidFill>
                <a:latin typeface="Consolas"/>
              </a:rPr>
              <a:t>  </a:t>
            </a:r>
            <a:r>
              <a:rPr sz="950">
                <a:solidFill>
                  <a:srgbClr val="A78BFA"/>
                </a:solidFill>
                <a:latin typeface="Consolas"/>
              </a:rPr>
              <a:t>const</a:t>
            </a:r>
            <a:r>
              <a:rPr sz="950">
                <a:solidFill>
                  <a:srgbClr val="E2E8F0"/>
                </a:solidFill>
                <a:latin typeface="Consolas"/>
              </a:rPr>
              <a:t> res = </a:t>
            </a:r>
            <a:r>
              <a:rPr sz="950">
                <a:solidFill>
                  <a:srgbClr val="A78BFA"/>
                </a:solidFill>
                <a:latin typeface="Consolas"/>
              </a:rPr>
              <a:t>await</a:t>
            </a:r>
            <a:r>
              <a:rPr sz="950">
                <a:solidFill>
                  <a:srgbClr val="E2E8F0"/>
                </a:solidFill>
                <a:latin typeface="Consolas"/>
              </a:rPr>
              <a:t> request(app).post(</a:t>
            </a:r>
            <a:r>
              <a:rPr sz="950">
                <a:solidFill>
                  <a:srgbClr val="86EFAC"/>
                </a:solidFill>
                <a:latin typeface="Consolas"/>
              </a:rPr>
              <a:t>'/api/estudiantes'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21  </a:t>
            </a:r>
            <a:r>
              <a:rPr sz="950">
                <a:solidFill>
                  <a:srgbClr val="E2E8F0"/>
                </a:solidFill>
                <a:latin typeface="Consolas"/>
              </a:rPr>
              <a:t>    .send({ nombre:</a:t>
            </a:r>
            <a:r>
              <a:rPr sz="950">
                <a:solidFill>
                  <a:srgbClr val="86EFAC"/>
                </a:solidFill>
                <a:latin typeface="Consolas"/>
              </a:rPr>
              <a:t>'Prueba'</a:t>
            </a:r>
            <a:r>
              <a:rPr sz="950">
                <a:solidFill>
                  <a:srgbClr val="E2E8F0"/>
                </a:solidFill>
                <a:latin typeface="Consolas"/>
              </a:rPr>
              <a:t>, email:</a:t>
            </a:r>
            <a:r>
              <a:rPr sz="950">
                <a:solidFill>
                  <a:srgbClr val="86EFAC"/>
                </a:solidFill>
                <a:latin typeface="Consolas"/>
              </a:rPr>
              <a:t>`test${ts}@mail.com`</a:t>
            </a:r>
            <a:r>
              <a:rPr sz="950">
                <a:solidFill>
                  <a:srgbClr val="E2E8F0"/>
                </a:solidFill>
                <a:latin typeface="Consolas"/>
              </a:rPr>
              <a:t>, matricula:</a:t>
            </a:r>
            <a:r>
              <a:rPr sz="950">
                <a:solidFill>
                  <a:srgbClr val="86EFAC"/>
                </a:solidFill>
                <a:latin typeface="Consolas"/>
              </a:rPr>
              <a:t>`M${ts}`</a:t>
            </a:r>
            <a:r>
              <a:rPr sz="950">
                <a:solidFill>
                  <a:srgbClr val="E2E8F0"/>
                </a:solidFill>
                <a:latin typeface="Consolas"/>
              </a:rPr>
              <a:t> });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22  </a:t>
            </a:r>
            <a:r>
              <a:rPr sz="950">
                <a:solidFill>
                  <a:srgbClr val="E2E8F0"/>
                </a:solidFill>
                <a:latin typeface="Consolas"/>
              </a:rPr>
              <a:t>  </a:t>
            </a:r>
            <a:r>
              <a:rPr sz="950">
                <a:solidFill>
                  <a:srgbClr val="A78BFA"/>
                </a:solidFill>
                <a:latin typeface="Consolas"/>
              </a:rPr>
              <a:t>expect</a:t>
            </a:r>
            <a:r>
              <a:rPr sz="950">
                <a:solidFill>
                  <a:srgbClr val="E2E8F0"/>
                </a:solidFill>
                <a:latin typeface="Consolas"/>
              </a:rPr>
              <a:t>(res.status).toBe(</a:t>
            </a:r>
            <a:r>
              <a:rPr sz="950">
                <a:solidFill>
                  <a:srgbClr val="FBBF24"/>
                </a:solidFill>
                <a:latin typeface="Consolas"/>
              </a:rPr>
              <a:t>201</a:t>
            </a:r>
            <a:r>
              <a:rPr sz="950">
                <a:solidFill>
                  <a:srgbClr val="E2E8F0"/>
                </a:solidFill>
                <a:latin typeface="Consolas"/>
              </a:rPr>
              <a:t>);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23  </a:t>
            </a:r>
            <a:r>
              <a:rPr sz="950">
                <a:solidFill>
                  <a:srgbClr val="E2E8F0"/>
                </a:solidFill>
                <a:latin typeface="Consolas"/>
              </a:rPr>
              <a:t>  idCreado = res.body.id;</a:t>
            </a: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475569"/>
                </a:solidFill>
                <a:latin typeface="Consolas"/>
              </a:rPr>
              <a:t>24  </a:t>
            </a:r>
            <a:r>
              <a:rPr sz="950">
                <a:solidFill>
                  <a:srgbClr val="E2E8F0"/>
                </a:solidFill>
                <a:latin typeface="Consolas"/>
              </a:rPr>
              <a:t>});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1828800"/>
            <a:ext cx="507492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68896" y="21818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 dirty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9384" y="1923796"/>
            <a:ext cx="45262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 dirty="0">
                <a:solidFill>
                  <a:srgbClr val="111827"/>
                </a:solidFill>
                <a:latin typeface="Segoe UI Semibold"/>
              </a:rPr>
              <a:t>Terminal </a:t>
            </a:r>
            <a:r>
              <a:rPr sz="1250" b="1" i="0" dirty="0" err="1">
                <a:solidFill>
                  <a:srgbClr val="111827"/>
                </a:solidFill>
                <a:latin typeface="Segoe UI Semibold"/>
              </a:rPr>
              <a:t>mostrando</a:t>
            </a:r>
            <a:r>
              <a:rPr sz="1250" b="1" i="0" dirty="0">
                <a:solidFill>
                  <a:srgbClr val="111827"/>
                </a:solidFill>
                <a:latin typeface="Segoe UI Semibold"/>
              </a:rPr>
              <a:t> 8/8 tests </a:t>
            </a:r>
            <a:r>
              <a:rPr sz="1250" b="1" i="0" dirty="0" err="1">
                <a:solidFill>
                  <a:srgbClr val="111827"/>
                </a:solidFill>
                <a:latin typeface="Segoe UI Semibold"/>
              </a:rPr>
              <a:t>verdes</a:t>
            </a:r>
            <a:endParaRPr sz="1250" b="1" i="0" dirty="0">
              <a:solidFill>
                <a:srgbClr val="111827"/>
              </a:solidFill>
              <a:latin typeface="Segoe UI Semibold"/>
            </a:endParaRP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A03FAA43-5E28-49C9-C34F-ADE67A1DD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529332"/>
            <a:ext cx="5111875" cy="28742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000" b="1" i="0">
                <a:solidFill>
                  <a:srgbClr val="EEF2FF"/>
                </a:solidFill>
                <a:latin typeface="Segoe UI Semibold"/>
              </a:rPr>
              <a:t>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2563EB"/>
                </a:solidFill>
                <a:latin typeface="Segoe UI Semibold"/>
              </a:rPr>
              <a:t>PRUEBAS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11827"/>
                </a:solidFill>
                <a:latin typeface="Segoe UI Semibold"/>
              </a:rPr>
              <a:t>Analisis y Conclusiones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927080" y="6455664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27080" y="6449314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25 / 27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920240"/>
            <a:ext cx="5321808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1920240"/>
            <a:ext cx="5321808" cy="73152"/>
          </a:xfrm>
          <a:prstGeom prst="roundRect">
            <a:avLst>
              <a:gd name="adj" fmla="val 50000"/>
            </a:avLst>
          </a:prstGeom>
          <a:solidFill>
            <a:srgbClr val="F4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41248" y="212140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45A5A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210870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5608" y="2121408"/>
            <a:ext cx="440740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Pruebas funcionales exitosas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2633472"/>
            <a:ext cx="495604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2743200"/>
            <a:ext cx="495604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Postman y Thunder Client confirmaron que todos los endpoints responden con los status codes correctos (200, 201, 400, 404) en MySQL y Oracle.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1920240"/>
            <a:ext cx="5321808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08776" y="1920240"/>
            <a:ext cx="5321808" cy="7315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391656" y="212140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91656" y="210870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6016" y="2121408"/>
            <a:ext cx="440740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8/8 tests automatizados en verde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91656" y="2633472"/>
            <a:ext cx="495604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91656" y="2743200"/>
            <a:ext cx="495604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Jest + Supertest corrio el CRUD completo de forma automatica en ambos motores, sin necesidad de probar a mano cada vez.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50208"/>
            <a:ext cx="5321808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58368" y="3950208"/>
            <a:ext cx="5321808" cy="7315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41248" y="415137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" y="413867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4151376"/>
            <a:ext cx="440740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Independencia del SGBD verificada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" y="4663440"/>
            <a:ext cx="495604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" y="4773168"/>
            <a:ext cx="495604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El mismo conjunto de pruebas funciona igual sobre MySQL y sobre Oracle 23ai, lo que confirma que la arquitectura REST es independiente del motor.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8776" y="3950208"/>
            <a:ext cx="5321808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208776" y="3950208"/>
            <a:ext cx="5321808" cy="7315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391656" y="415137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91656" y="413867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86016" y="4151376"/>
            <a:ext cx="440740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11827"/>
                </a:solidFill>
                <a:latin typeface="Segoe UI Semibold"/>
              </a:rPr>
              <a:t>VSCode como entorno completo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91656" y="4663440"/>
            <a:ext cx="4956048" cy="101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91656" y="4773168"/>
            <a:ext cx="4956048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374151"/>
                </a:solidFill>
                <a:latin typeface="Segoe UI"/>
              </a:rPr>
              <a:t>Con Thunder Client instalado, todo el flujo de desarrollo y pruebas ocurrio dentro de VSCode, sin necesitar herramientas externas adicionales.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566928"/>
            <a:ext cx="457200" cy="118872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84080" y="164592"/>
            <a:ext cx="1920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6000" b="1" i="0">
                <a:solidFill>
                  <a:srgbClr val="EEF2FF"/>
                </a:solidFill>
                <a:latin typeface="Segoe UI Semibold"/>
              </a:rPr>
              <a:t>REF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spc="220">
                <a:solidFill>
                  <a:srgbClr val="6B7280"/>
                </a:solidFill>
                <a:latin typeface="Segoe UI Semibold"/>
              </a:rPr>
              <a:t>PRUEBAS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11827"/>
                </a:solidFill>
                <a:latin typeface="Segoe UI Semibold"/>
              </a:rPr>
              <a:t>Fuentes de Informacion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972800" cy="177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27632"/>
            <a:ext cx="1280160" cy="330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927080" y="6455664"/>
            <a:ext cx="59436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27080" y="6449314"/>
            <a:ext cx="594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E3A8A"/>
                </a:solidFill>
                <a:latin typeface="Segoe UI Semibold"/>
              </a:rPr>
              <a:t>26 / 27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920240"/>
            <a:ext cx="108813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2960" y="2029968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01726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195681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11827"/>
                </a:solidFill>
                <a:latin typeface="Segoe UI Semibold"/>
              </a:rPr>
              <a:t>Jest docs.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956816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Segoe UI"/>
              </a:rPr>
              <a:t>Getting Started. jestjs.io (2024)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578608"/>
            <a:ext cx="108813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60" y="2688336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267563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2615184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11827"/>
                </a:solidFill>
                <a:latin typeface="Segoe UI Semibold"/>
              </a:rPr>
              <a:t>Supertest (npm).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615184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Segoe UI"/>
              </a:rPr>
              <a:t>HTTP assertions for Node.js — npmjs.com/package/supertest (2024)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236976"/>
            <a:ext cx="108813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22960" y="3346704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333400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327355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11827"/>
                </a:solidFill>
                <a:latin typeface="Segoe UI Semibold"/>
              </a:rPr>
              <a:t>Postman.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27355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Segoe UI"/>
              </a:rPr>
              <a:t>API Platform — Postman Learning Center. learning.postman.com (2024)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3895344"/>
            <a:ext cx="108813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22960" y="4005072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399237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8448" y="393192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11827"/>
                </a:solidFill>
                <a:latin typeface="Segoe UI Semibold"/>
              </a:rPr>
              <a:t>Rangel Carbajal, A..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93192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Segoe UI"/>
              </a:rPr>
              <a:t>Thunder Client - Postman Alternative for VSCode [Video]. youtube.com (2023)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553712"/>
            <a:ext cx="108813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22960" y="4663440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465074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8448" y="459028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11827"/>
                </a:solidFill>
                <a:latin typeface="Segoe UI Semibold"/>
              </a:rPr>
              <a:t>Geek QA.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4590288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Segoe UI"/>
              </a:rPr>
              <a:t>Pruebas de APIs con POSTMAN | Ejemplo practico [Video]. youtube.com (2023)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212080"/>
            <a:ext cx="108813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22960" y="5321808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>
            <a:outerShdw blurRad="127000" dist="508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60" y="530910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98448" y="524865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11827"/>
                </a:solidFill>
                <a:latin typeface="Segoe UI Semibold"/>
              </a:rPr>
              <a:t>Oracle Corp..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5248656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B7280"/>
                </a:solidFill>
                <a:latin typeface="Segoe UI"/>
              </a:rPr>
              <a:t>Oracle Database 23ai Free Documentation. oracle.com (2024)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3075</Words>
  <Application>Microsoft Office PowerPoint</Application>
  <PresentationFormat>Personalizado</PresentationFormat>
  <Paragraphs>448</Paragraphs>
  <Slides>26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5" baseType="lpstr">
      <vt:lpstr>-apple-system</vt:lpstr>
      <vt:lpstr>Aptos</vt:lpstr>
      <vt:lpstr>Arial</vt:lpstr>
      <vt:lpstr>Calibri</vt:lpstr>
      <vt:lpstr>Consolas</vt:lpstr>
      <vt:lpstr>Montserrat Bold</vt:lpstr>
      <vt:lpstr>Segoe UI</vt:lpstr>
      <vt:lpstr>Segoe UI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amaury rokete</cp:lastModifiedBy>
  <cp:revision>4</cp:revision>
  <dcterms:created xsi:type="dcterms:W3CDTF">2013-01-27T09:14:16Z</dcterms:created>
  <dcterms:modified xsi:type="dcterms:W3CDTF">2026-05-31T13:51:51Z</dcterms:modified>
  <cp:category/>
</cp:coreProperties>
</file>