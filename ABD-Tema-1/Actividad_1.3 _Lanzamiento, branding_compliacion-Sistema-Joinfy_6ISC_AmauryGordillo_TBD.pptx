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489E72-A45D-4007-9D42-71A82A2B315E}" type="datetimeFigureOut">
              <a:rPr lang="es-MX" smtClean="0"/>
              <a:t>03/05/2026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DE7CA3-1B22-4E89-A76B-3DED614A4164}" type="slidenum">
              <a:rPr lang="es-MX" smtClean="0"/>
              <a:t>‹Nº›</a:t>
            </a:fld>
            <a:endParaRPr lang="es-MX"/>
          </a:p>
        </p:txBody>
      </p:sp>
    </p:spTree>
    <p:extLst>
      <p:ext uri="{BB962C8B-B14F-4D97-AF65-F5344CB8AC3E}">
        <p14:creationId xmlns:p14="http://schemas.microsoft.com/office/powerpoint/2010/main" val="1455874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842" y="161054"/>
            <a:ext cx="1462214" cy="1049493"/>
          </a:xfrm>
          <a:custGeom>
            <a:avLst/>
            <a:gdLst/>
            <a:ahLst/>
            <a:cxnLst/>
            <a:rect l="l" t="t" r="r" b="b"/>
            <a:pathLst>
              <a:path w="2193321" h="1574239">
                <a:moveTo>
                  <a:pt x="0" y="0"/>
                </a:moveTo>
                <a:lnTo>
                  <a:pt x="2193321" y="0"/>
                </a:lnTo>
                <a:lnTo>
                  <a:pt x="2193321" y="1574238"/>
                </a:lnTo>
                <a:lnTo>
                  <a:pt x="0" y="1574238"/>
                </a:lnTo>
                <a:lnTo>
                  <a:pt x="0" y="0"/>
                </a:lnTo>
                <a:close/>
              </a:path>
            </a:pathLst>
          </a:custGeom>
          <a:blipFill>
            <a:blip r:embed="rId3"/>
            <a:stretch>
              <a:fillRect/>
            </a:stretch>
          </a:blipFill>
        </p:spPr>
      </p:sp>
      <p:sp>
        <p:nvSpPr>
          <p:cNvPr id="3" name="Freeform 3"/>
          <p:cNvSpPr/>
          <p:nvPr/>
        </p:nvSpPr>
        <p:spPr>
          <a:xfrm>
            <a:off x="9717919" y="118189"/>
            <a:ext cx="2335367" cy="1025585"/>
          </a:xfrm>
          <a:custGeom>
            <a:avLst/>
            <a:gdLst/>
            <a:ahLst/>
            <a:cxnLst/>
            <a:rect l="l" t="t" r="r" b="b"/>
            <a:pathLst>
              <a:path w="3503050" h="1538377">
                <a:moveTo>
                  <a:pt x="0" y="0"/>
                </a:moveTo>
                <a:lnTo>
                  <a:pt x="3503050" y="0"/>
                </a:lnTo>
                <a:lnTo>
                  <a:pt x="3503050" y="1538377"/>
                </a:lnTo>
                <a:lnTo>
                  <a:pt x="0" y="1538377"/>
                </a:lnTo>
                <a:lnTo>
                  <a:pt x="0" y="0"/>
                </a:lnTo>
                <a:close/>
              </a:path>
            </a:pathLst>
          </a:custGeom>
          <a:blipFill>
            <a:blip r:embed="rId4"/>
            <a:stretch>
              <a:fillRect/>
            </a:stretch>
          </a:blipFill>
        </p:spPr>
      </p:sp>
      <p:sp>
        <p:nvSpPr>
          <p:cNvPr id="5" name="TextBox 5"/>
          <p:cNvSpPr txBox="1"/>
          <p:nvPr/>
        </p:nvSpPr>
        <p:spPr>
          <a:xfrm>
            <a:off x="3357523" y="611931"/>
            <a:ext cx="5476955" cy="866584"/>
          </a:xfrm>
          <a:prstGeom prst="rect">
            <a:avLst/>
          </a:prstGeom>
        </p:spPr>
        <p:txBody>
          <a:bodyPr lIns="0" tIns="0" rIns="0" bIns="0" rtlCol="0" anchor="t">
            <a:spAutoFit/>
          </a:bodyPr>
          <a:lstStyle/>
          <a:p>
            <a:pPr algn="ctr">
              <a:lnSpc>
                <a:spcPts val="2291"/>
              </a:lnSpc>
              <a:spcBef>
                <a:spcPct val="0"/>
              </a:spcBef>
            </a:pPr>
            <a:r>
              <a:rPr lang="en-US" sz="1750" b="1" dirty="0">
                <a:solidFill>
                  <a:srgbClr val="000000"/>
                </a:solidFill>
                <a:latin typeface="Montserrat Bold"/>
                <a:ea typeface="Montserrat Bold"/>
                <a:cs typeface="Montserrat Bold"/>
                <a:sym typeface="Montserrat Bold"/>
              </a:rPr>
              <a:t>TECNOLÓGICO NACIONAL DE MÉXICO</a:t>
            </a:r>
          </a:p>
          <a:p>
            <a:pPr algn="ctr">
              <a:lnSpc>
                <a:spcPts val="2291"/>
              </a:lnSpc>
              <a:spcBef>
                <a:spcPct val="0"/>
              </a:spcBef>
            </a:pPr>
            <a:r>
              <a:rPr lang="en-US" sz="1750" b="1" dirty="0">
                <a:solidFill>
                  <a:srgbClr val="000000"/>
                </a:solidFill>
                <a:latin typeface="Montserrat Bold"/>
                <a:ea typeface="Montserrat Bold"/>
                <a:cs typeface="Montserrat Bold"/>
                <a:sym typeface="Montserrat Bold"/>
              </a:rPr>
              <a:t>UNIDAD ACADÉMICA VENUSTIANO CARRANZA</a:t>
            </a:r>
          </a:p>
        </p:txBody>
      </p:sp>
      <p:sp>
        <p:nvSpPr>
          <p:cNvPr id="6" name="TextBox 6"/>
          <p:cNvSpPr txBox="1"/>
          <p:nvPr/>
        </p:nvSpPr>
        <p:spPr>
          <a:xfrm>
            <a:off x="1244600" y="1443231"/>
            <a:ext cx="9499600" cy="571631"/>
          </a:xfrm>
          <a:prstGeom prst="rect">
            <a:avLst/>
          </a:prstGeom>
        </p:spPr>
        <p:txBody>
          <a:bodyPr wrap="square" lIns="0" tIns="0" rIns="0" bIns="0" rtlCol="0" anchor="t">
            <a:spAutoFit/>
          </a:bodyPr>
          <a:lstStyle/>
          <a:p>
            <a:pPr algn="ctr">
              <a:lnSpc>
                <a:spcPts val="2291"/>
              </a:lnSpc>
              <a:spcBef>
                <a:spcPct val="0"/>
              </a:spcBef>
            </a:pPr>
            <a:r>
              <a:rPr lang="en-US" sz="1750" b="1" dirty="0">
                <a:solidFill>
                  <a:srgbClr val="000000"/>
                </a:solidFill>
                <a:latin typeface="Montserrat Bold"/>
                <a:ea typeface="Montserrat Bold"/>
                <a:cs typeface="Montserrat Bold"/>
                <a:sym typeface="Montserrat Bold"/>
              </a:rPr>
              <a:t>“INGENIERÍA EN SISTEMAS COMPUTACIONALES”</a:t>
            </a:r>
          </a:p>
          <a:p>
            <a:pPr algn="ctr">
              <a:lnSpc>
                <a:spcPts val="2291"/>
              </a:lnSpc>
              <a:spcBef>
                <a:spcPct val="0"/>
              </a:spcBef>
            </a:pPr>
            <a:r>
              <a:rPr lang="en-US" sz="1750" b="1" dirty="0">
                <a:solidFill>
                  <a:srgbClr val="000000"/>
                </a:solidFill>
                <a:latin typeface="Montserrat Bold"/>
                <a:ea typeface="Montserrat Bold"/>
                <a:cs typeface="Montserrat Bold"/>
                <a:sym typeface="Montserrat Bold"/>
              </a:rPr>
              <a:t>LENGUAJES Y AUTOMATAS 1</a:t>
            </a:r>
          </a:p>
        </p:txBody>
      </p:sp>
      <p:sp>
        <p:nvSpPr>
          <p:cNvPr id="7" name="TextBox 7"/>
          <p:cNvSpPr txBox="1"/>
          <p:nvPr/>
        </p:nvSpPr>
        <p:spPr>
          <a:xfrm>
            <a:off x="2286001" y="2292789"/>
            <a:ext cx="7431919" cy="787395"/>
          </a:xfrm>
          <a:prstGeom prst="rect">
            <a:avLst/>
          </a:prstGeom>
        </p:spPr>
        <p:txBody>
          <a:bodyPr wrap="square" lIns="0" tIns="0" rIns="0" bIns="0" rtlCol="0" anchor="t">
            <a:spAutoFit/>
          </a:bodyPr>
          <a:lstStyle/>
          <a:p>
            <a:pPr algn="ctr">
              <a:lnSpc>
                <a:spcPts val="2291"/>
              </a:lnSpc>
              <a:spcBef>
                <a:spcPct val="0"/>
              </a:spcBef>
            </a:pPr>
            <a:r>
              <a:rPr lang="en-US" sz="1750" b="1" dirty="0">
                <a:solidFill>
                  <a:srgbClr val="000000"/>
                </a:solidFill>
                <a:latin typeface="Montserrat Bold"/>
                <a:ea typeface="Montserrat Bold"/>
                <a:cs typeface="Montserrat Bold"/>
                <a:sym typeface="Montserrat Bold"/>
              </a:rPr>
              <a:t>ACTIVIDAD </a:t>
            </a:r>
          </a:p>
          <a:p>
            <a:pPr algn="ctr"/>
            <a:r>
              <a:rPr lang="es-MX" sz="1600" b="1" i="0" dirty="0">
                <a:effectLst/>
                <a:latin typeface="-apple-system"/>
              </a:rPr>
              <a:t>ACTIVIDAD 1.3 </a:t>
            </a:r>
          </a:p>
          <a:p>
            <a:pPr algn="ctr"/>
            <a:r>
              <a:rPr lang="es-MX" sz="1600" b="1" i="0" dirty="0">
                <a:effectLst/>
                <a:latin typeface="-apple-system"/>
              </a:rPr>
              <a:t>Lanzamiento, branding y </a:t>
            </a:r>
            <a:r>
              <a:rPr lang="es-MX" sz="1600" b="1" i="0" dirty="0" err="1">
                <a:effectLst/>
                <a:latin typeface="-apple-system"/>
              </a:rPr>
              <a:t>complicion</a:t>
            </a:r>
            <a:endParaRPr lang="es-MX" sz="1600" b="1" i="0" dirty="0">
              <a:effectLst/>
              <a:latin typeface="-apple-system"/>
            </a:endParaRPr>
          </a:p>
        </p:txBody>
      </p:sp>
      <p:sp>
        <p:nvSpPr>
          <p:cNvPr id="8" name="TextBox 8"/>
          <p:cNvSpPr txBox="1"/>
          <p:nvPr/>
        </p:nvSpPr>
        <p:spPr>
          <a:xfrm>
            <a:off x="4775200" y="3132048"/>
            <a:ext cx="2438400" cy="276679"/>
          </a:xfrm>
          <a:prstGeom prst="rect">
            <a:avLst/>
          </a:prstGeom>
        </p:spPr>
        <p:txBody>
          <a:bodyPr wrap="square" lIns="0" tIns="0" rIns="0" bIns="0" rtlCol="0" anchor="t">
            <a:spAutoFit/>
          </a:bodyPr>
          <a:lstStyle/>
          <a:p>
            <a:pPr algn="ctr">
              <a:lnSpc>
                <a:spcPts val="2291"/>
              </a:lnSpc>
              <a:spcBef>
                <a:spcPct val="0"/>
              </a:spcBef>
            </a:pPr>
            <a:r>
              <a:rPr lang="en-US" sz="1750" b="1" dirty="0">
                <a:solidFill>
                  <a:srgbClr val="000000"/>
                </a:solidFill>
                <a:latin typeface="Montserrat Bold"/>
                <a:ea typeface="Montserrat Bold"/>
                <a:cs typeface="Montserrat Bold"/>
                <a:sym typeface="Montserrat Bold"/>
              </a:rPr>
              <a:t>RPESENTA</a:t>
            </a:r>
          </a:p>
        </p:txBody>
      </p:sp>
      <p:sp>
        <p:nvSpPr>
          <p:cNvPr id="9" name="TextBox 9"/>
          <p:cNvSpPr txBox="1"/>
          <p:nvPr/>
        </p:nvSpPr>
        <p:spPr>
          <a:xfrm>
            <a:off x="3200401" y="4815858"/>
            <a:ext cx="6096000" cy="571631"/>
          </a:xfrm>
          <a:prstGeom prst="rect">
            <a:avLst/>
          </a:prstGeom>
        </p:spPr>
        <p:txBody>
          <a:bodyPr wrap="square" lIns="0" tIns="0" rIns="0" bIns="0" rtlCol="0" anchor="t">
            <a:spAutoFit/>
          </a:bodyPr>
          <a:lstStyle/>
          <a:p>
            <a:pPr algn="ctr">
              <a:lnSpc>
                <a:spcPts val="2291"/>
              </a:lnSpc>
              <a:spcBef>
                <a:spcPct val="0"/>
              </a:spcBef>
            </a:pPr>
            <a:r>
              <a:rPr lang="en-US" sz="1750" b="1" dirty="0">
                <a:solidFill>
                  <a:srgbClr val="000000"/>
                </a:solidFill>
                <a:latin typeface="Montserrat Bold"/>
                <a:ea typeface="Montserrat Bold"/>
                <a:cs typeface="Montserrat Bold"/>
                <a:sym typeface="Montserrat Bold"/>
              </a:rPr>
              <a:t>DOCENTE</a:t>
            </a:r>
          </a:p>
          <a:p>
            <a:pPr algn="ctr">
              <a:lnSpc>
                <a:spcPts val="2291"/>
              </a:lnSpc>
              <a:spcBef>
                <a:spcPct val="0"/>
              </a:spcBef>
            </a:pPr>
            <a:r>
              <a:rPr lang="en-US" sz="1750" b="1" dirty="0">
                <a:solidFill>
                  <a:srgbClr val="000000"/>
                </a:solidFill>
                <a:latin typeface="Montserrat Bold"/>
                <a:ea typeface="Montserrat Bold"/>
                <a:cs typeface="Montserrat Bold"/>
                <a:sym typeface="Montserrat Bold"/>
              </a:rPr>
              <a:t>ING. FRANCISCO JAVIER MINGO VELAZQUEZ</a:t>
            </a:r>
          </a:p>
        </p:txBody>
      </p:sp>
      <p:sp>
        <p:nvSpPr>
          <p:cNvPr id="10" name="TextBox 10"/>
          <p:cNvSpPr txBox="1"/>
          <p:nvPr/>
        </p:nvSpPr>
        <p:spPr>
          <a:xfrm>
            <a:off x="2438400" y="6089891"/>
            <a:ext cx="8341636" cy="276679"/>
          </a:xfrm>
          <a:prstGeom prst="rect">
            <a:avLst/>
          </a:prstGeom>
        </p:spPr>
        <p:txBody>
          <a:bodyPr wrap="square" lIns="0" tIns="0" rIns="0" bIns="0" rtlCol="0" anchor="t">
            <a:spAutoFit/>
          </a:bodyPr>
          <a:lstStyle/>
          <a:p>
            <a:pPr algn="ctr">
              <a:lnSpc>
                <a:spcPts val="2291"/>
              </a:lnSpc>
              <a:spcBef>
                <a:spcPct val="0"/>
              </a:spcBef>
            </a:pPr>
            <a:r>
              <a:rPr lang="en-US" sz="1750" b="1" dirty="0">
                <a:solidFill>
                  <a:srgbClr val="000000"/>
                </a:solidFill>
                <a:latin typeface="Montserrat Bold"/>
                <a:ea typeface="Montserrat Bold"/>
                <a:cs typeface="Montserrat Bold"/>
                <a:sym typeface="Montserrat Bold"/>
              </a:rPr>
              <a:t>24 DE ABRIL DE 2026 VENUSTIANO CARRANZA, CHIAPAS</a:t>
            </a:r>
          </a:p>
        </p:txBody>
      </p:sp>
      <p:graphicFrame>
        <p:nvGraphicFramePr>
          <p:cNvPr id="11" name="Tabla 10">
            <a:extLst>
              <a:ext uri="{FF2B5EF4-FFF2-40B4-BE49-F238E27FC236}">
                <a16:creationId xmlns:a16="http://schemas.microsoft.com/office/drawing/2014/main" id="{323F15EB-498F-21AC-540F-B4832C9E5A89}"/>
              </a:ext>
            </a:extLst>
          </p:cNvPr>
          <p:cNvGraphicFramePr>
            <a:graphicFrameLocks noGrp="1"/>
          </p:cNvGraphicFramePr>
          <p:nvPr/>
        </p:nvGraphicFramePr>
        <p:xfrm>
          <a:off x="3657600" y="3803884"/>
          <a:ext cx="5486400" cy="670560"/>
        </p:xfrm>
        <a:graphic>
          <a:graphicData uri="http://schemas.openxmlformats.org/drawingml/2006/table">
            <a:tbl>
              <a:tblPr/>
              <a:tblGrid>
                <a:gridCol w="2743200">
                  <a:extLst>
                    <a:ext uri="{9D8B030D-6E8A-4147-A177-3AD203B41FA5}">
                      <a16:colId xmlns:a16="http://schemas.microsoft.com/office/drawing/2014/main" val="3099188907"/>
                    </a:ext>
                  </a:extLst>
                </a:gridCol>
                <a:gridCol w="2743200">
                  <a:extLst>
                    <a:ext uri="{9D8B030D-6E8A-4147-A177-3AD203B41FA5}">
                      <a16:colId xmlns:a16="http://schemas.microsoft.com/office/drawing/2014/main" val="3475046580"/>
                    </a:ext>
                  </a:extLst>
                </a:gridCol>
              </a:tblGrid>
              <a:tr h="335280">
                <a:tc>
                  <a:txBody>
                    <a:bodyPr/>
                    <a:lstStyle/>
                    <a:p>
                      <a:r>
                        <a:rPr lang="es-MX" sz="1200" b="1">
                          <a:effectLst/>
                        </a:rPr>
                        <a:t>NOMBRE DEL ALUMNO</a:t>
                      </a:r>
                    </a:p>
                  </a:txBody>
                  <a:tcPr marL="60960" marR="60960" marT="30480" marB="30480"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200" b="1">
                          <a:effectLst/>
                        </a:rPr>
                        <a:t>MATRICULA</a:t>
                      </a:r>
                    </a:p>
                  </a:txBody>
                  <a:tcPr marL="60960" marR="60960" marT="30480" marB="30480"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9815266"/>
                  </a:ext>
                </a:extLst>
              </a:tr>
              <a:tr h="335280">
                <a:tc>
                  <a:txBody>
                    <a:bodyPr/>
                    <a:lstStyle/>
                    <a:p>
                      <a:r>
                        <a:rPr lang="es-MX" sz="1200" b="1">
                          <a:effectLst/>
                        </a:rPr>
                        <a:t>Amaury Jahaziel Gordillo Hernandez</a:t>
                      </a:r>
                    </a:p>
                  </a:txBody>
                  <a:tcPr marL="60960" marR="60960" marT="30480" marB="30480"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200" b="1" dirty="0">
                          <a:effectLst/>
                        </a:rPr>
                        <a:t>231260074</a:t>
                      </a:r>
                    </a:p>
                  </a:txBody>
                  <a:tcPr marL="60960" marR="60960" marT="30480" marB="30480"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18113360"/>
                  </a:ext>
                </a:extLst>
              </a:tr>
            </a:tbl>
          </a:graphicData>
        </a:graphic>
      </p:graphicFrame>
      <p:sp>
        <p:nvSpPr>
          <p:cNvPr id="12" name="Rectangle 1">
            <a:extLst>
              <a:ext uri="{FF2B5EF4-FFF2-40B4-BE49-F238E27FC236}">
                <a16:creationId xmlns:a16="http://schemas.microsoft.com/office/drawing/2014/main" id="{04D78428-F81B-1E82-50A7-BDB098FC5F69}"/>
              </a:ext>
            </a:extLst>
          </p:cNvPr>
          <p:cNvSpPr>
            <a:spLocks noChangeArrowheads="1"/>
          </p:cNvSpPr>
          <p:nvPr/>
        </p:nvSpPr>
        <p:spPr bwMode="auto">
          <a:xfrm>
            <a:off x="3657600" y="3681093"/>
            <a:ext cx="1231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endParaRPr lang="es-MX"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01168"/>
            <a:ext cx="1828800" cy="320040"/>
          </a:xfrm>
          <a:prstGeom prst="rect">
            <a:avLst/>
          </a:prstGeom>
          <a:noFill/>
        </p:spPr>
        <p:txBody>
          <a:bodyPr wrap="square" lIns="0" tIns="0" rIns="0" bIns="0">
            <a:spAutoFit/>
          </a:bodyPr>
          <a:lstStyle/>
          <a:p>
            <a:pPr algn="l"/>
            <a:r>
              <a:rPr sz="1100" b="1" i="0">
                <a:solidFill>
                  <a:srgbClr val="0F172A"/>
                </a:solidFill>
                <a:latin typeface="Montserrat"/>
              </a:rPr>
              <a:t>JOINFY</a:t>
            </a:r>
          </a:p>
        </p:txBody>
      </p:sp>
      <p:sp>
        <p:nvSpPr>
          <p:cNvPr id="5" name="TextBox 4"/>
          <p:cNvSpPr txBox="1"/>
          <p:nvPr/>
        </p:nvSpPr>
        <p:spPr>
          <a:xfrm>
            <a:off x="5242255" y="201168"/>
            <a:ext cx="6400800" cy="320040"/>
          </a:xfrm>
          <a:prstGeom prst="rect">
            <a:avLst/>
          </a:prstGeom>
          <a:noFill/>
        </p:spPr>
        <p:txBody>
          <a:bodyPr wrap="square" lIns="0" tIns="0" rIns="0" bIns="0">
            <a:spAutoFit/>
          </a:bodyPr>
          <a:lstStyle/>
          <a:p>
            <a:pPr algn="r"/>
            <a:r>
              <a:rPr sz="1000" b="0" i="0">
                <a:solidFill>
                  <a:srgbClr val="6B7280"/>
                </a:solidFill>
                <a:latin typeface="Montserrat"/>
              </a:rPr>
              <a:t>Actividad 1.3 — Lanzamiento, branding y compliance</a:t>
            </a:r>
          </a:p>
        </p:txBody>
      </p:sp>
      <p:sp>
        <p:nvSpPr>
          <p:cNvPr id="6" name="TextBox 5"/>
          <p:cNvSpPr txBox="1"/>
          <p:nvPr/>
        </p:nvSpPr>
        <p:spPr>
          <a:xfrm>
            <a:off x="548640" y="640080"/>
            <a:ext cx="10972800" cy="457200"/>
          </a:xfrm>
          <a:prstGeom prst="rect">
            <a:avLst/>
          </a:prstGeom>
          <a:noFill/>
        </p:spPr>
        <p:txBody>
          <a:bodyPr wrap="square" lIns="0" tIns="0" rIns="0" bIns="0">
            <a:spAutoFit/>
          </a:bodyPr>
          <a:lstStyle/>
          <a:p>
            <a:pPr algn="l"/>
            <a:r>
              <a:rPr sz="2800" b="1" i="0">
                <a:solidFill>
                  <a:srgbClr val="0F172A"/>
                </a:solidFill>
                <a:latin typeface="Montserrat"/>
              </a:rPr>
              <a:t>Índice</a:t>
            </a:r>
          </a:p>
        </p:txBody>
      </p:sp>
      <p:sp>
        <p:nvSpPr>
          <p:cNvPr id="7" name="TextBox 6"/>
          <p:cNvSpPr txBox="1"/>
          <p:nvPr/>
        </p:nvSpPr>
        <p:spPr>
          <a:xfrm>
            <a:off x="548640" y="1143000"/>
            <a:ext cx="10972800" cy="365760"/>
          </a:xfrm>
          <a:prstGeom prst="rect">
            <a:avLst/>
          </a:prstGeom>
          <a:noFill/>
        </p:spPr>
        <p:txBody>
          <a:bodyPr wrap="square" lIns="0" tIns="0" rIns="0" bIns="0">
            <a:spAutoFit/>
          </a:bodyPr>
          <a:lstStyle/>
          <a:p>
            <a:pPr algn="l"/>
            <a:r>
              <a:rPr sz="1200" b="0" i="1" dirty="0">
                <a:solidFill>
                  <a:srgbClr val="6B7280"/>
                </a:solidFill>
                <a:latin typeface="Montserrat"/>
              </a:rPr>
              <a:t>Cinco </a:t>
            </a:r>
            <a:r>
              <a:rPr sz="1200" b="0" i="1" dirty="0" err="1">
                <a:solidFill>
                  <a:srgbClr val="6B7280"/>
                </a:solidFill>
                <a:latin typeface="Montserrat"/>
              </a:rPr>
              <a:t>subsecciones</a:t>
            </a:r>
            <a:r>
              <a:rPr sz="1200" b="0" i="1" dirty="0">
                <a:solidFill>
                  <a:srgbClr val="6B7280"/>
                </a:solidFill>
                <a:latin typeface="Montserrat"/>
              </a:rPr>
              <a:t> que </a:t>
            </a:r>
            <a:r>
              <a:rPr sz="1200" b="0" i="1" dirty="0" err="1">
                <a:solidFill>
                  <a:srgbClr val="6B7280"/>
                </a:solidFill>
                <a:latin typeface="Montserrat"/>
              </a:rPr>
              <a:t>cubren</a:t>
            </a:r>
            <a:r>
              <a:rPr sz="1200" b="0" i="1" dirty="0">
                <a:solidFill>
                  <a:srgbClr val="6B7280"/>
                </a:solidFill>
                <a:latin typeface="Montserrat"/>
              </a:rPr>
              <a:t> </a:t>
            </a:r>
            <a:r>
              <a:rPr sz="1200" b="0" i="1" dirty="0" err="1">
                <a:solidFill>
                  <a:srgbClr val="6B7280"/>
                </a:solidFill>
                <a:latin typeface="Montserrat"/>
              </a:rPr>
              <a:t>el</a:t>
            </a:r>
            <a:r>
              <a:rPr sz="1200" b="0" i="1" dirty="0">
                <a:solidFill>
                  <a:srgbClr val="6B7280"/>
                </a:solidFill>
                <a:latin typeface="Montserrat"/>
              </a:rPr>
              <a:t> sprint </a:t>
            </a:r>
            <a:r>
              <a:rPr sz="1200" b="0" i="1" dirty="0" err="1">
                <a:solidFill>
                  <a:srgbClr val="6B7280"/>
                </a:solidFill>
                <a:latin typeface="Montserrat"/>
              </a:rPr>
              <a:t>completo</a:t>
            </a:r>
            <a:r>
              <a:rPr sz="1200" b="0" i="1" dirty="0">
                <a:solidFill>
                  <a:srgbClr val="6B7280"/>
                </a:solidFill>
                <a:latin typeface="Montserrat"/>
              </a:rPr>
              <a:t> de </a:t>
            </a:r>
            <a:r>
              <a:rPr sz="1200" b="0" i="1" dirty="0" err="1">
                <a:solidFill>
                  <a:srgbClr val="6B7280"/>
                </a:solidFill>
                <a:latin typeface="Montserrat"/>
              </a:rPr>
              <a:t>lanzamiento</a:t>
            </a:r>
            <a:r>
              <a:rPr sz="1200" b="0" i="1" dirty="0">
                <a:solidFill>
                  <a:srgbClr val="6B7280"/>
                </a:solidFill>
                <a:latin typeface="Montserrat"/>
              </a:rPr>
              <a:t> del </a:t>
            </a:r>
            <a:r>
              <a:rPr sz="1200" b="0" i="1" dirty="0" err="1">
                <a:solidFill>
                  <a:srgbClr val="6B7280"/>
                </a:solidFill>
                <a:latin typeface="Montserrat"/>
              </a:rPr>
              <a:t>sistema</a:t>
            </a:r>
            <a:r>
              <a:rPr sz="1200" b="0" i="1" dirty="0">
                <a:solidFill>
                  <a:srgbClr val="6B7280"/>
                </a:solidFill>
                <a:latin typeface="Montserrat"/>
              </a:rPr>
              <a:t>.</a:t>
            </a:r>
          </a:p>
        </p:txBody>
      </p:sp>
      <p:sp>
        <p:nvSpPr>
          <p:cNvPr id="9" name="TextBox 8"/>
          <p:cNvSpPr txBox="1"/>
          <p:nvPr/>
        </p:nvSpPr>
        <p:spPr>
          <a:xfrm>
            <a:off x="548640" y="2103120"/>
            <a:ext cx="914400" cy="502920"/>
          </a:xfrm>
          <a:prstGeom prst="rect">
            <a:avLst/>
          </a:prstGeom>
          <a:noFill/>
        </p:spPr>
        <p:txBody>
          <a:bodyPr wrap="square" lIns="0" tIns="0" rIns="0" bIns="0">
            <a:spAutoFit/>
          </a:bodyPr>
          <a:lstStyle/>
          <a:p>
            <a:pPr algn="l"/>
            <a:r>
              <a:rPr sz="1800" b="1" i="0">
                <a:solidFill>
                  <a:srgbClr val="16A34A"/>
                </a:solidFill>
                <a:latin typeface="Montserrat"/>
              </a:rPr>
              <a:t>1.3.1</a:t>
            </a:r>
          </a:p>
        </p:txBody>
      </p:sp>
      <p:sp>
        <p:nvSpPr>
          <p:cNvPr id="10" name="TextBox 9"/>
          <p:cNvSpPr txBox="1"/>
          <p:nvPr/>
        </p:nvSpPr>
        <p:spPr>
          <a:xfrm>
            <a:off x="1554480" y="2103120"/>
            <a:ext cx="10058400" cy="274320"/>
          </a:xfrm>
          <a:prstGeom prst="rect">
            <a:avLst/>
          </a:prstGeom>
          <a:noFill/>
        </p:spPr>
        <p:txBody>
          <a:bodyPr wrap="square" lIns="0" tIns="0" rIns="0" bIns="0">
            <a:spAutoFit/>
          </a:bodyPr>
          <a:lstStyle/>
          <a:p>
            <a:pPr algn="l"/>
            <a:r>
              <a:rPr sz="1300" b="1" i="0">
                <a:solidFill>
                  <a:srgbClr val="0F172A"/>
                </a:solidFill>
                <a:latin typeface="Montserrat"/>
              </a:rPr>
              <a:t>Fixes pre-lanzamiento — CSP y bug del editor</a:t>
            </a:r>
          </a:p>
        </p:txBody>
      </p:sp>
      <p:sp>
        <p:nvSpPr>
          <p:cNvPr id="11" name="TextBox 10"/>
          <p:cNvSpPr txBox="1"/>
          <p:nvPr/>
        </p:nvSpPr>
        <p:spPr>
          <a:xfrm>
            <a:off x="1554480" y="2377440"/>
            <a:ext cx="10058400" cy="274320"/>
          </a:xfrm>
          <a:prstGeom prst="rect">
            <a:avLst/>
          </a:prstGeom>
          <a:noFill/>
        </p:spPr>
        <p:txBody>
          <a:bodyPr wrap="square" lIns="0" tIns="0" rIns="0" bIns="0">
            <a:spAutoFit/>
          </a:bodyPr>
          <a:lstStyle/>
          <a:p>
            <a:pPr algn="l"/>
            <a:r>
              <a:rPr sz="1100" b="0" i="0">
                <a:solidFill>
                  <a:srgbClr val="6B7280"/>
                </a:solidFill>
                <a:latin typeface="Montserrat"/>
              </a:rPr>
              <a:t>Corrección de Content Security Policy para imágenes y bug del preview tras autoguardado.</a:t>
            </a:r>
          </a:p>
        </p:txBody>
      </p:sp>
      <p:sp>
        <p:nvSpPr>
          <p:cNvPr id="12" name="TextBox 11"/>
          <p:cNvSpPr txBox="1"/>
          <p:nvPr/>
        </p:nvSpPr>
        <p:spPr>
          <a:xfrm>
            <a:off x="548640" y="2880360"/>
            <a:ext cx="914400" cy="502920"/>
          </a:xfrm>
          <a:prstGeom prst="rect">
            <a:avLst/>
          </a:prstGeom>
          <a:noFill/>
        </p:spPr>
        <p:txBody>
          <a:bodyPr wrap="square" lIns="0" tIns="0" rIns="0" bIns="0">
            <a:spAutoFit/>
          </a:bodyPr>
          <a:lstStyle/>
          <a:p>
            <a:pPr algn="l"/>
            <a:r>
              <a:rPr sz="1800" b="1" i="0">
                <a:solidFill>
                  <a:srgbClr val="16A34A"/>
                </a:solidFill>
                <a:latin typeface="Montserrat"/>
              </a:rPr>
              <a:t>1.3.2</a:t>
            </a:r>
          </a:p>
        </p:txBody>
      </p:sp>
      <p:sp>
        <p:nvSpPr>
          <p:cNvPr id="13" name="TextBox 12"/>
          <p:cNvSpPr txBox="1"/>
          <p:nvPr/>
        </p:nvSpPr>
        <p:spPr>
          <a:xfrm>
            <a:off x="1554480" y="2880360"/>
            <a:ext cx="10058400" cy="274320"/>
          </a:xfrm>
          <a:prstGeom prst="rect">
            <a:avLst/>
          </a:prstGeom>
          <a:noFill/>
        </p:spPr>
        <p:txBody>
          <a:bodyPr wrap="square" lIns="0" tIns="0" rIns="0" bIns="0">
            <a:spAutoFit/>
          </a:bodyPr>
          <a:lstStyle/>
          <a:p>
            <a:pPr algn="l"/>
            <a:r>
              <a:rPr sz="1300" b="1" i="0">
                <a:solidFill>
                  <a:srgbClr val="0F172A"/>
                </a:solidFill>
                <a:latin typeface="Montserrat"/>
              </a:rPr>
              <a:t>Migración a joinfy.mx + plan Free + Cloudflare</a:t>
            </a:r>
          </a:p>
        </p:txBody>
      </p:sp>
      <p:sp>
        <p:nvSpPr>
          <p:cNvPr id="14" name="TextBox 13"/>
          <p:cNvSpPr txBox="1"/>
          <p:nvPr/>
        </p:nvSpPr>
        <p:spPr>
          <a:xfrm>
            <a:off x="1554480" y="3154680"/>
            <a:ext cx="10058400" cy="274320"/>
          </a:xfrm>
          <a:prstGeom prst="rect">
            <a:avLst/>
          </a:prstGeom>
          <a:noFill/>
        </p:spPr>
        <p:txBody>
          <a:bodyPr wrap="square" lIns="0" tIns="0" rIns="0" bIns="0">
            <a:spAutoFit/>
          </a:bodyPr>
          <a:lstStyle/>
          <a:p>
            <a:pPr algn="l"/>
            <a:r>
              <a:rPr sz="1100" b="0" i="0">
                <a:solidFill>
                  <a:srgbClr val="6B7280"/>
                </a:solidFill>
                <a:latin typeface="Montserrat"/>
              </a:rPr>
              <a:t>Cambio de dominio comercial detrás de Cloudflare e introducción del plan Free con marca de agua.</a:t>
            </a:r>
          </a:p>
        </p:txBody>
      </p:sp>
      <p:sp>
        <p:nvSpPr>
          <p:cNvPr id="15" name="TextBox 14"/>
          <p:cNvSpPr txBox="1"/>
          <p:nvPr/>
        </p:nvSpPr>
        <p:spPr>
          <a:xfrm>
            <a:off x="548640" y="3657600"/>
            <a:ext cx="914400" cy="502920"/>
          </a:xfrm>
          <a:prstGeom prst="rect">
            <a:avLst/>
          </a:prstGeom>
          <a:noFill/>
        </p:spPr>
        <p:txBody>
          <a:bodyPr wrap="square" lIns="0" tIns="0" rIns="0" bIns="0">
            <a:spAutoFit/>
          </a:bodyPr>
          <a:lstStyle/>
          <a:p>
            <a:pPr algn="l"/>
            <a:r>
              <a:rPr sz="1800" b="1" i="0">
                <a:solidFill>
                  <a:srgbClr val="16A34A"/>
                </a:solidFill>
                <a:latin typeface="Montserrat"/>
              </a:rPr>
              <a:t>1.3.3</a:t>
            </a:r>
          </a:p>
        </p:txBody>
      </p:sp>
      <p:sp>
        <p:nvSpPr>
          <p:cNvPr id="16" name="TextBox 15"/>
          <p:cNvSpPr txBox="1"/>
          <p:nvPr/>
        </p:nvSpPr>
        <p:spPr>
          <a:xfrm>
            <a:off x="1554480" y="3657600"/>
            <a:ext cx="10058400" cy="274320"/>
          </a:xfrm>
          <a:prstGeom prst="rect">
            <a:avLst/>
          </a:prstGeom>
          <a:noFill/>
        </p:spPr>
        <p:txBody>
          <a:bodyPr wrap="square" lIns="0" tIns="0" rIns="0" bIns="0">
            <a:spAutoFit/>
          </a:bodyPr>
          <a:lstStyle/>
          <a:p>
            <a:pPr algn="l"/>
            <a:r>
              <a:rPr sz="1300" b="1" i="0">
                <a:solidFill>
                  <a:srgbClr val="0F172A"/>
                </a:solidFill>
                <a:latin typeface="Montserrat"/>
              </a:rPr>
              <a:t>Branding completo — favicon, OG image, metadata</a:t>
            </a:r>
          </a:p>
        </p:txBody>
      </p:sp>
      <p:sp>
        <p:nvSpPr>
          <p:cNvPr id="17" name="TextBox 16"/>
          <p:cNvSpPr txBox="1"/>
          <p:nvPr/>
        </p:nvSpPr>
        <p:spPr>
          <a:xfrm>
            <a:off x="1554480" y="3931920"/>
            <a:ext cx="10058400" cy="274320"/>
          </a:xfrm>
          <a:prstGeom prst="rect">
            <a:avLst/>
          </a:prstGeom>
          <a:noFill/>
        </p:spPr>
        <p:txBody>
          <a:bodyPr wrap="square" lIns="0" tIns="0" rIns="0" bIns="0">
            <a:spAutoFit/>
          </a:bodyPr>
          <a:lstStyle/>
          <a:p>
            <a:pPr algn="l"/>
            <a:r>
              <a:rPr sz="1100" b="0" i="0">
                <a:solidFill>
                  <a:srgbClr val="6B7280"/>
                </a:solidFill>
                <a:latin typeface="Montserrat"/>
              </a:rPr>
              <a:t>Logo Joinfy en favicon, app icon, apple icon e imagen Open Graph para WhatsApp/Facebook.</a:t>
            </a:r>
          </a:p>
        </p:txBody>
      </p:sp>
      <p:sp>
        <p:nvSpPr>
          <p:cNvPr id="18" name="TextBox 17"/>
          <p:cNvSpPr txBox="1"/>
          <p:nvPr/>
        </p:nvSpPr>
        <p:spPr>
          <a:xfrm>
            <a:off x="548640" y="4434840"/>
            <a:ext cx="914400" cy="502920"/>
          </a:xfrm>
          <a:prstGeom prst="rect">
            <a:avLst/>
          </a:prstGeom>
          <a:noFill/>
        </p:spPr>
        <p:txBody>
          <a:bodyPr wrap="square" lIns="0" tIns="0" rIns="0" bIns="0">
            <a:spAutoFit/>
          </a:bodyPr>
          <a:lstStyle/>
          <a:p>
            <a:pPr algn="l"/>
            <a:r>
              <a:rPr sz="1800" b="1" i="0">
                <a:solidFill>
                  <a:srgbClr val="16A34A"/>
                </a:solidFill>
                <a:latin typeface="Montserrat"/>
              </a:rPr>
              <a:t>1.3.4</a:t>
            </a:r>
          </a:p>
        </p:txBody>
      </p:sp>
      <p:sp>
        <p:nvSpPr>
          <p:cNvPr id="19" name="TextBox 18"/>
          <p:cNvSpPr txBox="1"/>
          <p:nvPr/>
        </p:nvSpPr>
        <p:spPr>
          <a:xfrm>
            <a:off x="1554480" y="4434840"/>
            <a:ext cx="10058400" cy="274320"/>
          </a:xfrm>
          <a:prstGeom prst="rect">
            <a:avLst/>
          </a:prstGeom>
          <a:noFill/>
        </p:spPr>
        <p:txBody>
          <a:bodyPr wrap="square" lIns="0" tIns="0" rIns="0" bIns="0">
            <a:spAutoFit/>
          </a:bodyPr>
          <a:lstStyle/>
          <a:p>
            <a:pPr algn="l"/>
            <a:r>
              <a:rPr sz="1300" b="1" i="0">
                <a:solidFill>
                  <a:srgbClr val="0F172A"/>
                </a:solidFill>
                <a:latin typeface="Montserrat"/>
              </a:rPr>
              <a:t>Cloudflare Turnstile — CAPTCHA en formularios sensibles</a:t>
            </a:r>
          </a:p>
        </p:txBody>
      </p:sp>
      <p:sp>
        <p:nvSpPr>
          <p:cNvPr id="20" name="TextBox 19"/>
          <p:cNvSpPr txBox="1"/>
          <p:nvPr/>
        </p:nvSpPr>
        <p:spPr>
          <a:xfrm>
            <a:off x="1554480" y="4709160"/>
            <a:ext cx="10058400" cy="274320"/>
          </a:xfrm>
          <a:prstGeom prst="rect">
            <a:avLst/>
          </a:prstGeom>
          <a:noFill/>
        </p:spPr>
        <p:txBody>
          <a:bodyPr wrap="square" lIns="0" tIns="0" rIns="0" bIns="0">
            <a:spAutoFit/>
          </a:bodyPr>
          <a:lstStyle/>
          <a:p>
            <a:pPr algn="l"/>
            <a:r>
              <a:rPr sz="1100" b="0" i="0">
                <a:solidFill>
                  <a:srgbClr val="6B7280"/>
                </a:solidFill>
                <a:latin typeface="Montserrat"/>
              </a:rPr>
              <a:t>Widget invisible en login, registro, login de admin y formulario de contacto. Verificación server-side.</a:t>
            </a:r>
          </a:p>
        </p:txBody>
      </p:sp>
      <p:sp>
        <p:nvSpPr>
          <p:cNvPr id="21" name="TextBox 20"/>
          <p:cNvSpPr txBox="1"/>
          <p:nvPr/>
        </p:nvSpPr>
        <p:spPr>
          <a:xfrm>
            <a:off x="548640" y="5212080"/>
            <a:ext cx="914400" cy="502920"/>
          </a:xfrm>
          <a:prstGeom prst="rect">
            <a:avLst/>
          </a:prstGeom>
          <a:noFill/>
        </p:spPr>
        <p:txBody>
          <a:bodyPr wrap="square" lIns="0" tIns="0" rIns="0" bIns="0">
            <a:spAutoFit/>
          </a:bodyPr>
          <a:lstStyle/>
          <a:p>
            <a:pPr algn="l"/>
            <a:r>
              <a:rPr sz="1800" b="1" i="0">
                <a:solidFill>
                  <a:srgbClr val="16A34A"/>
                </a:solidFill>
                <a:latin typeface="Montserrat"/>
              </a:rPr>
              <a:t>1.3.5</a:t>
            </a:r>
          </a:p>
        </p:txBody>
      </p:sp>
      <p:sp>
        <p:nvSpPr>
          <p:cNvPr id="22" name="TextBox 21"/>
          <p:cNvSpPr txBox="1"/>
          <p:nvPr/>
        </p:nvSpPr>
        <p:spPr>
          <a:xfrm>
            <a:off x="1554480" y="5212080"/>
            <a:ext cx="10058400" cy="274320"/>
          </a:xfrm>
          <a:prstGeom prst="rect">
            <a:avLst/>
          </a:prstGeom>
          <a:noFill/>
        </p:spPr>
        <p:txBody>
          <a:bodyPr wrap="square" lIns="0" tIns="0" rIns="0" bIns="0">
            <a:spAutoFit/>
          </a:bodyPr>
          <a:lstStyle/>
          <a:p>
            <a:pPr algn="l"/>
            <a:r>
              <a:rPr sz="1300" b="1" i="0">
                <a:solidFill>
                  <a:srgbClr val="0F172A"/>
                </a:solidFill>
                <a:latin typeface="Montserrat"/>
              </a:rPr>
              <a:t>Compliance legal — Click-wrap T&amp;C + privacidad</a:t>
            </a:r>
          </a:p>
        </p:txBody>
      </p:sp>
      <p:sp>
        <p:nvSpPr>
          <p:cNvPr id="23" name="TextBox 22"/>
          <p:cNvSpPr txBox="1"/>
          <p:nvPr/>
        </p:nvSpPr>
        <p:spPr>
          <a:xfrm>
            <a:off x="1554480" y="5486400"/>
            <a:ext cx="10058400" cy="274320"/>
          </a:xfrm>
          <a:prstGeom prst="rect">
            <a:avLst/>
          </a:prstGeom>
          <a:noFill/>
        </p:spPr>
        <p:txBody>
          <a:bodyPr wrap="square" lIns="0" tIns="0" rIns="0" bIns="0">
            <a:spAutoFit/>
          </a:bodyPr>
          <a:lstStyle/>
          <a:p>
            <a:pPr algn="l"/>
            <a:r>
              <a:rPr sz="1100" b="0" i="0">
                <a:solidFill>
                  <a:srgbClr val="6B7280"/>
                </a:solidFill>
                <a:latin typeface="Montserrat"/>
              </a:rPr>
              <a:t>Aceptación obligatoria con checkbox de Términos y Aviso de Privacidad. Auditoría con IP y User-Agent.</a:t>
            </a:r>
          </a:p>
        </p:txBody>
      </p:sp>
      <p:sp>
        <p:nvSpPr>
          <p:cNvPr id="24" name="TextBox 23"/>
          <p:cNvSpPr txBox="1"/>
          <p:nvPr/>
        </p:nvSpPr>
        <p:spPr>
          <a:xfrm>
            <a:off x="11277295" y="6492240"/>
            <a:ext cx="548640" cy="274320"/>
          </a:xfrm>
          <a:prstGeom prst="rect">
            <a:avLst/>
          </a:prstGeom>
          <a:noFill/>
        </p:spPr>
        <p:txBody>
          <a:bodyPr wrap="square" lIns="0" tIns="0" rIns="0" bIns="0">
            <a:spAutoFit/>
          </a:bodyPr>
          <a:lstStyle/>
          <a:p>
            <a:pPr algn="r"/>
            <a:r>
              <a:rPr sz="900" b="0" i="0">
                <a:solidFill>
                  <a:srgbClr val="9AA0AB"/>
                </a:solidFill>
                <a:latin typeface="Montserrat"/>
              </a:rPr>
              <a:t>02 / 07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01168"/>
            <a:ext cx="1828800" cy="320040"/>
          </a:xfrm>
          <a:prstGeom prst="rect">
            <a:avLst/>
          </a:prstGeom>
          <a:noFill/>
        </p:spPr>
        <p:txBody>
          <a:bodyPr wrap="square" lIns="0" tIns="0" rIns="0" bIns="0">
            <a:spAutoFit/>
          </a:bodyPr>
          <a:lstStyle/>
          <a:p>
            <a:pPr algn="l"/>
            <a:r>
              <a:rPr sz="1100" b="1" i="0">
                <a:solidFill>
                  <a:srgbClr val="0F172A"/>
                </a:solidFill>
                <a:latin typeface="Montserrat"/>
              </a:rPr>
              <a:t>JOINFY</a:t>
            </a:r>
          </a:p>
        </p:txBody>
      </p:sp>
      <p:sp>
        <p:nvSpPr>
          <p:cNvPr id="5" name="TextBox 4"/>
          <p:cNvSpPr txBox="1"/>
          <p:nvPr/>
        </p:nvSpPr>
        <p:spPr>
          <a:xfrm>
            <a:off x="5242255" y="201168"/>
            <a:ext cx="6400800" cy="320040"/>
          </a:xfrm>
          <a:prstGeom prst="rect">
            <a:avLst/>
          </a:prstGeom>
          <a:noFill/>
        </p:spPr>
        <p:txBody>
          <a:bodyPr wrap="square" lIns="0" tIns="0" rIns="0" bIns="0">
            <a:spAutoFit/>
          </a:bodyPr>
          <a:lstStyle/>
          <a:p>
            <a:pPr algn="r"/>
            <a:r>
              <a:rPr sz="1000" b="0" i="0">
                <a:solidFill>
                  <a:srgbClr val="6B7280"/>
                </a:solidFill>
                <a:latin typeface="Montserrat"/>
              </a:rPr>
              <a:t>Actividad 1.3 — Lanzamiento, branding y compliance</a:t>
            </a:r>
          </a:p>
        </p:txBody>
      </p:sp>
      <p:sp>
        <p:nvSpPr>
          <p:cNvPr id="7" name="TextBox 6"/>
          <p:cNvSpPr txBox="1"/>
          <p:nvPr/>
        </p:nvSpPr>
        <p:spPr>
          <a:xfrm>
            <a:off x="548640" y="594360"/>
            <a:ext cx="1828800" cy="274320"/>
          </a:xfrm>
          <a:prstGeom prst="rect">
            <a:avLst/>
          </a:prstGeom>
          <a:noFill/>
        </p:spPr>
        <p:txBody>
          <a:bodyPr wrap="square" lIns="0" tIns="0" rIns="0" bIns="0">
            <a:spAutoFit/>
          </a:bodyPr>
          <a:lstStyle/>
          <a:p>
            <a:pPr algn="l"/>
            <a:r>
              <a:rPr sz="1000" b="1" i="0">
                <a:solidFill>
                  <a:srgbClr val="16A34A"/>
                </a:solidFill>
                <a:latin typeface="Montserrat"/>
              </a:rPr>
              <a:t>1.3.1</a:t>
            </a:r>
          </a:p>
        </p:txBody>
      </p:sp>
      <p:sp>
        <p:nvSpPr>
          <p:cNvPr id="8" name="TextBox 7"/>
          <p:cNvSpPr txBox="1"/>
          <p:nvPr/>
        </p:nvSpPr>
        <p:spPr>
          <a:xfrm>
            <a:off x="548640" y="841248"/>
            <a:ext cx="10972800" cy="502920"/>
          </a:xfrm>
          <a:prstGeom prst="rect">
            <a:avLst/>
          </a:prstGeom>
          <a:noFill/>
        </p:spPr>
        <p:txBody>
          <a:bodyPr wrap="square" lIns="0" tIns="0" rIns="0" bIns="0">
            <a:spAutoFit/>
          </a:bodyPr>
          <a:lstStyle/>
          <a:p>
            <a:pPr algn="l"/>
            <a:r>
              <a:rPr sz="2200" b="1" i="0">
                <a:solidFill>
                  <a:srgbClr val="0F172A"/>
                </a:solidFill>
                <a:latin typeface="Montserrat"/>
              </a:rPr>
              <a:t>Fixes pre-lanzamiento — CSP y bug del editor</a:t>
            </a:r>
          </a:p>
        </p:txBody>
      </p:sp>
      <p:sp>
        <p:nvSpPr>
          <p:cNvPr id="9" name="TextBox 8"/>
          <p:cNvSpPr txBox="1"/>
          <p:nvPr/>
        </p:nvSpPr>
        <p:spPr>
          <a:xfrm>
            <a:off x="548640" y="1417320"/>
            <a:ext cx="10972800" cy="365760"/>
          </a:xfrm>
          <a:prstGeom prst="rect">
            <a:avLst/>
          </a:prstGeom>
          <a:noFill/>
        </p:spPr>
        <p:txBody>
          <a:bodyPr wrap="square" lIns="0" tIns="0" rIns="0" bIns="0">
            <a:spAutoFit/>
          </a:bodyPr>
          <a:lstStyle/>
          <a:p>
            <a:pPr algn="l"/>
            <a:r>
              <a:rPr sz="1200" b="0" i="1" dirty="0" err="1">
                <a:solidFill>
                  <a:srgbClr val="6B7280"/>
                </a:solidFill>
                <a:latin typeface="Montserrat"/>
              </a:rPr>
              <a:t>Correcciones</a:t>
            </a:r>
            <a:r>
              <a:rPr sz="1200" b="0" i="1" dirty="0">
                <a:solidFill>
                  <a:srgbClr val="6B7280"/>
                </a:solidFill>
                <a:latin typeface="Montserrat"/>
              </a:rPr>
              <a:t> </a:t>
            </a:r>
            <a:r>
              <a:rPr sz="1200" b="0" i="1" dirty="0" err="1">
                <a:solidFill>
                  <a:srgbClr val="6B7280"/>
                </a:solidFill>
                <a:latin typeface="Montserrat"/>
              </a:rPr>
              <a:t>críticas</a:t>
            </a:r>
            <a:r>
              <a:rPr sz="1200" b="0" i="1" dirty="0">
                <a:solidFill>
                  <a:srgbClr val="6B7280"/>
                </a:solidFill>
                <a:latin typeface="Montserrat"/>
              </a:rPr>
              <a:t> </a:t>
            </a:r>
            <a:r>
              <a:rPr sz="1200" b="0" i="1" dirty="0" err="1">
                <a:solidFill>
                  <a:srgbClr val="6B7280"/>
                </a:solidFill>
                <a:latin typeface="Montserrat"/>
              </a:rPr>
              <a:t>justo</a:t>
            </a:r>
            <a:r>
              <a:rPr sz="1200" b="0" i="1" dirty="0">
                <a:solidFill>
                  <a:srgbClr val="6B7280"/>
                </a:solidFill>
                <a:latin typeface="Montserrat"/>
              </a:rPr>
              <a:t> antes de </a:t>
            </a:r>
            <a:r>
              <a:rPr sz="1200" b="0" i="1" dirty="0" err="1">
                <a:solidFill>
                  <a:srgbClr val="6B7280"/>
                </a:solidFill>
                <a:latin typeface="Montserrat"/>
              </a:rPr>
              <a:t>migrar</a:t>
            </a:r>
            <a:r>
              <a:rPr sz="1200" b="0" i="1" dirty="0">
                <a:solidFill>
                  <a:srgbClr val="6B7280"/>
                </a:solidFill>
                <a:latin typeface="Montserrat"/>
              </a:rPr>
              <a:t> </a:t>
            </a:r>
            <a:r>
              <a:rPr sz="1200" b="0" i="1" dirty="0" err="1">
                <a:solidFill>
                  <a:srgbClr val="6B7280"/>
                </a:solidFill>
                <a:latin typeface="Montserrat"/>
              </a:rPr>
              <a:t>el</a:t>
            </a:r>
            <a:r>
              <a:rPr sz="1200" b="0" i="1" dirty="0">
                <a:solidFill>
                  <a:srgbClr val="6B7280"/>
                </a:solidFill>
                <a:latin typeface="Montserrat"/>
              </a:rPr>
              <a:t> </a:t>
            </a:r>
            <a:r>
              <a:rPr sz="1200" b="0" i="1" dirty="0" err="1">
                <a:solidFill>
                  <a:srgbClr val="6B7280"/>
                </a:solidFill>
                <a:latin typeface="Montserrat"/>
              </a:rPr>
              <a:t>dominio</a:t>
            </a:r>
            <a:r>
              <a:rPr sz="1200" b="0" i="1" dirty="0">
                <a:solidFill>
                  <a:srgbClr val="6B7280"/>
                </a:solidFill>
                <a:latin typeface="Montserrat"/>
              </a:rPr>
              <a:t>: </a:t>
            </a:r>
            <a:r>
              <a:rPr sz="1200" b="0" i="1" dirty="0" err="1">
                <a:solidFill>
                  <a:srgbClr val="6B7280"/>
                </a:solidFill>
                <a:latin typeface="Montserrat"/>
              </a:rPr>
              <a:t>imágenes</a:t>
            </a:r>
            <a:r>
              <a:rPr sz="1200" b="0" i="1" dirty="0">
                <a:solidFill>
                  <a:srgbClr val="6B7280"/>
                </a:solidFill>
                <a:latin typeface="Montserrat"/>
              </a:rPr>
              <a:t> </a:t>
            </a:r>
            <a:r>
              <a:rPr sz="1200" b="0" i="1" dirty="0" err="1">
                <a:solidFill>
                  <a:srgbClr val="6B7280"/>
                </a:solidFill>
                <a:latin typeface="Montserrat"/>
              </a:rPr>
              <a:t>en</a:t>
            </a:r>
            <a:r>
              <a:rPr sz="1200" b="0" i="1" dirty="0">
                <a:solidFill>
                  <a:srgbClr val="6B7280"/>
                </a:solidFill>
                <a:latin typeface="Montserrat"/>
              </a:rPr>
              <a:t> </a:t>
            </a:r>
            <a:r>
              <a:rPr sz="1200" b="0" i="1" dirty="0" err="1">
                <a:solidFill>
                  <a:srgbClr val="6B7280"/>
                </a:solidFill>
                <a:latin typeface="Montserrat"/>
              </a:rPr>
              <a:t>producción</a:t>
            </a:r>
            <a:r>
              <a:rPr sz="1200" b="0" i="1" dirty="0">
                <a:solidFill>
                  <a:srgbClr val="6B7280"/>
                </a:solidFill>
                <a:latin typeface="Montserrat"/>
              </a:rPr>
              <a:t> y refresh del preview.</a:t>
            </a:r>
          </a:p>
        </p:txBody>
      </p:sp>
      <p:sp>
        <p:nvSpPr>
          <p:cNvPr id="11" name="TextBox 10"/>
          <p:cNvSpPr txBox="1"/>
          <p:nvPr/>
        </p:nvSpPr>
        <p:spPr>
          <a:xfrm>
            <a:off x="548640" y="2057400"/>
            <a:ext cx="5303520" cy="274320"/>
          </a:xfrm>
          <a:prstGeom prst="rect">
            <a:avLst/>
          </a:prstGeom>
          <a:noFill/>
        </p:spPr>
        <p:txBody>
          <a:bodyPr wrap="square" lIns="0" tIns="0" rIns="0" bIns="0">
            <a:spAutoFit/>
          </a:bodyPr>
          <a:lstStyle/>
          <a:p>
            <a:pPr algn="l"/>
            <a:r>
              <a:rPr sz="1000" b="1" i="0">
                <a:solidFill>
                  <a:srgbClr val="16A34A"/>
                </a:solidFill>
                <a:latin typeface="Montserrat"/>
              </a:rPr>
              <a:t>QUÉ SE HIZO</a:t>
            </a:r>
          </a:p>
        </p:txBody>
      </p:sp>
      <p:sp>
        <p:nvSpPr>
          <p:cNvPr id="12" name="TextBox 11"/>
          <p:cNvSpPr txBox="1"/>
          <p:nvPr/>
        </p:nvSpPr>
        <p:spPr>
          <a:xfrm>
            <a:off x="548640" y="2423160"/>
            <a:ext cx="5303520" cy="2011680"/>
          </a:xfrm>
          <a:prstGeom prst="rect">
            <a:avLst/>
          </a:prstGeom>
          <a:noFill/>
        </p:spPr>
        <p:txBody>
          <a:bodyPr wrap="square" lIns="0" tIns="0" rIns="0" bIns="0">
            <a:spAutoFit/>
          </a:bodyPr>
          <a:lstStyle/>
          <a:p>
            <a:pPr algn="l"/>
            <a:r>
              <a:rPr sz="1200" b="0" i="0">
                <a:solidFill>
                  <a:srgbClr val="2D3748"/>
                </a:solidFill>
                <a:latin typeface="Montserrat"/>
              </a:rPr>
              <a:t>Corrección de la Content Security Policy para permitir el bucket de imágenes en producción. Sin este fix las fotos del editor no cargaban porque el navegador bloqueaba el origen no whitelistado.</a:t>
            </a:r>
          </a:p>
          <a:p>
            <a:pPr algn="l">
              <a:spcBef>
                <a:spcPts val="600"/>
              </a:spcBef>
              <a:spcAft>
                <a:spcPts val="0"/>
              </a:spcAft>
            </a:pPr>
            <a:r>
              <a:rPr sz="1200" b="0" i="0">
                <a:solidFill>
                  <a:srgbClr val="2D3748"/>
                </a:solidFill>
                <a:latin typeface="Montserrat"/>
              </a:rPr>
              <a:t>Decisión de hardcodear los hosts de imágenes en next.config.ts en lugar de derivarlos de variables de entorno, porque las variables no están disponibles en build-time, solo en runtime.</a:t>
            </a:r>
          </a:p>
          <a:p>
            <a:pPr algn="l">
              <a:spcBef>
                <a:spcPts val="600"/>
              </a:spcBef>
              <a:spcAft>
                <a:spcPts val="0"/>
              </a:spcAft>
            </a:pPr>
            <a:r>
              <a:rPr sz="1200" b="0" i="0">
                <a:solidFill>
                  <a:srgbClr val="2D3748"/>
                </a:solidFill>
                <a:latin typeface="Montserrat"/>
              </a:rPr>
              <a:t>Fix de dos bugs en el preview del editor: el preview a la derecha no se refrescaba después del autoguardado. Simplificación del headline de la página principal a 'Crea tu invitación digital'.</a:t>
            </a:r>
          </a:p>
        </p:txBody>
      </p:sp>
      <p:sp>
        <p:nvSpPr>
          <p:cNvPr id="13" name="Rounded Rectangle 12"/>
          <p:cNvSpPr/>
          <p:nvPr/>
        </p:nvSpPr>
        <p:spPr>
          <a:xfrm>
            <a:off x="548640" y="4262972"/>
            <a:ext cx="5303520" cy="2240280"/>
          </a:xfrm>
          <a:prstGeom prst="roundRect">
            <a:avLst>
              <a:gd name="adj" fmla="val 4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389612"/>
            <a:ext cx="4937760" cy="138499"/>
          </a:xfrm>
          <a:prstGeom prst="rect">
            <a:avLst/>
          </a:prstGeom>
          <a:noFill/>
        </p:spPr>
        <p:txBody>
          <a:bodyPr wrap="square" lIns="0" tIns="0" rIns="0" bIns="0">
            <a:spAutoFit/>
          </a:bodyPr>
          <a:lstStyle/>
          <a:p>
            <a:pPr algn="l"/>
            <a:r>
              <a:rPr sz="900" b="1" i="0" dirty="0">
                <a:solidFill>
                  <a:srgbClr val="16A34A"/>
                </a:solidFill>
                <a:latin typeface="Montserrat"/>
              </a:rPr>
              <a:t>DECISIONES TÉCNICAS</a:t>
            </a:r>
          </a:p>
        </p:txBody>
      </p:sp>
      <p:sp>
        <p:nvSpPr>
          <p:cNvPr id="15" name="TextBox 14"/>
          <p:cNvSpPr txBox="1"/>
          <p:nvPr/>
        </p:nvSpPr>
        <p:spPr>
          <a:xfrm>
            <a:off x="731520" y="4709651"/>
            <a:ext cx="4937760" cy="1691640"/>
          </a:xfrm>
          <a:prstGeom prst="rect">
            <a:avLst/>
          </a:prstGeom>
          <a:noFill/>
        </p:spPr>
        <p:txBody>
          <a:bodyPr wrap="square">
            <a:spAutoFit/>
          </a:bodyPr>
          <a:lstStyle/>
          <a:p>
            <a:pPr algn="l"/>
            <a:r>
              <a:rPr sz="1100" b="1">
                <a:solidFill>
                  <a:srgbClr val="16A34A"/>
                </a:solidFill>
                <a:latin typeface="Montserrat"/>
              </a:rPr>
              <a:t>•  </a:t>
            </a:r>
            <a:r>
              <a:rPr sz="1100">
                <a:solidFill>
                  <a:srgbClr val="2D3748"/>
                </a:solidFill>
                <a:latin typeface="Montserrat"/>
              </a:rPr>
              <a:t>Hardcodear hosts en lugar de leer env: la configuración necesita estar disponible en build, no solo runtime.</a:t>
            </a:r>
          </a:p>
          <a:p>
            <a:pPr algn="l">
              <a:spcBef>
                <a:spcPts val="800"/>
              </a:spcBef>
            </a:pPr>
            <a:r>
              <a:rPr sz="1100" b="1">
                <a:solidFill>
                  <a:srgbClr val="16A34A"/>
                </a:solidFill>
                <a:latin typeface="Montserrat"/>
              </a:rPr>
              <a:t>•  </a:t>
            </a:r>
            <a:r>
              <a:rPr sz="1100">
                <a:solidFill>
                  <a:srgbClr val="2D3748"/>
                </a:solidFill>
                <a:latin typeface="Montserrat"/>
              </a:rPr>
              <a:t>CSP estricta para /panel y /superadmin, más permisiva en rutas públicas.</a:t>
            </a:r>
          </a:p>
          <a:p>
            <a:pPr algn="l">
              <a:spcBef>
                <a:spcPts val="800"/>
              </a:spcBef>
            </a:pPr>
            <a:r>
              <a:rPr sz="1100" b="1">
                <a:solidFill>
                  <a:srgbClr val="16A34A"/>
                </a:solidFill>
                <a:latin typeface="Montserrat"/>
              </a:rPr>
              <a:t>•  </a:t>
            </a:r>
            <a:r>
              <a:rPr sz="1100">
                <a:solidFill>
                  <a:srgbClr val="2D3748"/>
                </a:solidFill>
                <a:latin typeface="Montserrat"/>
              </a:rPr>
              <a:t>Bug del preview: causa raíz era una dependencia faltante en el useEffect de hidratación.</a:t>
            </a:r>
          </a:p>
        </p:txBody>
      </p:sp>
      <p:sp>
        <p:nvSpPr>
          <p:cNvPr id="16" name="TextBox 15"/>
          <p:cNvSpPr txBox="1"/>
          <p:nvPr/>
        </p:nvSpPr>
        <p:spPr>
          <a:xfrm>
            <a:off x="6126480" y="2057400"/>
            <a:ext cx="5486400" cy="153888"/>
          </a:xfrm>
          <a:prstGeom prst="rect">
            <a:avLst/>
          </a:prstGeom>
          <a:noFill/>
        </p:spPr>
        <p:txBody>
          <a:bodyPr wrap="square" lIns="0" tIns="0" rIns="0" bIns="0">
            <a:spAutoFit/>
          </a:bodyPr>
          <a:lstStyle/>
          <a:p>
            <a:pPr algn="l"/>
            <a:r>
              <a:rPr sz="1000" b="1" i="0" dirty="0">
                <a:solidFill>
                  <a:srgbClr val="16A34A"/>
                </a:solidFill>
                <a:latin typeface="Montserrat"/>
              </a:rPr>
              <a:t>ARCHIVOS DEL CÓDIGO</a:t>
            </a:r>
          </a:p>
        </p:txBody>
      </p:sp>
      <p:graphicFrame>
        <p:nvGraphicFramePr>
          <p:cNvPr id="17" name="Table 16"/>
          <p:cNvGraphicFramePr>
            <a:graphicFrameLocks noGrp="1"/>
          </p:cNvGraphicFramePr>
          <p:nvPr/>
        </p:nvGraphicFramePr>
        <p:xfrm>
          <a:off x="6126480" y="2423160"/>
          <a:ext cx="5486400" cy="1339088"/>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10896">
                <a:tc>
                  <a:txBody>
                    <a:bodyPr/>
                    <a:lstStyle/>
                    <a:p>
                      <a:pPr algn="l"/>
                      <a:r>
                        <a:rPr sz="1000" b="1" i="0">
                          <a:solidFill>
                            <a:srgbClr val="FFFFFF"/>
                          </a:solidFill>
                          <a:latin typeface="Montserrat"/>
                        </a:rPr>
                        <a:t>Archivo</a:t>
                      </a:r>
                    </a:p>
                  </a:txBody>
                  <a:tcPr marL="101600" marR="101600" marT="50800" marB="50800">
                    <a:solidFill>
                      <a:srgbClr val="0F172A"/>
                    </a:solidFill>
                  </a:tcPr>
                </a:tc>
                <a:tc>
                  <a:txBody>
                    <a:bodyPr/>
                    <a:lstStyle/>
                    <a:p>
                      <a:pPr algn="l"/>
                      <a:r>
                        <a:rPr sz="1000" b="1" i="0">
                          <a:solidFill>
                            <a:srgbClr val="FFFFFF"/>
                          </a:solidFill>
                          <a:latin typeface="Montserrat"/>
                        </a:rPr>
                        <a:t>Función</a:t>
                      </a:r>
                    </a:p>
                  </a:txBody>
                  <a:tcPr marL="101600" marR="101600" marT="50800" marB="50800">
                    <a:solidFill>
                      <a:srgbClr val="0F172A"/>
                    </a:solidFill>
                  </a:tcPr>
                </a:tc>
                <a:extLst>
                  <a:ext uri="{0D108BD9-81ED-4DB2-BD59-A6C34878D82A}">
                    <a16:rowId xmlns:a16="http://schemas.microsoft.com/office/drawing/2014/main" val="10000"/>
                  </a:ext>
                </a:extLst>
              </a:tr>
              <a:tr h="310896">
                <a:tc>
                  <a:txBody>
                    <a:bodyPr/>
                    <a:lstStyle/>
                    <a:p>
                      <a:pPr algn="l"/>
                      <a:r>
                        <a:rPr sz="900" b="0" i="0">
                          <a:solidFill>
                            <a:srgbClr val="0F172A"/>
                          </a:solidFill>
                          <a:latin typeface="Consolas"/>
                        </a:rPr>
                        <a:t>next.config.ts</a:t>
                      </a:r>
                    </a:p>
                  </a:txBody>
                  <a:tcPr marL="101600" marR="101600" marT="50800" marB="50800">
                    <a:solidFill>
                      <a:srgbClr val="FFFFFF"/>
                    </a:solidFill>
                  </a:tcPr>
                </a:tc>
                <a:tc>
                  <a:txBody>
                    <a:bodyPr/>
                    <a:lstStyle/>
                    <a:p>
                      <a:pPr algn="l"/>
                      <a:r>
                        <a:rPr sz="1000" b="0" i="0">
                          <a:solidFill>
                            <a:srgbClr val="2D3748"/>
                          </a:solidFill>
                          <a:latin typeface="Montserrat"/>
                        </a:rPr>
                        <a:t>CSP con hosts de imágenes hardcodeados</a:t>
                      </a:r>
                    </a:p>
                  </a:txBody>
                  <a:tcPr marL="101600" marR="101600" marT="50800" marB="50800">
                    <a:solidFill>
                      <a:srgbClr val="FFFFFF"/>
                    </a:solidFill>
                  </a:tcPr>
                </a:tc>
                <a:extLst>
                  <a:ext uri="{0D108BD9-81ED-4DB2-BD59-A6C34878D82A}">
                    <a16:rowId xmlns:a16="http://schemas.microsoft.com/office/drawing/2014/main" val="10001"/>
                  </a:ext>
                </a:extLst>
              </a:tr>
              <a:tr h="310896">
                <a:tc>
                  <a:txBody>
                    <a:bodyPr/>
                    <a:lstStyle/>
                    <a:p>
                      <a:pPr algn="l"/>
                      <a:r>
                        <a:rPr sz="900" b="0" i="0">
                          <a:solidFill>
                            <a:srgbClr val="0F172A"/>
                          </a:solidFill>
                          <a:latin typeface="Consolas"/>
                        </a:rPr>
                        <a:t>components/editor/PublicEditor.tsx</a:t>
                      </a:r>
                    </a:p>
                  </a:txBody>
                  <a:tcPr marL="101600" marR="101600" marT="50800" marB="50800">
                    <a:solidFill>
                      <a:srgbClr val="F3F4F6"/>
                    </a:solidFill>
                  </a:tcPr>
                </a:tc>
                <a:tc>
                  <a:txBody>
                    <a:bodyPr/>
                    <a:lstStyle/>
                    <a:p>
                      <a:pPr algn="l"/>
                      <a:r>
                        <a:rPr sz="1000" b="0" i="0">
                          <a:solidFill>
                            <a:srgbClr val="2D3748"/>
                          </a:solidFill>
                          <a:latin typeface="Montserrat"/>
                        </a:rPr>
                        <a:t>Fix del refresh del preview tras autoguardado</a:t>
                      </a:r>
                    </a:p>
                  </a:txBody>
                  <a:tcPr marL="101600" marR="101600" marT="50800" marB="50800">
                    <a:solidFill>
                      <a:srgbClr val="F3F4F6"/>
                    </a:solidFill>
                  </a:tcPr>
                </a:tc>
                <a:extLst>
                  <a:ext uri="{0D108BD9-81ED-4DB2-BD59-A6C34878D82A}">
                    <a16:rowId xmlns:a16="http://schemas.microsoft.com/office/drawing/2014/main" val="10002"/>
                  </a:ext>
                </a:extLst>
              </a:tr>
              <a:tr h="310896">
                <a:tc>
                  <a:txBody>
                    <a:bodyPr/>
                    <a:lstStyle/>
                    <a:p>
                      <a:pPr algn="l"/>
                      <a:r>
                        <a:rPr sz="900" b="0" i="0">
                          <a:solidFill>
                            <a:srgbClr val="0F172A"/>
                          </a:solidFill>
                          <a:latin typeface="Consolas"/>
                        </a:rPr>
                        <a:t>components/sections/Hero.tsx</a:t>
                      </a:r>
                    </a:p>
                  </a:txBody>
                  <a:tcPr marL="101600" marR="101600" marT="50800" marB="50800">
                    <a:solidFill>
                      <a:srgbClr val="FFFFFF"/>
                    </a:solidFill>
                  </a:tcPr>
                </a:tc>
                <a:tc>
                  <a:txBody>
                    <a:bodyPr/>
                    <a:lstStyle/>
                    <a:p>
                      <a:pPr algn="l"/>
                      <a:r>
                        <a:rPr sz="1000" b="0" i="0">
                          <a:solidFill>
                            <a:srgbClr val="2D3748"/>
                          </a:solidFill>
                          <a:latin typeface="Montserrat"/>
                        </a:rPr>
                        <a:t>Nuevo headline 'Crea tu invitación digital'</a:t>
                      </a:r>
                    </a:p>
                  </a:txBody>
                  <a:tcPr marL="101600" marR="101600" marT="50800" marB="50800">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01168"/>
            <a:ext cx="1828800" cy="320040"/>
          </a:xfrm>
          <a:prstGeom prst="rect">
            <a:avLst/>
          </a:prstGeom>
          <a:noFill/>
        </p:spPr>
        <p:txBody>
          <a:bodyPr wrap="square" lIns="0" tIns="0" rIns="0" bIns="0">
            <a:spAutoFit/>
          </a:bodyPr>
          <a:lstStyle/>
          <a:p>
            <a:pPr algn="l"/>
            <a:r>
              <a:rPr sz="1100" b="1" i="0">
                <a:solidFill>
                  <a:srgbClr val="0F172A"/>
                </a:solidFill>
                <a:latin typeface="Montserrat"/>
              </a:rPr>
              <a:t>JOINFY</a:t>
            </a:r>
          </a:p>
        </p:txBody>
      </p:sp>
      <p:sp>
        <p:nvSpPr>
          <p:cNvPr id="5" name="TextBox 4"/>
          <p:cNvSpPr txBox="1"/>
          <p:nvPr/>
        </p:nvSpPr>
        <p:spPr>
          <a:xfrm>
            <a:off x="5242255" y="201168"/>
            <a:ext cx="6400800" cy="320040"/>
          </a:xfrm>
          <a:prstGeom prst="rect">
            <a:avLst/>
          </a:prstGeom>
          <a:noFill/>
        </p:spPr>
        <p:txBody>
          <a:bodyPr wrap="square" lIns="0" tIns="0" rIns="0" bIns="0">
            <a:spAutoFit/>
          </a:bodyPr>
          <a:lstStyle/>
          <a:p>
            <a:pPr algn="r"/>
            <a:r>
              <a:rPr sz="1000" b="0" i="0">
                <a:solidFill>
                  <a:srgbClr val="6B7280"/>
                </a:solidFill>
                <a:latin typeface="Montserrat"/>
              </a:rPr>
              <a:t>Actividad 1.3 — Lanzamiento, branding y compliance</a:t>
            </a:r>
          </a:p>
        </p:txBody>
      </p:sp>
      <p:sp>
        <p:nvSpPr>
          <p:cNvPr id="7" name="TextBox 6"/>
          <p:cNvSpPr txBox="1"/>
          <p:nvPr/>
        </p:nvSpPr>
        <p:spPr>
          <a:xfrm>
            <a:off x="548640" y="594360"/>
            <a:ext cx="1828800" cy="274320"/>
          </a:xfrm>
          <a:prstGeom prst="rect">
            <a:avLst/>
          </a:prstGeom>
          <a:noFill/>
        </p:spPr>
        <p:txBody>
          <a:bodyPr wrap="square" lIns="0" tIns="0" rIns="0" bIns="0">
            <a:spAutoFit/>
          </a:bodyPr>
          <a:lstStyle/>
          <a:p>
            <a:pPr algn="l"/>
            <a:r>
              <a:rPr sz="1000" b="1" i="0">
                <a:solidFill>
                  <a:srgbClr val="16A34A"/>
                </a:solidFill>
                <a:latin typeface="Montserrat"/>
              </a:rPr>
              <a:t>1.3.2</a:t>
            </a:r>
          </a:p>
        </p:txBody>
      </p:sp>
      <p:sp>
        <p:nvSpPr>
          <p:cNvPr id="8" name="TextBox 7"/>
          <p:cNvSpPr txBox="1"/>
          <p:nvPr/>
        </p:nvSpPr>
        <p:spPr>
          <a:xfrm>
            <a:off x="548640" y="841248"/>
            <a:ext cx="10972800" cy="502920"/>
          </a:xfrm>
          <a:prstGeom prst="rect">
            <a:avLst/>
          </a:prstGeom>
          <a:noFill/>
        </p:spPr>
        <p:txBody>
          <a:bodyPr wrap="square" lIns="0" tIns="0" rIns="0" bIns="0">
            <a:spAutoFit/>
          </a:bodyPr>
          <a:lstStyle/>
          <a:p>
            <a:pPr algn="l"/>
            <a:r>
              <a:rPr sz="2200" b="1" i="0">
                <a:solidFill>
                  <a:srgbClr val="0F172A"/>
                </a:solidFill>
                <a:latin typeface="Montserrat"/>
              </a:rPr>
              <a:t>Migración a joinfy.mx + plan Free + Cloudflare</a:t>
            </a:r>
          </a:p>
        </p:txBody>
      </p:sp>
      <p:sp>
        <p:nvSpPr>
          <p:cNvPr id="9" name="TextBox 8"/>
          <p:cNvSpPr txBox="1"/>
          <p:nvPr/>
        </p:nvSpPr>
        <p:spPr>
          <a:xfrm>
            <a:off x="548640" y="1417320"/>
            <a:ext cx="10972800" cy="365760"/>
          </a:xfrm>
          <a:prstGeom prst="rect">
            <a:avLst/>
          </a:prstGeom>
          <a:noFill/>
        </p:spPr>
        <p:txBody>
          <a:bodyPr wrap="square" lIns="0" tIns="0" rIns="0" bIns="0">
            <a:spAutoFit/>
          </a:bodyPr>
          <a:lstStyle/>
          <a:p>
            <a:pPr algn="l"/>
            <a:r>
              <a:rPr sz="1200" b="0" i="1">
                <a:solidFill>
                  <a:srgbClr val="6B7280"/>
                </a:solidFill>
                <a:latin typeface="Montserrat"/>
              </a:rPr>
              <a:t>Cambio de dominio comercial detrás de Cloudflare. Plan Free como canal de adquisición orgánica.</a:t>
            </a:r>
          </a:p>
        </p:txBody>
      </p:sp>
      <p:sp>
        <p:nvSpPr>
          <p:cNvPr id="11" name="TextBox 10"/>
          <p:cNvSpPr txBox="1"/>
          <p:nvPr/>
        </p:nvSpPr>
        <p:spPr>
          <a:xfrm>
            <a:off x="548640" y="2057400"/>
            <a:ext cx="5303520" cy="274320"/>
          </a:xfrm>
          <a:prstGeom prst="rect">
            <a:avLst/>
          </a:prstGeom>
          <a:noFill/>
        </p:spPr>
        <p:txBody>
          <a:bodyPr wrap="square" lIns="0" tIns="0" rIns="0" bIns="0">
            <a:spAutoFit/>
          </a:bodyPr>
          <a:lstStyle/>
          <a:p>
            <a:pPr algn="l"/>
            <a:r>
              <a:rPr sz="1000" b="1" i="0">
                <a:solidFill>
                  <a:srgbClr val="16A34A"/>
                </a:solidFill>
                <a:latin typeface="Montserrat"/>
              </a:rPr>
              <a:t>QUÉ SE HIZO</a:t>
            </a:r>
          </a:p>
        </p:txBody>
      </p:sp>
      <p:sp>
        <p:nvSpPr>
          <p:cNvPr id="12" name="TextBox 11"/>
          <p:cNvSpPr txBox="1"/>
          <p:nvPr/>
        </p:nvSpPr>
        <p:spPr>
          <a:xfrm>
            <a:off x="548640" y="2423160"/>
            <a:ext cx="5303520" cy="2011680"/>
          </a:xfrm>
          <a:prstGeom prst="rect">
            <a:avLst/>
          </a:prstGeom>
          <a:noFill/>
        </p:spPr>
        <p:txBody>
          <a:bodyPr wrap="square" lIns="0" tIns="0" rIns="0" bIns="0">
            <a:spAutoFit/>
          </a:bodyPr>
          <a:lstStyle/>
          <a:p>
            <a:pPr algn="l"/>
            <a:r>
              <a:rPr sz="1200" b="0" i="0">
                <a:solidFill>
                  <a:srgbClr val="2D3748"/>
                </a:solidFill>
                <a:latin typeface="Montserrat"/>
              </a:rPr>
              <a:t>Migración completa del proyecto al dominio comercial joinfy.mx detrás de Cloudflare (DNS + CDN). Las invitaciones publicadas viven en subdominios slug.joinfy.mx y el panel en app.joinfy.mx.</a:t>
            </a:r>
          </a:p>
          <a:p>
            <a:pPr algn="l">
              <a:spcBef>
                <a:spcPts val="600"/>
              </a:spcBef>
              <a:spcAft>
                <a:spcPts val="0"/>
              </a:spcAft>
            </a:pPr>
            <a:r>
              <a:rPr sz="1200" b="0" i="0">
                <a:solidFill>
                  <a:srgbClr val="2D3748"/>
                </a:solidFill>
                <a:latin typeface="Montserrat"/>
              </a:rPr>
              <a:t>Introducción de un nuevo plan Free como invitación pasiva: solo información del evento, sin botón de confirmación de asistencia ni lista de invitados. Funciona como canal de adquisición orgánica porque cada invitación gratis lleva una marca de agua que linkea a joinfy.mx.</a:t>
            </a:r>
          </a:p>
          <a:p>
            <a:pPr algn="l">
              <a:spcBef>
                <a:spcPts val="600"/>
              </a:spcBef>
              <a:spcAft>
                <a:spcPts val="0"/>
              </a:spcAft>
            </a:pPr>
            <a:r>
              <a:rPr sz="1200" b="0" i="0">
                <a:solidFill>
                  <a:srgbClr val="2D3748"/>
                </a:solidFill>
                <a:latin typeface="Montserrat"/>
              </a:rPr>
              <a:t>Refinamientos posteriores: Free como invitación pasiva pura sin tope de invitados, y topes de fotos por plan (Free=5, Lite=15, Esencial=25, Pro=ilimitado).</a:t>
            </a:r>
          </a:p>
        </p:txBody>
      </p:sp>
      <p:sp>
        <p:nvSpPr>
          <p:cNvPr id="13" name="Rounded Rectangle 12"/>
          <p:cNvSpPr/>
          <p:nvPr/>
        </p:nvSpPr>
        <p:spPr>
          <a:xfrm>
            <a:off x="548640" y="4663440"/>
            <a:ext cx="5303520" cy="1993392"/>
          </a:xfrm>
          <a:prstGeom prst="roundRect">
            <a:avLst>
              <a:gd name="adj" fmla="val 4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00600"/>
            <a:ext cx="4937760" cy="138499"/>
          </a:xfrm>
          <a:prstGeom prst="rect">
            <a:avLst/>
          </a:prstGeom>
          <a:noFill/>
        </p:spPr>
        <p:txBody>
          <a:bodyPr wrap="square" lIns="0" tIns="0" rIns="0" bIns="0">
            <a:spAutoFit/>
          </a:bodyPr>
          <a:lstStyle/>
          <a:p>
            <a:pPr algn="l"/>
            <a:r>
              <a:rPr sz="900" b="1" i="0" dirty="0">
                <a:solidFill>
                  <a:srgbClr val="16A34A"/>
                </a:solidFill>
                <a:latin typeface="Montserrat"/>
              </a:rPr>
              <a:t>DECISIONES NOTABLES</a:t>
            </a:r>
          </a:p>
        </p:txBody>
      </p:sp>
      <p:sp>
        <p:nvSpPr>
          <p:cNvPr id="15" name="TextBox 14"/>
          <p:cNvSpPr txBox="1"/>
          <p:nvPr/>
        </p:nvSpPr>
        <p:spPr>
          <a:xfrm>
            <a:off x="731520" y="5095519"/>
            <a:ext cx="4937760" cy="1691640"/>
          </a:xfrm>
          <a:prstGeom prst="rect">
            <a:avLst/>
          </a:prstGeom>
          <a:noFill/>
        </p:spPr>
        <p:txBody>
          <a:bodyPr wrap="square">
            <a:spAutoFit/>
          </a:bodyPr>
          <a:lstStyle/>
          <a:p>
            <a:pPr algn="l"/>
            <a:r>
              <a:rPr sz="1100" b="1" dirty="0">
                <a:solidFill>
                  <a:srgbClr val="16A34A"/>
                </a:solidFill>
                <a:latin typeface="Montserrat"/>
              </a:rPr>
              <a:t>•  </a:t>
            </a:r>
            <a:r>
              <a:rPr sz="1100" dirty="0">
                <a:solidFill>
                  <a:srgbClr val="2D3748"/>
                </a:solidFill>
                <a:latin typeface="Montserrat"/>
              </a:rPr>
              <a:t>Free </a:t>
            </a:r>
            <a:r>
              <a:rPr sz="1100" dirty="0" err="1">
                <a:solidFill>
                  <a:srgbClr val="2D3748"/>
                </a:solidFill>
                <a:latin typeface="Montserrat"/>
              </a:rPr>
              <a:t>como</a:t>
            </a:r>
            <a:r>
              <a:rPr sz="1100" dirty="0">
                <a:solidFill>
                  <a:srgbClr val="2D3748"/>
                </a:solidFill>
                <a:latin typeface="Montserrat"/>
              </a:rPr>
              <a:t> canal de </a:t>
            </a:r>
            <a:r>
              <a:rPr sz="1100" dirty="0" err="1">
                <a:solidFill>
                  <a:srgbClr val="2D3748"/>
                </a:solidFill>
                <a:latin typeface="Montserrat"/>
              </a:rPr>
              <a:t>adquisición</a:t>
            </a:r>
            <a:r>
              <a:rPr sz="1100" dirty="0">
                <a:solidFill>
                  <a:srgbClr val="2D3748"/>
                </a:solidFill>
                <a:latin typeface="Montserrat"/>
              </a:rPr>
              <a:t>: la </a:t>
            </a:r>
            <a:r>
              <a:rPr sz="1100" dirty="0" err="1">
                <a:solidFill>
                  <a:srgbClr val="2D3748"/>
                </a:solidFill>
                <a:latin typeface="Montserrat"/>
              </a:rPr>
              <a:t>marca</a:t>
            </a:r>
            <a:r>
              <a:rPr sz="1100" dirty="0">
                <a:solidFill>
                  <a:srgbClr val="2D3748"/>
                </a:solidFill>
                <a:latin typeface="Montserrat"/>
              </a:rPr>
              <a:t> de </a:t>
            </a:r>
            <a:r>
              <a:rPr sz="1100" dirty="0" err="1">
                <a:solidFill>
                  <a:srgbClr val="2D3748"/>
                </a:solidFill>
                <a:latin typeface="Montserrat"/>
              </a:rPr>
              <a:t>agua</a:t>
            </a:r>
            <a:r>
              <a:rPr sz="1100" dirty="0">
                <a:solidFill>
                  <a:srgbClr val="2D3748"/>
                </a:solidFill>
                <a:latin typeface="Montserrat"/>
              </a:rPr>
              <a:t> </a:t>
            </a:r>
            <a:r>
              <a:rPr sz="1100" dirty="0" err="1">
                <a:solidFill>
                  <a:srgbClr val="2D3748"/>
                </a:solidFill>
                <a:latin typeface="Montserrat"/>
              </a:rPr>
              <a:t>linkea</a:t>
            </a:r>
            <a:r>
              <a:rPr sz="1100" dirty="0">
                <a:solidFill>
                  <a:srgbClr val="2D3748"/>
                </a:solidFill>
                <a:latin typeface="Montserrat"/>
              </a:rPr>
              <a:t> a joinfy.mx con UTM, </a:t>
            </a:r>
            <a:r>
              <a:rPr sz="1100" dirty="0" err="1">
                <a:solidFill>
                  <a:srgbClr val="2D3748"/>
                </a:solidFill>
                <a:latin typeface="Montserrat"/>
              </a:rPr>
              <a:t>cada</a:t>
            </a:r>
            <a:r>
              <a:rPr sz="1100" dirty="0">
                <a:solidFill>
                  <a:srgbClr val="2D3748"/>
                </a:solidFill>
                <a:latin typeface="Montserrat"/>
              </a:rPr>
              <a:t> </a:t>
            </a:r>
            <a:r>
              <a:rPr sz="1100" dirty="0" err="1">
                <a:solidFill>
                  <a:srgbClr val="2D3748"/>
                </a:solidFill>
                <a:latin typeface="Montserrat"/>
              </a:rPr>
              <a:t>invitación</a:t>
            </a:r>
            <a:r>
              <a:rPr sz="1100" dirty="0">
                <a:solidFill>
                  <a:srgbClr val="2D3748"/>
                </a:solidFill>
                <a:latin typeface="Montserrat"/>
              </a:rPr>
              <a:t> es </a:t>
            </a:r>
            <a:r>
              <a:rPr sz="1100" dirty="0" err="1">
                <a:solidFill>
                  <a:srgbClr val="2D3748"/>
                </a:solidFill>
                <a:latin typeface="Montserrat"/>
              </a:rPr>
              <a:t>publicidad</a:t>
            </a:r>
            <a:r>
              <a:rPr sz="1100" dirty="0">
                <a:solidFill>
                  <a:srgbClr val="2D3748"/>
                </a:solidFill>
                <a:latin typeface="Montserrat"/>
              </a:rPr>
              <a:t>.</a:t>
            </a:r>
          </a:p>
          <a:p>
            <a:pPr algn="l">
              <a:spcBef>
                <a:spcPts val="800"/>
              </a:spcBef>
            </a:pPr>
            <a:r>
              <a:rPr sz="1100" b="1" dirty="0">
                <a:solidFill>
                  <a:srgbClr val="16A34A"/>
                </a:solidFill>
                <a:latin typeface="Montserrat"/>
              </a:rPr>
              <a:t>•  </a:t>
            </a:r>
            <a:r>
              <a:rPr sz="1100" dirty="0">
                <a:solidFill>
                  <a:srgbClr val="2D3748"/>
                </a:solidFill>
                <a:latin typeface="Montserrat"/>
              </a:rPr>
              <a:t>Topes </a:t>
            </a:r>
            <a:r>
              <a:rPr sz="1100" dirty="0" err="1">
                <a:solidFill>
                  <a:srgbClr val="2D3748"/>
                </a:solidFill>
                <a:latin typeface="Montserrat"/>
              </a:rPr>
              <a:t>blandos</a:t>
            </a:r>
            <a:r>
              <a:rPr sz="1100" dirty="0">
                <a:solidFill>
                  <a:srgbClr val="2D3748"/>
                </a:solidFill>
                <a:latin typeface="Montserrat"/>
              </a:rPr>
              <a:t>: las </a:t>
            </a:r>
            <a:r>
              <a:rPr sz="1100" dirty="0" err="1">
                <a:solidFill>
                  <a:srgbClr val="2D3748"/>
                </a:solidFill>
                <a:latin typeface="Montserrat"/>
              </a:rPr>
              <a:t>fotos</a:t>
            </a:r>
            <a:r>
              <a:rPr sz="1100" dirty="0">
                <a:solidFill>
                  <a:srgbClr val="2D3748"/>
                </a:solidFill>
                <a:latin typeface="Montserrat"/>
              </a:rPr>
              <a:t> extra del </a:t>
            </a:r>
            <a:r>
              <a:rPr sz="1100" dirty="0" err="1">
                <a:solidFill>
                  <a:srgbClr val="2D3748"/>
                </a:solidFill>
                <a:latin typeface="Montserrat"/>
              </a:rPr>
              <a:t>cliente</a:t>
            </a:r>
            <a:r>
              <a:rPr sz="1100" dirty="0">
                <a:solidFill>
                  <a:srgbClr val="2D3748"/>
                </a:solidFill>
                <a:latin typeface="Montserrat"/>
              </a:rPr>
              <a:t> Free </a:t>
            </a:r>
            <a:r>
              <a:rPr sz="1100" dirty="0" err="1">
                <a:solidFill>
                  <a:srgbClr val="2D3748"/>
                </a:solidFill>
                <a:latin typeface="Montserrat"/>
              </a:rPr>
              <a:t>quedan</a:t>
            </a:r>
            <a:r>
              <a:rPr sz="1100" dirty="0">
                <a:solidFill>
                  <a:srgbClr val="2D3748"/>
                </a:solidFill>
                <a:latin typeface="Montserrat"/>
              </a:rPr>
              <a:t> </a:t>
            </a:r>
            <a:r>
              <a:rPr sz="1100" dirty="0" err="1">
                <a:solidFill>
                  <a:srgbClr val="2D3748"/>
                </a:solidFill>
                <a:latin typeface="Montserrat"/>
              </a:rPr>
              <a:t>en</a:t>
            </a:r>
            <a:r>
              <a:rPr sz="1100" dirty="0">
                <a:solidFill>
                  <a:srgbClr val="2D3748"/>
                </a:solidFill>
                <a:latin typeface="Montserrat"/>
              </a:rPr>
              <a:t> DB; </a:t>
            </a:r>
            <a:r>
              <a:rPr sz="1100" dirty="0" err="1">
                <a:solidFill>
                  <a:srgbClr val="2D3748"/>
                </a:solidFill>
                <a:latin typeface="Montserrat"/>
              </a:rPr>
              <a:t>reaparecen</a:t>
            </a:r>
            <a:r>
              <a:rPr sz="1100" dirty="0">
                <a:solidFill>
                  <a:srgbClr val="2D3748"/>
                </a:solidFill>
                <a:latin typeface="Montserrat"/>
              </a:rPr>
              <a:t> al </a:t>
            </a:r>
            <a:r>
              <a:rPr sz="1100" dirty="0" err="1">
                <a:solidFill>
                  <a:srgbClr val="2D3748"/>
                </a:solidFill>
                <a:latin typeface="Montserrat"/>
              </a:rPr>
              <a:t>hacer</a:t>
            </a:r>
            <a:r>
              <a:rPr sz="1100" dirty="0">
                <a:solidFill>
                  <a:srgbClr val="2D3748"/>
                </a:solidFill>
                <a:latin typeface="Montserrat"/>
              </a:rPr>
              <a:t> upgrade sin re-</a:t>
            </a:r>
            <a:r>
              <a:rPr sz="1100" dirty="0" err="1">
                <a:solidFill>
                  <a:srgbClr val="2D3748"/>
                </a:solidFill>
                <a:latin typeface="Montserrat"/>
              </a:rPr>
              <a:t>subir</a:t>
            </a:r>
            <a:r>
              <a:rPr sz="1100" dirty="0">
                <a:solidFill>
                  <a:srgbClr val="2D3748"/>
                </a:solidFill>
                <a:latin typeface="Montserrat"/>
              </a:rPr>
              <a:t>.</a:t>
            </a:r>
          </a:p>
          <a:p>
            <a:pPr algn="l">
              <a:spcBef>
                <a:spcPts val="800"/>
              </a:spcBef>
            </a:pPr>
            <a:r>
              <a:rPr sz="1100" b="1" dirty="0">
                <a:solidFill>
                  <a:srgbClr val="16A34A"/>
                </a:solidFill>
                <a:latin typeface="Montserrat"/>
              </a:rPr>
              <a:t>•  </a:t>
            </a:r>
            <a:r>
              <a:rPr sz="1100" dirty="0">
                <a:solidFill>
                  <a:srgbClr val="2D3748"/>
                </a:solidFill>
                <a:latin typeface="Montserrat"/>
              </a:rPr>
              <a:t>Cloudflare </a:t>
            </a:r>
            <a:r>
              <a:rPr sz="1100" dirty="0" err="1">
                <a:solidFill>
                  <a:srgbClr val="2D3748"/>
                </a:solidFill>
                <a:latin typeface="Montserrat"/>
              </a:rPr>
              <a:t>delante</a:t>
            </a:r>
            <a:r>
              <a:rPr sz="1100" dirty="0">
                <a:solidFill>
                  <a:srgbClr val="2D3748"/>
                </a:solidFill>
                <a:latin typeface="Montserrat"/>
              </a:rPr>
              <a:t> del VPS: DNS + CDN de assets + </a:t>
            </a:r>
            <a:r>
              <a:rPr sz="1100" dirty="0" err="1">
                <a:solidFill>
                  <a:srgbClr val="2D3748"/>
                </a:solidFill>
                <a:latin typeface="Montserrat"/>
              </a:rPr>
              <a:t>protección</a:t>
            </a:r>
            <a:r>
              <a:rPr sz="1100" dirty="0">
                <a:solidFill>
                  <a:srgbClr val="2D3748"/>
                </a:solidFill>
                <a:latin typeface="Montserrat"/>
              </a:rPr>
              <a:t> DDoS </a:t>
            </a:r>
            <a:r>
              <a:rPr sz="1100" dirty="0" err="1">
                <a:solidFill>
                  <a:srgbClr val="2D3748"/>
                </a:solidFill>
                <a:latin typeface="Montserrat"/>
              </a:rPr>
              <a:t>gratuita</a:t>
            </a:r>
            <a:r>
              <a:rPr sz="1100" dirty="0">
                <a:solidFill>
                  <a:srgbClr val="2D3748"/>
                </a:solidFill>
                <a:latin typeface="Montserrat"/>
              </a:rPr>
              <a:t>.</a:t>
            </a:r>
          </a:p>
        </p:txBody>
      </p:sp>
      <p:sp>
        <p:nvSpPr>
          <p:cNvPr id="16" name="TextBox 15"/>
          <p:cNvSpPr txBox="1"/>
          <p:nvPr/>
        </p:nvSpPr>
        <p:spPr>
          <a:xfrm>
            <a:off x="6126480" y="2057400"/>
            <a:ext cx="5486400" cy="153888"/>
          </a:xfrm>
          <a:prstGeom prst="rect">
            <a:avLst/>
          </a:prstGeom>
          <a:noFill/>
        </p:spPr>
        <p:txBody>
          <a:bodyPr wrap="square" lIns="0" tIns="0" rIns="0" bIns="0">
            <a:spAutoFit/>
          </a:bodyPr>
          <a:lstStyle/>
          <a:p>
            <a:pPr algn="l"/>
            <a:r>
              <a:rPr sz="1000" b="1" i="0" dirty="0">
                <a:solidFill>
                  <a:srgbClr val="16A34A"/>
                </a:solidFill>
                <a:latin typeface="Montserrat"/>
              </a:rPr>
              <a:t>ARCHIVOS DEL CÓDIGO</a:t>
            </a:r>
          </a:p>
        </p:txBody>
      </p:sp>
      <p:graphicFrame>
        <p:nvGraphicFramePr>
          <p:cNvPr id="17" name="Table 16"/>
          <p:cNvGraphicFramePr>
            <a:graphicFrameLocks noGrp="1"/>
          </p:cNvGraphicFramePr>
          <p:nvPr/>
        </p:nvGraphicFramePr>
        <p:xfrm>
          <a:off x="6126480" y="2423160"/>
          <a:ext cx="5486400" cy="259080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243840">
                <a:tc>
                  <a:txBody>
                    <a:bodyPr/>
                    <a:lstStyle/>
                    <a:p>
                      <a:pPr algn="l"/>
                      <a:r>
                        <a:rPr sz="1000" b="1" i="0">
                          <a:solidFill>
                            <a:srgbClr val="FFFFFF"/>
                          </a:solidFill>
                          <a:latin typeface="Montserrat"/>
                        </a:rPr>
                        <a:t>Archivo</a:t>
                      </a:r>
                    </a:p>
                  </a:txBody>
                  <a:tcPr marL="101600" marR="101600" marT="50800" marB="50800">
                    <a:solidFill>
                      <a:srgbClr val="0F172A"/>
                    </a:solidFill>
                  </a:tcPr>
                </a:tc>
                <a:tc>
                  <a:txBody>
                    <a:bodyPr/>
                    <a:lstStyle/>
                    <a:p>
                      <a:pPr algn="l"/>
                      <a:r>
                        <a:rPr sz="1000" b="1" i="0">
                          <a:solidFill>
                            <a:srgbClr val="FFFFFF"/>
                          </a:solidFill>
                          <a:latin typeface="Montserrat"/>
                        </a:rPr>
                        <a:t>Función</a:t>
                      </a:r>
                    </a:p>
                  </a:txBody>
                  <a:tcPr marL="101600" marR="101600" marT="50800" marB="50800">
                    <a:solidFill>
                      <a:srgbClr val="0F172A"/>
                    </a:solidFill>
                  </a:tcPr>
                </a:tc>
                <a:extLst>
                  <a:ext uri="{0D108BD9-81ED-4DB2-BD59-A6C34878D82A}">
                    <a16:rowId xmlns:a16="http://schemas.microsoft.com/office/drawing/2014/main" val="10000"/>
                  </a:ext>
                </a:extLst>
              </a:tr>
              <a:tr h="243840">
                <a:tc>
                  <a:txBody>
                    <a:bodyPr/>
                    <a:lstStyle/>
                    <a:p>
                      <a:pPr algn="l"/>
                      <a:r>
                        <a:rPr sz="900" b="0" i="0">
                          <a:solidFill>
                            <a:srgbClr val="0F172A"/>
                          </a:solidFill>
                          <a:latin typeface="Consolas"/>
                        </a:rPr>
                        <a:t>next.config.ts</a:t>
                      </a:r>
                    </a:p>
                  </a:txBody>
                  <a:tcPr marL="101600" marR="101600" marT="50800" marB="50800">
                    <a:solidFill>
                      <a:srgbClr val="FFFFFF"/>
                    </a:solidFill>
                  </a:tcPr>
                </a:tc>
                <a:tc>
                  <a:txBody>
                    <a:bodyPr/>
                    <a:lstStyle/>
                    <a:p>
                      <a:pPr algn="l"/>
                      <a:r>
                        <a:rPr sz="1000" b="0" i="0">
                          <a:solidFill>
                            <a:srgbClr val="2D3748"/>
                          </a:solidFill>
                          <a:latin typeface="Montserrat"/>
                        </a:rPr>
                        <a:t>Hosts actualizados a assets.joinfy.mx</a:t>
                      </a:r>
                    </a:p>
                  </a:txBody>
                  <a:tcPr marL="101600" marR="101600" marT="50800" marB="50800">
                    <a:solidFill>
                      <a:srgbClr val="FFFFFF"/>
                    </a:solidFill>
                  </a:tcPr>
                </a:tc>
                <a:extLst>
                  <a:ext uri="{0D108BD9-81ED-4DB2-BD59-A6C34878D82A}">
                    <a16:rowId xmlns:a16="http://schemas.microsoft.com/office/drawing/2014/main" val="10001"/>
                  </a:ext>
                </a:extLst>
              </a:tr>
              <a:tr h="243840">
                <a:tc>
                  <a:txBody>
                    <a:bodyPr/>
                    <a:lstStyle/>
                    <a:p>
                      <a:pPr algn="l"/>
                      <a:r>
                        <a:rPr sz="900" b="0" i="0">
                          <a:solidFill>
                            <a:srgbClr val="0F172A"/>
                          </a:solidFill>
                          <a:latin typeface="Consolas"/>
                        </a:rPr>
                        <a:t>lib/env.ts</a:t>
                      </a:r>
                    </a:p>
                  </a:txBody>
                  <a:tcPr marL="101600" marR="101600" marT="50800" marB="50800">
                    <a:solidFill>
                      <a:srgbClr val="F3F4F6"/>
                    </a:solidFill>
                  </a:tcPr>
                </a:tc>
                <a:tc>
                  <a:txBody>
                    <a:bodyPr/>
                    <a:lstStyle/>
                    <a:p>
                      <a:pPr algn="l"/>
                      <a:r>
                        <a:rPr sz="1000" b="0" i="0">
                          <a:solidFill>
                            <a:srgbClr val="2D3748"/>
                          </a:solidFill>
                          <a:latin typeface="Montserrat"/>
                        </a:rPr>
                        <a:t>APP_URL por defecto en https://joinfy.mx</a:t>
                      </a:r>
                    </a:p>
                  </a:txBody>
                  <a:tcPr marL="101600" marR="101600" marT="50800" marB="50800">
                    <a:solidFill>
                      <a:srgbClr val="F3F4F6"/>
                    </a:solidFill>
                  </a:tcPr>
                </a:tc>
                <a:extLst>
                  <a:ext uri="{0D108BD9-81ED-4DB2-BD59-A6C34878D82A}">
                    <a16:rowId xmlns:a16="http://schemas.microsoft.com/office/drawing/2014/main" val="10002"/>
                  </a:ext>
                </a:extLst>
              </a:tr>
              <a:tr h="243840">
                <a:tc>
                  <a:txBody>
                    <a:bodyPr/>
                    <a:lstStyle/>
                    <a:p>
                      <a:pPr algn="l"/>
                      <a:r>
                        <a:rPr sz="900" b="0" i="0">
                          <a:solidFill>
                            <a:srgbClr val="0F172A"/>
                          </a:solidFill>
                          <a:latin typeface="Consolas"/>
                        </a:rPr>
                        <a:t>templates/free-watermark.tsx</a:t>
                      </a:r>
                    </a:p>
                  </a:txBody>
                  <a:tcPr marL="101600" marR="101600" marT="50800" marB="50800">
                    <a:solidFill>
                      <a:srgbClr val="FFFFFF"/>
                    </a:solidFill>
                  </a:tcPr>
                </a:tc>
                <a:tc>
                  <a:txBody>
                    <a:bodyPr/>
                    <a:lstStyle/>
                    <a:p>
                      <a:pPr algn="l"/>
                      <a:r>
                        <a:rPr sz="1000" b="0" i="0">
                          <a:solidFill>
                            <a:srgbClr val="2D3748"/>
                          </a:solidFill>
                          <a:latin typeface="Montserrat"/>
                        </a:rPr>
                        <a:t>Componente de la marca de agua</a:t>
                      </a:r>
                    </a:p>
                  </a:txBody>
                  <a:tcPr marL="101600" marR="101600" marT="50800" marB="50800">
                    <a:solidFill>
                      <a:srgbClr val="FFFFFF"/>
                    </a:solidFill>
                  </a:tcPr>
                </a:tc>
                <a:extLst>
                  <a:ext uri="{0D108BD9-81ED-4DB2-BD59-A6C34878D82A}">
                    <a16:rowId xmlns:a16="http://schemas.microsoft.com/office/drawing/2014/main" val="10003"/>
                  </a:ext>
                </a:extLst>
              </a:tr>
              <a:tr h="243840">
                <a:tc>
                  <a:txBody>
                    <a:bodyPr/>
                    <a:lstStyle/>
                    <a:p>
                      <a:pPr algn="l"/>
                      <a:r>
                        <a:rPr sz="900" b="0" i="0">
                          <a:solidFill>
                            <a:srgbClr val="0F172A"/>
                          </a:solidFill>
                          <a:latin typeface="Consolas"/>
                        </a:rPr>
                        <a:t>templates/renderer.tsx</a:t>
                      </a:r>
                    </a:p>
                  </a:txBody>
                  <a:tcPr marL="101600" marR="101600" marT="50800" marB="50800">
                    <a:solidFill>
                      <a:srgbClr val="F3F4F6"/>
                    </a:solidFill>
                  </a:tcPr>
                </a:tc>
                <a:tc>
                  <a:txBody>
                    <a:bodyPr/>
                    <a:lstStyle/>
                    <a:p>
                      <a:pPr algn="l"/>
                      <a:r>
                        <a:rPr sz="1000" b="0" i="0">
                          <a:solidFill>
                            <a:srgbClr val="2D3748"/>
                          </a:solidFill>
                          <a:latin typeface="Montserrat"/>
                        </a:rPr>
                        <a:t>Inyecta marca de agua si planTier == free</a:t>
                      </a:r>
                    </a:p>
                  </a:txBody>
                  <a:tcPr marL="101600" marR="101600" marT="50800" marB="50800">
                    <a:solidFill>
                      <a:srgbClr val="F3F4F6"/>
                    </a:solidFill>
                  </a:tcPr>
                </a:tc>
                <a:extLst>
                  <a:ext uri="{0D108BD9-81ED-4DB2-BD59-A6C34878D82A}">
                    <a16:rowId xmlns:a16="http://schemas.microsoft.com/office/drawing/2014/main" val="10004"/>
                  </a:ext>
                </a:extLst>
              </a:tr>
              <a:tr h="243840">
                <a:tc>
                  <a:txBody>
                    <a:bodyPr/>
                    <a:lstStyle/>
                    <a:p>
                      <a:pPr algn="l"/>
                      <a:r>
                        <a:rPr sz="900" b="0" i="0">
                          <a:solidFill>
                            <a:srgbClr val="0F172A"/>
                          </a:solidFill>
                          <a:latin typeface="Consolas"/>
                        </a:rPr>
                        <a:t>lib/plan-features.ts</a:t>
                      </a:r>
                    </a:p>
                  </a:txBody>
                  <a:tcPr marL="101600" marR="101600" marT="50800" marB="50800">
                    <a:solidFill>
                      <a:srgbClr val="FFFFFF"/>
                    </a:solidFill>
                  </a:tcPr>
                </a:tc>
                <a:tc>
                  <a:txBody>
                    <a:bodyPr/>
                    <a:lstStyle/>
                    <a:p>
                      <a:pPr algn="l"/>
                      <a:r>
                        <a:rPr sz="1000" b="0" i="0">
                          <a:solidFill>
                            <a:srgbClr val="2D3748"/>
                          </a:solidFill>
                          <a:latin typeface="Montserrat"/>
                        </a:rPr>
                        <a:t>Matrix de funcionalidades por tier</a:t>
                      </a:r>
                    </a:p>
                  </a:txBody>
                  <a:tcPr marL="101600" marR="101600" marT="50800" marB="50800">
                    <a:solidFill>
                      <a:srgbClr val="FFFFFF"/>
                    </a:solidFill>
                  </a:tcPr>
                </a:tc>
                <a:extLst>
                  <a:ext uri="{0D108BD9-81ED-4DB2-BD59-A6C34878D82A}">
                    <a16:rowId xmlns:a16="http://schemas.microsoft.com/office/drawing/2014/main" val="10005"/>
                  </a:ext>
                </a:extLst>
              </a:tr>
              <a:tr h="243840">
                <a:tc>
                  <a:txBody>
                    <a:bodyPr/>
                    <a:lstStyle/>
                    <a:p>
                      <a:pPr algn="l"/>
                      <a:r>
                        <a:rPr sz="900" b="0" i="0">
                          <a:solidFill>
                            <a:srgbClr val="0F172A"/>
                          </a:solidFill>
                          <a:latin typeface="Consolas"/>
                        </a:rPr>
                        <a:t>lib/payment-plans.ts</a:t>
                      </a:r>
                    </a:p>
                  </a:txBody>
                  <a:tcPr marL="101600" marR="101600" marT="50800" marB="50800">
                    <a:solidFill>
                      <a:srgbClr val="F3F4F6"/>
                    </a:solidFill>
                  </a:tcPr>
                </a:tc>
                <a:tc>
                  <a:txBody>
                    <a:bodyPr/>
                    <a:lstStyle/>
                    <a:p>
                      <a:pPr algn="l"/>
                      <a:r>
                        <a:rPr sz="1000" b="0" i="0">
                          <a:solidFill>
                            <a:srgbClr val="2D3748"/>
                          </a:solidFill>
                          <a:latin typeface="Montserrat"/>
                        </a:rPr>
                        <a:t>Precios y topes de galería por tier</a:t>
                      </a:r>
                    </a:p>
                  </a:txBody>
                  <a:tcPr marL="101600" marR="101600" marT="50800" marB="50800">
                    <a:solidFill>
                      <a:srgbClr val="F3F4F6"/>
                    </a:solidFill>
                  </a:tcPr>
                </a:tc>
                <a:extLst>
                  <a:ext uri="{0D108BD9-81ED-4DB2-BD59-A6C34878D82A}">
                    <a16:rowId xmlns:a16="http://schemas.microsoft.com/office/drawing/2014/main" val="10006"/>
                  </a:ext>
                </a:extLst>
              </a:tr>
              <a:tr h="243840">
                <a:tc>
                  <a:txBody>
                    <a:bodyPr/>
                    <a:lstStyle/>
                    <a:p>
                      <a:pPr algn="l"/>
                      <a:r>
                        <a:rPr sz="900" b="0" i="0">
                          <a:solidFill>
                            <a:srgbClr val="0F172A"/>
                          </a:solidFill>
                          <a:latin typeface="Consolas"/>
                        </a:rPr>
                        <a:t>templates/boda-abidan-betsaida/render.tsx</a:t>
                      </a:r>
                    </a:p>
                  </a:txBody>
                  <a:tcPr marL="101600" marR="101600" marT="50800" marB="50800">
                    <a:solidFill>
                      <a:srgbClr val="FFFFFF"/>
                    </a:solidFill>
                  </a:tcPr>
                </a:tc>
                <a:tc>
                  <a:txBody>
                    <a:bodyPr/>
                    <a:lstStyle/>
                    <a:p>
                      <a:pPr algn="l"/>
                      <a:r>
                        <a:rPr sz="1000" b="0" i="0">
                          <a:solidFill>
                            <a:srgbClr val="2D3748"/>
                          </a:solidFill>
                          <a:latin typeface="Montserrat"/>
                        </a:rPr>
                        <a:t>Lógica isFree: oculta confirmación, trunca galería</a:t>
                      </a:r>
                    </a:p>
                  </a:txBody>
                  <a:tcPr marL="101600" marR="101600" marT="50800" marB="50800">
                    <a:solidFill>
                      <a:srgbClr val="FFFFFF"/>
                    </a:solidFill>
                  </a:tcPr>
                </a:tc>
                <a:extLst>
                  <a:ext uri="{0D108BD9-81ED-4DB2-BD59-A6C34878D82A}">
                    <a16:rowId xmlns:a16="http://schemas.microsoft.com/office/drawing/2014/main" val="10007"/>
                  </a:ext>
                </a:extLst>
              </a:tr>
              <a:tr h="243840">
                <a:tc>
                  <a:txBody>
                    <a:bodyPr/>
                    <a:lstStyle/>
                    <a:p>
                      <a:pPr algn="l"/>
                      <a:r>
                        <a:rPr sz="900" b="0" i="0">
                          <a:solidFill>
                            <a:srgbClr val="0F172A"/>
                          </a:solidFill>
                          <a:latin typeface="Consolas"/>
                        </a:rPr>
                        <a:t>db/migrations/0011_add_free_tier.sql</a:t>
                      </a:r>
                    </a:p>
                  </a:txBody>
                  <a:tcPr marL="101600" marR="101600" marT="50800" marB="50800">
                    <a:solidFill>
                      <a:srgbClr val="F3F4F6"/>
                    </a:solidFill>
                  </a:tcPr>
                </a:tc>
                <a:tc>
                  <a:txBody>
                    <a:bodyPr/>
                    <a:lstStyle/>
                    <a:p>
                      <a:pPr algn="l"/>
                      <a:r>
                        <a:rPr sz="1000" b="0" i="0" dirty="0" err="1">
                          <a:solidFill>
                            <a:srgbClr val="2D3748"/>
                          </a:solidFill>
                          <a:latin typeface="Montserrat"/>
                        </a:rPr>
                        <a:t>Extensión</a:t>
                      </a:r>
                      <a:r>
                        <a:rPr sz="1000" b="0" i="0" dirty="0">
                          <a:solidFill>
                            <a:srgbClr val="2D3748"/>
                          </a:solidFill>
                          <a:latin typeface="Montserrat"/>
                        </a:rPr>
                        <a:t> del </a:t>
                      </a:r>
                      <a:r>
                        <a:rPr sz="1000" b="0" i="0" dirty="0" err="1">
                          <a:solidFill>
                            <a:srgbClr val="2D3748"/>
                          </a:solidFill>
                          <a:latin typeface="Montserrat"/>
                        </a:rPr>
                        <a:t>enum</a:t>
                      </a:r>
                      <a:r>
                        <a:rPr sz="1000" b="0" i="0" dirty="0">
                          <a:solidFill>
                            <a:srgbClr val="2D3748"/>
                          </a:solidFill>
                          <a:latin typeface="Montserrat"/>
                        </a:rPr>
                        <a:t> de planes con valor 'free'</a:t>
                      </a:r>
                    </a:p>
                  </a:txBody>
                  <a:tcPr marL="101600" marR="101600" marT="50800" marB="50800">
                    <a:solidFill>
                      <a:srgbClr val="F3F4F6"/>
                    </a:solidFill>
                  </a:tcPr>
                </a:tc>
                <a:extLst>
                  <a:ext uri="{0D108BD9-81ED-4DB2-BD59-A6C34878D82A}">
                    <a16:rowId xmlns:a16="http://schemas.microsoft.com/office/drawing/2014/main" val="10008"/>
                  </a:ext>
                </a:extLst>
              </a:tr>
            </a:tbl>
          </a:graphicData>
        </a:graphic>
      </p:graphicFrame>
      <p:pic>
        <p:nvPicPr>
          <p:cNvPr id="21" name="Imagen 20">
            <a:extLst>
              <a:ext uri="{FF2B5EF4-FFF2-40B4-BE49-F238E27FC236}">
                <a16:creationId xmlns:a16="http://schemas.microsoft.com/office/drawing/2014/main" id="{9A00AA3A-D93F-0FF1-52C5-F2AD02400F51}"/>
              </a:ext>
            </a:extLst>
          </p:cNvPr>
          <p:cNvPicPr>
            <a:picLocks noChangeAspect="1"/>
          </p:cNvPicPr>
          <p:nvPr/>
        </p:nvPicPr>
        <p:blipFill>
          <a:blip r:embed="rId2"/>
          <a:stretch>
            <a:fillRect/>
          </a:stretch>
        </p:blipFill>
        <p:spPr>
          <a:xfrm>
            <a:off x="7659224" y="5132795"/>
            <a:ext cx="1063244" cy="1554479"/>
          </a:xfrm>
          <a:prstGeom prst="rect">
            <a:avLst/>
          </a:prstGeom>
        </p:spPr>
      </p:pic>
      <p:pic>
        <p:nvPicPr>
          <p:cNvPr id="23" name="Imagen 22">
            <a:extLst>
              <a:ext uri="{FF2B5EF4-FFF2-40B4-BE49-F238E27FC236}">
                <a16:creationId xmlns:a16="http://schemas.microsoft.com/office/drawing/2014/main" id="{BC9A6825-6DCE-5470-9322-E32A549F9B64}"/>
              </a:ext>
            </a:extLst>
          </p:cNvPr>
          <p:cNvPicPr>
            <a:picLocks noChangeAspect="1"/>
          </p:cNvPicPr>
          <p:nvPr/>
        </p:nvPicPr>
        <p:blipFill>
          <a:blip r:embed="rId3"/>
          <a:stretch>
            <a:fillRect/>
          </a:stretch>
        </p:blipFill>
        <p:spPr>
          <a:xfrm>
            <a:off x="9310301" y="5139275"/>
            <a:ext cx="1063244" cy="14989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01168"/>
            <a:ext cx="1828800" cy="320040"/>
          </a:xfrm>
          <a:prstGeom prst="rect">
            <a:avLst/>
          </a:prstGeom>
          <a:noFill/>
        </p:spPr>
        <p:txBody>
          <a:bodyPr wrap="square" lIns="0" tIns="0" rIns="0" bIns="0">
            <a:spAutoFit/>
          </a:bodyPr>
          <a:lstStyle/>
          <a:p>
            <a:pPr algn="l"/>
            <a:r>
              <a:rPr sz="1100" b="1" i="0">
                <a:solidFill>
                  <a:srgbClr val="0F172A"/>
                </a:solidFill>
                <a:latin typeface="Montserrat"/>
              </a:rPr>
              <a:t>JOINFY</a:t>
            </a:r>
          </a:p>
        </p:txBody>
      </p:sp>
      <p:sp>
        <p:nvSpPr>
          <p:cNvPr id="5" name="TextBox 4"/>
          <p:cNvSpPr txBox="1"/>
          <p:nvPr/>
        </p:nvSpPr>
        <p:spPr>
          <a:xfrm>
            <a:off x="5242255" y="201168"/>
            <a:ext cx="6400800" cy="320040"/>
          </a:xfrm>
          <a:prstGeom prst="rect">
            <a:avLst/>
          </a:prstGeom>
          <a:noFill/>
        </p:spPr>
        <p:txBody>
          <a:bodyPr wrap="square" lIns="0" tIns="0" rIns="0" bIns="0">
            <a:spAutoFit/>
          </a:bodyPr>
          <a:lstStyle/>
          <a:p>
            <a:pPr algn="r"/>
            <a:r>
              <a:rPr sz="1000" b="0" i="0">
                <a:solidFill>
                  <a:srgbClr val="6B7280"/>
                </a:solidFill>
                <a:latin typeface="Montserrat"/>
              </a:rPr>
              <a:t>Actividad 1.3 — Lanzamiento, branding y compliance</a:t>
            </a:r>
          </a:p>
        </p:txBody>
      </p:sp>
      <p:sp>
        <p:nvSpPr>
          <p:cNvPr id="7" name="TextBox 6"/>
          <p:cNvSpPr txBox="1"/>
          <p:nvPr/>
        </p:nvSpPr>
        <p:spPr>
          <a:xfrm>
            <a:off x="548640" y="594360"/>
            <a:ext cx="1828800" cy="274320"/>
          </a:xfrm>
          <a:prstGeom prst="rect">
            <a:avLst/>
          </a:prstGeom>
          <a:noFill/>
        </p:spPr>
        <p:txBody>
          <a:bodyPr wrap="square" lIns="0" tIns="0" rIns="0" bIns="0">
            <a:spAutoFit/>
          </a:bodyPr>
          <a:lstStyle/>
          <a:p>
            <a:pPr algn="l"/>
            <a:r>
              <a:rPr sz="1000" b="1" i="0">
                <a:solidFill>
                  <a:srgbClr val="16A34A"/>
                </a:solidFill>
                <a:latin typeface="Montserrat"/>
              </a:rPr>
              <a:t>1.3.3</a:t>
            </a:r>
          </a:p>
        </p:txBody>
      </p:sp>
      <p:sp>
        <p:nvSpPr>
          <p:cNvPr id="8" name="TextBox 7"/>
          <p:cNvSpPr txBox="1"/>
          <p:nvPr/>
        </p:nvSpPr>
        <p:spPr>
          <a:xfrm>
            <a:off x="548640" y="841248"/>
            <a:ext cx="10972800" cy="338554"/>
          </a:xfrm>
          <a:prstGeom prst="rect">
            <a:avLst/>
          </a:prstGeom>
          <a:noFill/>
        </p:spPr>
        <p:txBody>
          <a:bodyPr wrap="square" lIns="0" tIns="0" rIns="0" bIns="0">
            <a:spAutoFit/>
          </a:bodyPr>
          <a:lstStyle/>
          <a:p>
            <a:pPr algn="l"/>
            <a:r>
              <a:rPr sz="2200" b="1" i="0" dirty="0">
                <a:solidFill>
                  <a:srgbClr val="0F172A"/>
                </a:solidFill>
                <a:latin typeface="Montserrat"/>
              </a:rPr>
              <a:t>Branding </a:t>
            </a:r>
            <a:r>
              <a:rPr sz="2200" b="1" i="0" dirty="0" err="1">
                <a:solidFill>
                  <a:srgbClr val="0F172A"/>
                </a:solidFill>
                <a:latin typeface="Montserrat"/>
              </a:rPr>
              <a:t>completo</a:t>
            </a:r>
            <a:r>
              <a:rPr sz="2200" b="1" i="0" dirty="0">
                <a:solidFill>
                  <a:srgbClr val="0F172A"/>
                </a:solidFill>
                <a:latin typeface="Montserrat"/>
              </a:rPr>
              <a:t>  favicon, OG image, metadata</a:t>
            </a:r>
          </a:p>
        </p:txBody>
      </p:sp>
      <p:sp>
        <p:nvSpPr>
          <p:cNvPr id="9" name="TextBox 8"/>
          <p:cNvSpPr txBox="1"/>
          <p:nvPr/>
        </p:nvSpPr>
        <p:spPr>
          <a:xfrm>
            <a:off x="548640" y="1417320"/>
            <a:ext cx="10972800" cy="365760"/>
          </a:xfrm>
          <a:prstGeom prst="rect">
            <a:avLst/>
          </a:prstGeom>
          <a:noFill/>
        </p:spPr>
        <p:txBody>
          <a:bodyPr wrap="square" lIns="0" tIns="0" rIns="0" bIns="0">
            <a:spAutoFit/>
          </a:bodyPr>
          <a:lstStyle/>
          <a:p>
            <a:pPr algn="l"/>
            <a:r>
              <a:rPr sz="1200" b="0" i="1">
                <a:solidFill>
                  <a:srgbClr val="6B7280"/>
                </a:solidFill>
                <a:latin typeface="Montserrat"/>
              </a:rPr>
              <a:t>Logo Joinfy en todos los puntos de contacto: pestaña, bookmark, OG image en WhatsApp/Facebook.</a:t>
            </a:r>
          </a:p>
        </p:txBody>
      </p:sp>
      <p:sp>
        <p:nvSpPr>
          <p:cNvPr id="11" name="TextBox 10"/>
          <p:cNvSpPr txBox="1"/>
          <p:nvPr/>
        </p:nvSpPr>
        <p:spPr>
          <a:xfrm>
            <a:off x="548640" y="2057400"/>
            <a:ext cx="5303520" cy="274320"/>
          </a:xfrm>
          <a:prstGeom prst="rect">
            <a:avLst/>
          </a:prstGeom>
          <a:noFill/>
        </p:spPr>
        <p:txBody>
          <a:bodyPr wrap="square" lIns="0" tIns="0" rIns="0" bIns="0">
            <a:spAutoFit/>
          </a:bodyPr>
          <a:lstStyle/>
          <a:p>
            <a:pPr algn="l"/>
            <a:r>
              <a:rPr sz="1000" b="1" i="0">
                <a:solidFill>
                  <a:srgbClr val="16A34A"/>
                </a:solidFill>
                <a:latin typeface="Montserrat"/>
              </a:rPr>
              <a:t>QUÉ SE HIZO</a:t>
            </a:r>
          </a:p>
        </p:txBody>
      </p:sp>
      <p:sp>
        <p:nvSpPr>
          <p:cNvPr id="12" name="TextBox 11"/>
          <p:cNvSpPr txBox="1"/>
          <p:nvPr/>
        </p:nvSpPr>
        <p:spPr>
          <a:xfrm>
            <a:off x="548640" y="2423160"/>
            <a:ext cx="5303520" cy="2011680"/>
          </a:xfrm>
          <a:prstGeom prst="rect">
            <a:avLst/>
          </a:prstGeom>
          <a:noFill/>
        </p:spPr>
        <p:txBody>
          <a:bodyPr wrap="square" lIns="0" tIns="0" rIns="0" bIns="0">
            <a:spAutoFit/>
          </a:bodyPr>
          <a:lstStyle/>
          <a:p>
            <a:pPr algn="l"/>
            <a:r>
              <a:rPr sz="1200" b="0" i="0">
                <a:solidFill>
                  <a:srgbClr val="2D3748"/>
                </a:solidFill>
                <a:latin typeface="Montserrat"/>
              </a:rPr>
              <a:t>Sistema completo de branding visual: logo Joinfy en favicon (pestaña del navegador), app icon, apple icon (bookmarks de iOS) e imagen Open Graph (la que aparece como preview cuando se comparte el link en WhatsApp o Facebook).</a:t>
            </a:r>
          </a:p>
          <a:p>
            <a:pPr algn="l">
              <a:spcBef>
                <a:spcPts val="600"/>
              </a:spcBef>
              <a:spcAft>
                <a:spcPts val="0"/>
              </a:spcAft>
            </a:pPr>
            <a:r>
              <a:rPr sz="1200" b="0" i="0">
                <a:solidFill>
                  <a:srgbClr val="2D3748"/>
                </a:solidFill>
                <a:latin typeface="Montserrat"/>
              </a:rPr>
              <a:t>Configuración de metadataBase para que las URLs relativas se resuelvan a absolutas correctamente. Sin esto, WhatsApp y Facebook ven og:image como localhost y los previews se rompen.</a:t>
            </a:r>
          </a:p>
          <a:p>
            <a:pPr algn="l">
              <a:spcBef>
                <a:spcPts val="600"/>
              </a:spcBef>
              <a:spcAft>
                <a:spcPts val="0"/>
              </a:spcAft>
            </a:pPr>
            <a:r>
              <a:rPr sz="1200" b="0" i="0">
                <a:solidFill>
                  <a:srgbClr val="2D3748"/>
                </a:solidFill>
                <a:latin typeface="Montserrat"/>
              </a:rPr>
              <a:t>Posicionamiento del wordmark dentro de la safe zone para que no se corte en el preview de WhatsApp Web (que recorta el centro de la imagen).</a:t>
            </a:r>
          </a:p>
        </p:txBody>
      </p:sp>
      <p:sp>
        <p:nvSpPr>
          <p:cNvPr id="13" name="Rounded Rectangle 12"/>
          <p:cNvSpPr/>
          <p:nvPr/>
        </p:nvSpPr>
        <p:spPr>
          <a:xfrm>
            <a:off x="548640" y="4537027"/>
            <a:ext cx="5303520" cy="2240280"/>
          </a:xfrm>
          <a:prstGeom prst="roundRect">
            <a:avLst>
              <a:gd name="adj" fmla="val 4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659050"/>
            <a:ext cx="4937760" cy="138499"/>
          </a:xfrm>
          <a:prstGeom prst="rect">
            <a:avLst/>
          </a:prstGeom>
          <a:noFill/>
        </p:spPr>
        <p:txBody>
          <a:bodyPr wrap="square" lIns="0" tIns="0" rIns="0" bIns="0">
            <a:spAutoFit/>
          </a:bodyPr>
          <a:lstStyle/>
          <a:p>
            <a:pPr algn="l"/>
            <a:r>
              <a:rPr sz="900" b="1" i="0" dirty="0">
                <a:solidFill>
                  <a:srgbClr val="16A34A"/>
                </a:solidFill>
                <a:latin typeface="Montserrat"/>
              </a:rPr>
              <a:t>DECISIONES TÉCNICAS</a:t>
            </a:r>
          </a:p>
        </p:txBody>
      </p:sp>
      <p:sp>
        <p:nvSpPr>
          <p:cNvPr id="15" name="TextBox 14"/>
          <p:cNvSpPr txBox="1"/>
          <p:nvPr/>
        </p:nvSpPr>
        <p:spPr>
          <a:xfrm>
            <a:off x="731520" y="4846320"/>
            <a:ext cx="4937760" cy="1691640"/>
          </a:xfrm>
          <a:prstGeom prst="rect">
            <a:avLst/>
          </a:prstGeom>
          <a:noFill/>
        </p:spPr>
        <p:txBody>
          <a:bodyPr wrap="square">
            <a:spAutoFit/>
          </a:bodyPr>
          <a:lstStyle/>
          <a:p>
            <a:pPr algn="l"/>
            <a:r>
              <a:rPr sz="1100" b="1">
                <a:solidFill>
                  <a:srgbClr val="16A34A"/>
                </a:solidFill>
                <a:latin typeface="Montserrat"/>
              </a:rPr>
              <a:t>•  </a:t>
            </a:r>
            <a:r>
              <a:rPr sz="1100">
                <a:solidFill>
                  <a:srgbClr val="2D3748"/>
                </a:solidFill>
                <a:latin typeface="Montserrat"/>
              </a:rPr>
              <a:t>Una sola fuente de verdad (miniatura.png) que se renderiza a todos los formatos requeridos.</a:t>
            </a:r>
          </a:p>
          <a:p>
            <a:pPr algn="l">
              <a:spcBef>
                <a:spcPts val="800"/>
              </a:spcBef>
            </a:pPr>
            <a:r>
              <a:rPr sz="1100" b="1">
                <a:solidFill>
                  <a:srgbClr val="16A34A"/>
                </a:solidFill>
                <a:latin typeface="Montserrat"/>
              </a:rPr>
              <a:t>•  </a:t>
            </a:r>
            <a:r>
              <a:rPr sz="1100">
                <a:solidFill>
                  <a:srgbClr val="2D3748"/>
                </a:solidFill>
                <a:latin typeface="Montserrat"/>
              </a:rPr>
              <a:t>metadataBase explícito porque Next.js no puede inferir URL absoluta sin esta config.</a:t>
            </a:r>
          </a:p>
          <a:p>
            <a:pPr algn="l">
              <a:spcBef>
                <a:spcPts val="800"/>
              </a:spcBef>
            </a:pPr>
            <a:r>
              <a:rPr sz="1100" b="1">
                <a:solidFill>
                  <a:srgbClr val="16A34A"/>
                </a:solidFill>
                <a:latin typeface="Montserrat"/>
              </a:rPr>
              <a:t>•  </a:t>
            </a:r>
            <a:r>
              <a:rPr sz="1100">
                <a:solidFill>
                  <a:srgbClr val="2D3748"/>
                </a:solidFill>
                <a:latin typeface="Montserrat"/>
              </a:rPr>
              <a:t>Wordmark dentro de safe zone: los previews de WhatsApp recortan agresivamente.</a:t>
            </a:r>
          </a:p>
        </p:txBody>
      </p:sp>
      <p:sp>
        <p:nvSpPr>
          <p:cNvPr id="16" name="TextBox 15"/>
          <p:cNvSpPr txBox="1"/>
          <p:nvPr/>
        </p:nvSpPr>
        <p:spPr>
          <a:xfrm>
            <a:off x="6126480" y="2057400"/>
            <a:ext cx="5486400" cy="153888"/>
          </a:xfrm>
          <a:prstGeom prst="rect">
            <a:avLst/>
          </a:prstGeom>
          <a:noFill/>
        </p:spPr>
        <p:txBody>
          <a:bodyPr wrap="square" lIns="0" tIns="0" rIns="0" bIns="0">
            <a:spAutoFit/>
          </a:bodyPr>
          <a:lstStyle/>
          <a:p>
            <a:pPr algn="l"/>
            <a:r>
              <a:rPr sz="1000" b="1" i="0" dirty="0">
                <a:solidFill>
                  <a:srgbClr val="16A34A"/>
                </a:solidFill>
                <a:latin typeface="Montserrat"/>
              </a:rPr>
              <a:t>ARCHIVOS DEL CÓDIGO</a:t>
            </a:r>
          </a:p>
        </p:txBody>
      </p:sp>
      <p:graphicFrame>
        <p:nvGraphicFramePr>
          <p:cNvPr id="17" name="Table 16"/>
          <p:cNvGraphicFramePr>
            <a:graphicFrameLocks noGrp="1"/>
          </p:cNvGraphicFramePr>
          <p:nvPr/>
        </p:nvGraphicFramePr>
        <p:xfrm>
          <a:off x="6126480" y="2423160"/>
          <a:ext cx="5486400" cy="219456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274320">
                <a:tc>
                  <a:txBody>
                    <a:bodyPr/>
                    <a:lstStyle/>
                    <a:p>
                      <a:pPr algn="l"/>
                      <a:r>
                        <a:rPr sz="1000" b="1" i="0">
                          <a:solidFill>
                            <a:srgbClr val="FFFFFF"/>
                          </a:solidFill>
                          <a:latin typeface="Montserrat"/>
                        </a:rPr>
                        <a:t>Archivo</a:t>
                      </a:r>
                    </a:p>
                  </a:txBody>
                  <a:tcPr marL="101600" marR="101600" marT="50800" marB="50800">
                    <a:solidFill>
                      <a:srgbClr val="0F172A"/>
                    </a:solidFill>
                  </a:tcPr>
                </a:tc>
                <a:tc>
                  <a:txBody>
                    <a:bodyPr/>
                    <a:lstStyle/>
                    <a:p>
                      <a:pPr algn="l"/>
                      <a:r>
                        <a:rPr sz="1000" b="1" i="0">
                          <a:solidFill>
                            <a:srgbClr val="FFFFFF"/>
                          </a:solidFill>
                          <a:latin typeface="Montserrat"/>
                        </a:rPr>
                        <a:t>Función</a:t>
                      </a:r>
                    </a:p>
                  </a:txBody>
                  <a:tcPr marL="101600" marR="101600" marT="50800" marB="50800">
                    <a:solidFill>
                      <a:srgbClr val="0F172A"/>
                    </a:solidFill>
                  </a:tcPr>
                </a:tc>
                <a:extLst>
                  <a:ext uri="{0D108BD9-81ED-4DB2-BD59-A6C34878D82A}">
                    <a16:rowId xmlns:a16="http://schemas.microsoft.com/office/drawing/2014/main" val="10000"/>
                  </a:ext>
                </a:extLst>
              </a:tr>
              <a:tr h="274320">
                <a:tc>
                  <a:txBody>
                    <a:bodyPr/>
                    <a:lstStyle/>
                    <a:p>
                      <a:pPr algn="l"/>
                      <a:r>
                        <a:rPr sz="900" b="0" i="0">
                          <a:solidFill>
                            <a:srgbClr val="0F172A"/>
                          </a:solidFill>
                          <a:latin typeface="Consolas"/>
                        </a:rPr>
                        <a:t>app/layout.tsx</a:t>
                      </a:r>
                    </a:p>
                  </a:txBody>
                  <a:tcPr marL="101600" marR="101600" marT="50800" marB="50800">
                    <a:solidFill>
                      <a:srgbClr val="FFFFFF"/>
                    </a:solidFill>
                  </a:tcPr>
                </a:tc>
                <a:tc>
                  <a:txBody>
                    <a:bodyPr/>
                    <a:lstStyle/>
                    <a:p>
                      <a:pPr algn="l"/>
                      <a:r>
                        <a:rPr sz="1000" b="0" i="0">
                          <a:solidFill>
                            <a:srgbClr val="2D3748"/>
                          </a:solidFill>
                          <a:latin typeface="Montserrat"/>
                        </a:rPr>
                        <a:t>metadataBase apunta a https://joinfy.mx</a:t>
                      </a:r>
                    </a:p>
                  </a:txBody>
                  <a:tcPr marL="101600" marR="101600" marT="50800" marB="50800">
                    <a:solidFill>
                      <a:srgbClr val="FFFFFF"/>
                    </a:solidFill>
                  </a:tcPr>
                </a:tc>
                <a:extLst>
                  <a:ext uri="{0D108BD9-81ED-4DB2-BD59-A6C34878D82A}">
                    <a16:rowId xmlns:a16="http://schemas.microsoft.com/office/drawing/2014/main" val="10001"/>
                  </a:ext>
                </a:extLst>
              </a:tr>
              <a:tr h="274320">
                <a:tc>
                  <a:txBody>
                    <a:bodyPr/>
                    <a:lstStyle/>
                    <a:p>
                      <a:pPr algn="l"/>
                      <a:r>
                        <a:rPr sz="900" b="0" i="0">
                          <a:solidFill>
                            <a:srgbClr val="0F172A"/>
                          </a:solidFill>
                          <a:latin typeface="Consolas"/>
                        </a:rPr>
                        <a:t>app/favicon.ico</a:t>
                      </a:r>
                    </a:p>
                  </a:txBody>
                  <a:tcPr marL="101600" marR="101600" marT="50800" marB="50800">
                    <a:solidFill>
                      <a:srgbClr val="F3F4F6"/>
                    </a:solidFill>
                  </a:tcPr>
                </a:tc>
                <a:tc>
                  <a:txBody>
                    <a:bodyPr/>
                    <a:lstStyle/>
                    <a:p>
                      <a:pPr algn="l"/>
                      <a:r>
                        <a:rPr sz="1000" b="0" i="0">
                          <a:solidFill>
                            <a:srgbClr val="2D3748"/>
                          </a:solidFill>
                          <a:latin typeface="Montserrat"/>
                        </a:rPr>
                        <a:t>Favicon clásico</a:t>
                      </a:r>
                    </a:p>
                  </a:txBody>
                  <a:tcPr marL="101600" marR="101600" marT="50800" marB="50800">
                    <a:solidFill>
                      <a:srgbClr val="F3F4F6"/>
                    </a:solidFill>
                  </a:tcPr>
                </a:tc>
                <a:extLst>
                  <a:ext uri="{0D108BD9-81ED-4DB2-BD59-A6C34878D82A}">
                    <a16:rowId xmlns:a16="http://schemas.microsoft.com/office/drawing/2014/main" val="10002"/>
                  </a:ext>
                </a:extLst>
              </a:tr>
              <a:tr h="274320">
                <a:tc>
                  <a:txBody>
                    <a:bodyPr/>
                    <a:lstStyle/>
                    <a:p>
                      <a:pPr algn="l"/>
                      <a:r>
                        <a:rPr sz="900" b="0" i="0">
                          <a:solidFill>
                            <a:srgbClr val="0F172A"/>
                          </a:solidFill>
                          <a:latin typeface="Consolas"/>
                        </a:rPr>
                        <a:t>app/icon.png</a:t>
                      </a:r>
                    </a:p>
                  </a:txBody>
                  <a:tcPr marL="101600" marR="101600" marT="50800" marB="50800">
                    <a:solidFill>
                      <a:srgbClr val="FFFFFF"/>
                    </a:solidFill>
                  </a:tcPr>
                </a:tc>
                <a:tc>
                  <a:txBody>
                    <a:bodyPr/>
                    <a:lstStyle/>
                    <a:p>
                      <a:pPr algn="l"/>
                      <a:r>
                        <a:rPr sz="1000" b="0" i="0">
                          <a:solidFill>
                            <a:srgbClr val="2D3748"/>
                          </a:solidFill>
                          <a:latin typeface="Montserrat"/>
                        </a:rPr>
                        <a:t>App icon 192x192</a:t>
                      </a:r>
                    </a:p>
                  </a:txBody>
                  <a:tcPr marL="101600" marR="101600" marT="50800" marB="50800">
                    <a:solidFill>
                      <a:srgbClr val="FFFFFF"/>
                    </a:solidFill>
                  </a:tcPr>
                </a:tc>
                <a:extLst>
                  <a:ext uri="{0D108BD9-81ED-4DB2-BD59-A6C34878D82A}">
                    <a16:rowId xmlns:a16="http://schemas.microsoft.com/office/drawing/2014/main" val="10003"/>
                  </a:ext>
                </a:extLst>
              </a:tr>
              <a:tr h="274320">
                <a:tc>
                  <a:txBody>
                    <a:bodyPr/>
                    <a:lstStyle/>
                    <a:p>
                      <a:pPr algn="l"/>
                      <a:r>
                        <a:rPr sz="900" b="0" i="0">
                          <a:solidFill>
                            <a:srgbClr val="0F172A"/>
                          </a:solidFill>
                          <a:latin typeface="Consolas"/>
                        </a:rPr>
                        <a:t>app/apple-icon.png</a:t>
                      </a:r>
                    </a:p>
                  </a:txBody>
                  <a:tcPr marL="101600" marR="101600" marT="50800" marB="50800">
                    <a:solidFill>
                      <a:srgbClr val="F3F4F6"/>
                    </a:solidFill>
                  </a:tcPr>
                </a:tc>
                <a:tc>
                  <a:txBody>
                    <a:bodyPr/>
                    <a:lstStyle/>
                    <a:p>
                      <a:pPr algn="l"/>
                      <a:r>
                        <a:rPr sz="1000" b="0" i="0">
                          <a:solidFill>
                            <a:srgbClr val="2D3748"/>
                          </a:solidFill>
                          <a:latin typeface="Montserrat"/>
                        </a:rPr>
                        <a:t>Apple icon 180x180 (bookmarks iOS)</a:t>
                      </a:r>
                    </a:p>
                  </a:txBody>
                  <a:tcPr marL="101600" marR="101600" marT="50800" marB="50800">
                    <a:solidFill>
                      <a:srgbClr val="F3F4F6"/>
                    </a:solidFill>
                  </a:tcPr>
                </a:tc>
                <a:extLst>
                  <a:ext uri="{0D108BD9-81ED-4DB2-BD59-A6C34878D82A}">
                    <a16:rowId xmlns:a16="http://schemas.microsoft.com/office/drawing/2014/main" val="10004"/>
                  </a:ext>
                </a:extLst>
              </a:tr>
              <a:tr h="274320">
                <a:tc>
                  <a:txBody>
                    <a:bodyPr/>
                    <a:lstStyle/>
                    <a:p>
                      <a:pPr algn="l"/>
                      <a:r>
                        <a:rPr sz="900" b="0" i="0">
                          <a:solidFill>
                            <a:srgbClr val="0F172A"/>
                          </a:solidFill>
                          <a:latin typeface="Consolas"/>
                        </a:rPr>
                        <a:t>app/opengraph-image.png</a:t>
                      </a:r>
                    </a:p>
                  </a:txBody>
                  <a:tcPr marL="101600" marR="101600" marT="50800" marB="50800">
                    <a:solidFill>
                      <a:srgbClr val="FFFFFF"/>
                    </a:solidFill>
                  </a:tcPr>
                </a:tc>
                <a:tc>
                  <a:txBody>
                    <a:bodyPr/>
                    <a:lstStyle/>
                    <a:p>
                      <a:pPr algn="l"/>
                      <a:r>
                        <a:rPr sz="1000" b="0" i="0">
                          <a:solidFill>
                            <a:srgbClr val="2D3748"/>
                          </a:solidFill>
                          <a:latin typeface="Montserrat"/>
                        </a:rPr>
                        <a:t>OG image 1200x630 (WhatsApp/Facebook)</a:t>
                      </a:r>
                    </a:p>
                  </a:txBody>
                  <a:tcPr marL="101600" marR="101600" marT="50800" marB="50800">
                    <a:solidFill>
                      <a:srgbClr val="FFFFFF"/>
                    </a:solidFill>
                  </a:tcPr>
                </a:tc>
                <a:extLst>
                  <a:ext uri="{0D108BD9-81ED-4DB2-BD59-A6C34878D82A}">
                    <a16:rowId xmlns:a16="http://schemas.microsoft.com/office/drawing/2014/main" val="10005"/>
                  </a:ext>
                </a:extLst>
              </a:tr>
              <a:tr h="274320">
                <a:tc>
                  <a:txBody>
                    <a:bodyPr/>
                    <a:lstStyle/>
                    <a:p>
                      <a:pPr algn="l"/>
                      <a:r>
                        <a:rPr sz="900" b="0" i="0">
                          <a:solidFill>
                            <a:srgbClr val="0F172A"/>
                          </a:solidFill>
                          <a:latin typeface="Consolas"/>
                        </a:rPr>
                        <a:t>public/assets/joinfy-logo.png</a:t>
                      </a:r>
                    </a:p>
                  </a:txBody>
                  <a:tcPr marL="101600" marR="101600" marT="50800" marB="50800">
                    <a:solidFill>
                      <a:srgbClr val="F3F4F6"/>
                    </a:solidFill>
                  </a:tcPr>
                </a:tc>
                <a:tc>
                  <a:txBody>
                    <a:bodyPr/>
                    <a:lstStyle/>
                    <a:p>
                      <a:pPr algn="l"/>
                      <a:r>
                        <a:rPr sz="1000" b="0" i="0">
                          <a:solidFill>
                            <a:srgbClr val="2D3748"/>
                          </a:solidFill>
                          <a:latin typeface="Montserrat"/>
                        </a:rPr>
                        <a:t>Logo full para nav y footer</a:t>
                      </a:r>
                    </a:p>
                  </a:txBody>
                  <a:tcPr marL="101600" marR="101600" marT="50800" marB="50800">
                    <a:solidFill>
                      <a:srgbClr val="F3F4F6"/>
                    </a:solidFill>
                  </a:tcPr>
                </a:tc>
                <a:extLst>
                  <a:ext uri="{0D108BD9-81ED-4DB2-BD59-A6C34878D82A}">
                    <a16:rowId xmlns:a16="http://schemas.microsoft.com/office/drawing/2014/main" val="10006"/>
                  </a:ext>
                </a:extLst>
              </a:tr>
              <a:tr h="274320">
                <a:tc>
                  <a:txBody>
                    <a:bodyPr/>
                    <a:lstStyle/>
                    <a:p>
                      <a:pPr algn="l"/>
                      <a:r>
                        <a:rPr sz="900" b="0" i="0">
                          <a:solidFill>
                            <a:srgbClr val="0F172A"/>
                          </a:solidFill>
                          <a:latin typeface="Consolas"/>
                        </a:rPr>
                        <a:t>public/assets/miniatura.png</a:t>
                      </a:r>
                    </a:p>
                  </a:txBody>
                  <a:tcPr marL="101600" marR="101600" marT="50800" marB="50800">
                    <a:solidFill>
                      <a:srgbClr val="FFFFFF"/>
                    </a:solidFill>
                  </a:tcPr>
                </a:tc>
                <a:tc>
                  <a:txBody>
                    <a:bodyPr/>
                    <a:lstStyle/>
                    <a:p>
                      <a:pPr algn="l"/>
                      <a:r>
                        <a:rPr sz="1000" b="0" i="0" dirty="0" err="1">
                          <a:solidFill>
                            <a:srgbClr val="2D3748"/>
                          </a:solidFill>
                          <a:latin typeface="Montserrat"/>
                        </a:rPr>
                        <a:t>Miniatura</a:t>
                      </a:r>
                      <a:r>
                        <a:rPr sz="1000" b="0" i="0" dirty="0">
                          <a:solidFill>
                            <a:srgbClr val="2D3748"/>
                          </a:solidFill>
                          <a:latin typeface="Montserrat"/>
                        </a:rPr>
                        <a:t> base para favicon, icon y OG</a:t>
                      </a:r>
                    </a:p>
                  </a:txBody>
                  <a:tcPr marL="101600" marR="101600" marT="50800" marB="50800">
                    <a:solidFill>
                      <a:srgbClr val="FFFFFF"/>
                    </a:solidFill>
                  </a:tcPr>
                </a:tc>
                <a:extLst>
                  <a:ext uri="{0D108BD9-81ED-4DB2-BD59-A6C34878D82A}">
                    <a16:rowId xmlns:a16="http://schemas.microsoft.com/office/drawing/2014/main" val="10007"/>
                  </a:ext>
                </a:extLst>
              </a:tr>
            </a:tbl>
          </a:graphicData>
        </a:graphic>
      </p:graphicFrame>
      <p:pic>
        <p:nvPicPr>
          <p:cNvPr id="21" name="Imagen 20">
            <a:extLst>
              <a:ext uri="{FF2B5EF4-FFF2-40B4-BE49-F238E27FC236}">
                <a16:creationId xmlns:a16="http://schemas.microsoft.com/office/drawing/2014/main" id="{E1D83BCE-A515-A133-3EF8-B2DAF8012DA1}"/>
              </a:ext>
            </a:extLst>
          </p:cNvPr>
          <p:cNvPicPr>
            <a:picLocks noChangeAspect="1"/>
          </p:cNvPicPr>
          <p:nvPr/>
        </p:nvPicPr>
        <p:blipFill>
          <a:blip r:embed="rId2"/>
          <a:stretch>
            <a:fillRect/>
          </a:stretch>
        </p:blipFill>
        <p:spPr>
          <a:xfrm>
            <a:off x="6148446" y="5107755"/>
            <a:ext cx="1915654" cy="1205503"/>
          </a:xfrm>
          <a:prstGeom prst="rect">
            <a:avLst/>
          </a:prstGeom>
        </p:spPr>
      </p:pic>
      <p:pic>
        <p:nvPicPr>
          <p:cNvPr id="23" name="Imagen 22">
            <a:extLst>
              <a:ext uri="{FF2B5EF4-FFF2-40B4-BE49-F238E27FC236}">
                <a16:creationId xmlns:a16="http://schemas.microsoft.com/office/drawing/2014/main" id="{19C23D2A-1FD1-7FA0-5840-E02864585D73}"/>
              </a:ext>
            </a:extLst>
          </p:cNvPr>
          <p:cNvPicPr>
            <a:picLocks noChangeAspect="1"/>
          </p:cNvPicPr>
          <p:nvPr/>
        </p:nvPicPr>
        <p:blipFill>
          <a:blip r:embed="rId3"/>
          <a:stretch>
            <a:fillRect/>
          </a:stretch>
        </p:blipFill>
        <p:spPr>
          <a:xfrm>
            <a:off x="8178126" y="4811347"/>
            <a:ext cx="1687603" cy="1691640"/>
          </a:xfrm>
          <a:prstGeom prst="rect">
            <a:avLst/>
          </a:prstGeom>
        </p:spPr>
      </p:pic>
      <p:pic>
        <p:nvPicPr>
          <p:cNvPr id="25" name="Imagen 24">
            <a:extLst>
              <a:ext uri="{FF2B5EF4-FFF2-40B4-BE49-F238E27FC236}">
                <a16:creationId xmlns:a16="http://schemas.microsoft.com/office/drawing/2014/main" id="{D781D466-5F8E-D969-E738-42F50E4CFC7B}"/>
              </a:ext>
            </a:extLst>
          </p:cNvPr>
          <p:cNvPicPr>
            <a:picLocks noChangeAspect="1"/>
          </p:cNvPicPr>
          <p:nvPr/>
        </p:nvPicPr>
        <p:blipFill>
          <a:blip r:embed="rId4"/>
          <a:stretch>
            <a:fillRect/>
          </a:stretch>
        </p:blipFill>
        <p:spPr>
          <a:xfrm>
            <a:off x="10095249" y="5182806"/>
            <a:ext cx="1720311" cy="7984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01168"/>
            <a:ext cx="1828800" cy="320040"/>
          </a:xfrm>
          <a:prstGeom prst="rect">
            <a:avLst/>
          </a:prstGeom>
          <a:noFill/>
        </p:spPr>
        <p:txBody>
          <a:bodyPr wrap="square" lIns="0" tIns="0" rIns="0" bIns="0">
            <a:spAutoFit/>
          </a:bodyPr>
          <a:lstStyle/>
          <a:p>
            <a:pPr algn="l"/>
            <a:r>
              <a:rPr sz="1100" b="1" i="0">
                <a:solidFill>
                  <a:srgbClr val="0F172A"/>
                </a:solidFill>
                <a:latin typeface="Montserrat"/>
              </a:rPr>
              <a:t>JOINFY</a:t>
            </a:r>
          </a:p>
        </p:txBody>
      </p:sp>
      <p:sp>
        <p:nvSpPr>
          <p:cNvPr id="5" name="TextBox 4"/>
          <p:cNvSpPr txBox="1"/>
          <p:nvPr/>
        </p:nvSpPr>
        <p:spPr>
          <a:xfrm>
            <a:off x="5242255" y="201168"/>
            <a:ext cx="6400800" cy="320040"/>
          </a:xfrm>
          <a:prstGeom prst="rect">
            <a:avLst/>
          </a:prstGeom>
          <a:noFill/>
        </p:spPr>
        <p:txBody>
          <a:bodyPr wrap="square" lIns="0" tIns="0" rIns="0" bIns="0">
            <a:spAutoFit/>
          </a:bodyPr>
          <a:lstStyle/>
          <a:p>
            <a:pPr algn="r"/>
            <a:r>
              <a:rPr sz="1000" b="0" i="0">
                <a:solidFill>
                  <a:srgbClr val="6B7280"/>
                </a:solidFill>
                <a:latin typeface="Montserrat"/>
              </a:rPr>
              <a:t>Actividad 1.3 — Lanzamiento, branding y compliance</a:t>
            </a:r>
          </a:p>
        </p:txBody>
      </p:sp>
      <p:sp>
        <p:nvSpPr>
          <p:cNvPr id="7" name="TextBox 6"/>
          <p:cNvSpPr txBox="1"/>
          <p:nvPr/>
        </p:nvSpPr>
        <p:spPr>
          <a:xfrm>
            <a:off x="548640" y="594360"/>
            <a:ext cx="1828800" cy="274320"/>
          </a:xfrm>
          <a:prstGeom prst="rect">
            <a:avLst/>
          </a:prstGeom>
          <a:noFill/>
        </p:spPr>
        <p:txBody>
          <a:bodyPr wrap="square" lIns="0" tIns="0" rIns="0" bIns="0">
            <a:spAutoFit/>
          </a:bodyPr>
          <a:lstStyle/>
          <a:p>
            <a:pPr algn="l"/>
            <a:r>
              <a:rPr sz="1000" b="1" i="0">
                <a:solidFill>
                  <a:srgbClr val="16A34A"/>
                </a:solidFill>
                <a:latin typeface="Montserrat"/>
              </a:rPr>
              <a:t>1.3.4</a:t>
            </a:r>
          </a:p>
        </p:txBody>
      </p:sp>
      <p:sp>
        <p:nvSpPr>
          <p:cNvPr id="8" name="TextBox 7"/>
          <p:cNvSpPr txBox="1"/>
          <p:nvPr/>
        </p:nvSpPr>
        <p:spPr>
          <a:xfrm>
            <a:off x="548640" y="841248"/>
            <a:ext cx="10972800" cy="502920"/>
          </a:xfrm>
          <a:prstGeom prst="rect">
            <a:avLst/>
          </a:prstGeom>
          <a:noFill/>
        </p:spPr>
        <p:txBody>
          <a:bodyPr wrap="square" lIns="0" tIns="0" rIns="0" bIns="0">
            <a:spAutoFit/>
          </a:bodyPr>
          <a:lstStyle/>
          <a:p>
            <a:pPr algn="l"/>
            <a:r>
              <a:rPr sz="2200" b="1" i="0">
                <a:solidFill>
                  <a:srgbClr val="0F172A"/>
                </a:solidFill>
                <a:latin typeface="Montserrat"/>
              </a:rPr>
              <a:t>Cloudflare Turnstile — CAPTCHA en formularios sensibles</a:t>
            </a:r>
          </a:p>
        </p:txBody>
      </p:sp>
      <p:sp>
        <p:nvSpPr>
          <p:cNvPr id="9" name="TextBox 8"/>
          <p:cNvSpPr txBox="1"/>
          <p:nvPr/>
        </p:nvSpPr>
        <p:spPr>
          <a:xfrm>
            <a:off x="548640" y="1417320"/>
            <a:ext cx="10972800" cy="365760"/>
          </a:xfrm>
          <a:prstGeom prst="rect">
            <a:avLst/>
          </a:prstGeom>
          <a:noFill/>
        </p:spPr>
        <p:txBody>
          <a:bodyPr wrap="square" lIns="0" tIns="0" rIns="0" bIns="0">
            <a:spAutoFit/>
          </a:bodyPr>
          <a:lstStyle/>
          <a:p>
            <a:pPr algn="l"/>
            <a:r>
              <a:rPr sz="1200" b="0" i="1">
                <a:solidFill>
                  <a:srgbClr val="6B7280"/>
                </a:solidFill>
                <a:latin typeface="Montserrat"/>
              </a:rPr>
              <a:t>Alternativa a reCAPTCHA sin tracking de Google. Fail-open silencioso si Cloudflare cae.</a:t>
            </a:r>
          </a:p>
        </p:txBody>
      </p:sp>
      <p:sp>
        <p:nvSpPr>
          <p:cNvPr id="11" name="TextBox 10"/>
          <p:cNvSpPr txBox="1"/>
          <p:nvPr/>
        </p:nvSpPr>
        <p:spPr>
          <a:xfrm>
            <a:off x="548640" y="2057400"/>
            <a:ext cx="5303520" cy="274320"/>
          </a:xfrm>
          <a:prstGeom prst="rect">
            <a:avLst/>
          </a:prstGeom>
          <a:noFill/>
        </p:spPr>
        <p:txBody>
          <a:bodyPr wrap="square" lIns="0" tIns="0" rIns="0" bIns="0">
            <a:spAutoFit/>
          </a:bodyPr>
          <a:lstStyle/>
          <a:p>
            <a:pPr algn="l"/>
            <a:r>
              <a:rPr sz="1000" b="1" i="0">
                <a:solidFill>
                  <a:srgbClr val="16A34A"/>
                </a:solidFill>
                <a:latin typeface="Montserrat"/>
              </a:rPr>
              <a:t>QUÉ SE HIZO</a:t>
            </a:r>
          </a:p>
        </p:txBody>
      </p:sp>
      <p:sp>
        <p:nvSpPr>
          <p:cNvPr id="12" name="TextBox 11"/>
          <p:cNvSpPr txBox="1"/>
          <p:nvPr/>
        </p:nvSpPr>
        <p:spPr>
          <a:xfrm>
            <a:off x="548640" y="2423160"/>
            <a:ext cx="5303520" cy="2011680"/>
          </a:xfrm>
          <a:prstGeom prst="rect">
            <a:avLst/>
          </a:prstGeom>
          <a:noFill/>
        </p:spPr>
        <p:txBody>
          <a:bodyPr wrap="square" lIns="0" tIns="0" rIns="0" bIns="0">
            <a:spAutoFit/>
          </a:bodyPr>
          <a:lstStyle/>
          <a:p>
            <a:pPr algn="l"/>
            <a:r>
              <a:rPr sz="1200" b="0" i="0">
                <a:solidFill>
                  <a:srgbClr val="2D3748"/>
                </a:solidFill>
                <a:latin typeface="Montserrat"/>
              </a:rPr>
              <a:t>Integración del CAPTCHA invisible de Cloudflare (Turnstile) como alternativa a reCAPTCHA de Google. Sin tracking, sin cookies third-party, mejor experiencia de usuario (no hay que seleccionar imágenes).</a:t>
            </a:r>
          </a:p>
          <a:p>
            <a:pPr algn="l">
              <a:spcBef>
                <a:spcPts val="600"/>
              </a:spcBef>
              <a:spcAft>
                <a:spcPts val="0"/>
              </a:spcAft>
            </a:pPr>
            <a:r>
              <a:rPr sz="1200" b="0" i="0">
                <a:solidFill>
                  <a:srgbClr val="2D3748"/>
                </a:solidFill>
                <a:latin typeface="Montserrat"/>
              </a:rPr>
              <a:t>Aplicado en cuatro formularios sensibles: login del cliente, registro de cliente, login de admin (staff) y formulario de contacto/cotización personalizada.</a:t>
            </a:r>
          </a:p>
          <a:p>
            <a:pPr algn="l">
              <a:spcBef>
                <a:spcPts val="600"/>
              </a:spcBef>
              <a:spcAft>
                <a:spcPts val="0"/>
              </a:spcAft>
            </a:pPr>
            <a:r>
              <a:rPr sz="1200" b="0" i="0">
                <a:solidFill>
                  <a:srgbClr val="2D3748"/>
                </a:solidFill>
                <a:latin typeface="Montserrat"/>
              </a:rPr>
              <a:t>Verificación server-side con fail-open silencioso: si Cloudflare está caído o no hay site key configurado, las peticiones pasan sin bloquear logins legítimos. Cada bloqueo legítimo queda auditado.</a:t>
            </a:r>
          </a:p>
        </p:txBody>
      </p:sp>
      <p:sp>
        <p:nvSpPr>
          <p:cNvPr id="13" name="Rounded Rectangle 12"/>
          <p:cNvSpPr/>
          <p:nvPr/>
        </p:nvSpPr>
        <p:spPr>
          <a:xfrm>
            <a:off x="548640" y="4686300"/>
            <a:ext cx="5303520" cy="1970532"/>
          </a:xfrm>
          <a:prstGeom prst="roundRect">
            <a:avLst>
              <a:gd name="adj" fmla="val 4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00600"/>
            <a:ext cx="4937760" cy="138499"/>
          </a:xfrm>
          <a:prstGeom prst="rect">
            <a:avLst/>
          </a:prstGeom>
          <a:noFill/>
        </p:spPr>
        <p:txBody>
          <a:bodyPr wrap="square" lIns="0" tIns="0" rIns="0" bIns="0">
            <a:spAutoFit/>
          </a:bodyPr>
          <a:lstStyle/>
          <a:p>
            <a:pPr algn="l"/>
            <a:r>
              <a:rPr sz="900" b="1" i="0" dirty="0">
                <a:solidFill>
                  <a:srgbClr val="16A34A"/>
                </a:solidFill>
                <a:latin typeface="Montserrat"/>
              </a:rPr>
              <a:t>DECISIONES NOTABLES</a:t>
            </a:r>
          </a:p>
        </p:txBody>
      </p:sp>
      <p:sp>
        <p:nvSpPr>
          <p:cNvPr id="15" name="TextBox 14"/>
          <p:cNvSpPr txBox="1"/>
          <p:nvPr/>
        </p:nvSpPr>
        <p:spPr>
          <a:xfrm>
            <a:off x="731520" y="4937760"/>
            <a:ext cx="4937760" cy="1691640"/>
          </a:xfrm>
          <a:prstGeom prst="rect">
            <a:avLst/>
          </a:prstGeom>
          <a:noFill/>
        </p:spPr>
        <p:txBody>
          <a:bodyPr wrap="square">
            <a:spAutoFit/>
          </a:bodyPr>
          <a:lstStyle/>
          <a:p>
            <a:pPr algn="l"/>
            <a:r>
              <a:rPr sz="1100" b="1" dirty="0">
                <a:solidFill>
                  <a:srgbClr val="16A34A"/>
                </a:solidFill>
                <a:latin typeface="Montserrat"/>
              </a:rPr>
              <a:t>•  </a:t>
            </a:r>
            <a:r>
              <a:rPr sz="1100" dirty="0">
                <a:solidFill>
                  <a:srgbClr val="2D3748"/>
                </a:solidFill>
                <a:latin typeface="Montserrat"/>
              </a:rPr>
              <a:t>Turnstile </a:t>
            </a:r>
            <a:r>
              <a:rPr sz="1100" dirty="0" err="1">
                <a:solidFill>
                  <a:srgbClr val="2D3748"/>
                </a:solidFill>
                <a:latin typeface="Montserrat"/>
              </a:rPr>
              <a:t>sobre</a:t>
            </a:r>
            <a:r>
              <a:rPr sz="1100" dirty="0">
                <a:solidFill>
                  <a:srgbClr val="2D3748"/>
                </a:solidFill>
                <a:latin typeface="Montserrat"/>
              </a:rPr>
              <a:t> reCAPTCHA: sin tracking de Google, sin cookies third-party, UX </a:t>
            </a:r>
            <a:r>
              <a:rPr sz="1100" dirty="0" err="1">
                <a:solidFill>
                  <a:srgbClr val="2D3748"/>
                </a:solidFill>
                <a:latin typeface="Montserrat"/>
              </a:rPr>
              <a:t>más</a:t>
            </a:r>
            <a:r>
              <a:rPr sz="1100" dirty="0">
                <a:solidFill>
                  <a:srgbClr val="2D3748"/>
                </a:solidFill>
                <a:latin typeface="Montserrat"/>
              </a:rPr>
              <a:t> </a:t>
            </a:r>
            <a:r>
              <a:rPr sz="1100" dirty="0" err="1">
                <a:solidFill>
                  <a:srgbClr val="2D3748"/>
                </a:solidFill>
                <a:latin typeface="Montserrat"/>
              </a:rPr>
              <a:t>fluida</a:t>
            </a:r>
            <a:r>
              <a:rPr sz="1100" dirty="0">
                <a:solidFill>
                  <a:srgbClr val="2D3748"/>
                </a:solidFill>
                <a:latin typeface="Montserrat"/>
              </a:rPr>
              <a:t>.</a:t>
            </a:r>
          </a:p>
          <a:p>
            <a:pPr algn="l">
              <a:spcBef>
                <a:spcPts val="800"/>
              </a:spcBef>
            </a:pPr>
            <a:r>
              <a:rPr sz="1100" b="1" dirty="0">
                <a:solidFill>
                  <a:srgbClr val="16A34A"/>
                </a:solidFill>
                <a:latin typeface="Montserrat"/>
              </a:rPr>
              <a:t>•  </a:t>
            </a:r>
            <a:r>
              <a:rPr sz="1100" dirty="0">
                <a:solidFill>
                  <a:srgbClr val="2D3748"/>
                </a:solidFill>
                <a:latin typeface="Montserrat"/>
              </a:rPr>
              <a:t>Site key </a:t>
            </a:r>
            <a:r>
              <a:rPr sz="1100" dirty="0" err="1">
                <a:solidFill>
                  <a:srgbClr val="2D3748"/>
                </a:solidFill>
                <a:latin typeface="Montserrat"/>
              </a:rPr>
              <a:t>como</a:t>
            </a:r>
            <a:r>
              <a:rPr sz="1100" dirty="0">
                <a:solidFill>
                  <a:srgbClr val="2D3748"/>
                </a:solidFill>
                <a:latin typeface="Montserrat"/>
              </a:rPr>
              <a:t> prop </a:t>
            </a:r>
            <a:r>
              <a:rPr sz="1100" dirty="0" err="1">
                <a:solidFill>
                  <a:srgbClr val="2D3748"/>
                </a:solidFill>
                <a:latin typeface="Montserrat"/>
              </a:rPr>
              <a:t>en</a:t>
            </a:r>
            <a:r>
              <a:rPr sz="1100" dirty="0">
                <a:solidFill>
                  <a:srgbClr val="2D3748"/>
                </a:solidFill>
                <a:latin typeface="Montserrat"/>
              </a:rPr>
              <a:t> server component: Next no </a:t>
            </a:r>
            <a:r>
              <a:rPr sz="1100" dirty="0" err="1">
                <a:solidFill>
                  <a:srgbClr val="2D3748"/>
                </a:solidFill>
                <a:latin typeface="Montserrat"/>
              </a:rPr>
              <a:t>expone</a:t>
            </a:r>
            <a:r>
              <a:rPr sz="1100" dirty="0">
                <a:solidFill>
                  <a:srgbClr val="2D3748"/>
                </a:solidFill>
                <a:latin typeface="Montserrat"/>
              </a:rPr>
              <a:t> NEXT_PUBLIC_* </a:t>
            </a:r>
            <a:r>
              <a:rPr sz="1100" dirty="0" err="1">
                <a:solidFill>
                  <a:srgbClr val="2D3748"/>
                </a:solidFill>
                <a:latin typeface="Montserrat"/>
              </a:rPr>
              <a:t>en</a:t>
            </a:r>
            <a:r>
              <a:rPr sz="1100" dirty="0">
                <a:solidFill>
                  <a:srgbClr val="2D3748"/>
                </a:solidFill>
                <a:latin typeface="Montserrat"/>
              </a:rPr>
              <a:t> runtime, solo </a:t>
            </a:r>
            <a:r>
              <a:rPr sz="1100" dirty="0" err="1">
                <a:solidFill>
                  <a:srgbClr val="2D3748"/>
                </a:solidFill>
                <a:latin typeface="Montserrat"/>
              </a:rPr>
              <a:t>en</a:t>
            </a:r>
            <a:r>
              <a:rPr sz="1100" dirty="0">
                <a:solidFill>
                  <a:srgbClr val="2D3748"/>
                </a:solidFill>
                <a:latin typeface="Montserrat"/>
              </a:rPr>
              <a:t> build.</a:t>
            </a:r>
          </a:p>
          <a:p>
            <a:pPr algn="l">
              <a:spcBef>
                <a:spcPts val="800"/>
              </a:spcBef>
            </a:pPr>
            <a:r>
              <a:rPr sz="1100" b="1" dirty="0">
                <a:solidFill>
                  <a:srgbClr val="16A34A"/>
                </a:solidFill>
                <a:latin typeface="Montserrat"/>
              </a:rPr>
              <a:t>•  </a:t>
            </a:r>
            <a:r>
              <a:rPr sz="1100" dirty="0">
                <a:solidFill>
                  <a:srgbClr val="2D3748"/>
                </a:solidFill>
                <a:latin typeface="Montserrat"/>
              </a:rPr>
              <a:t>Fail-open </a:t>
            </a:r>
            <a:r>
              <a:rPr sz="1100" dirty="0" err="1">
                <a:solidFill>
                  <a:srgbClr val="2D3748"/>
                </a:solidFill>
                <a:latin typeface="Montserrat"/>
              </a:rPr>
              <a:t>por</a:t>
            </a:r>
            <a:r>
              <a:rPr sz="1100" dirty="0">
                <a:solidFill>
                  <a:srgbClr val="2D3748"/>
                </a:solidFill>
                <a:latin typeface="Montserrat"/>
              </a:rPr>
              <a:t> </a:t>
            </a:r>
            <a:r>
              <a:rPr sz="1100" dirty="0" err="1">
                <a:solidFill>
                  <a:srgbClr val="2D3748"/>
                </a:solidFill>
                <a:latin typeface="Montserrat"/>
              </a:rPr>
              <a:t>filosofía</a:t>
            </a:r>
            <a:r>
              <a:rPr sz="1100" dirty="0">
                <a:solidFill>
                  <a:srgbClr val="2D3748"/>
                </a:solidFill>
                <a:latin typeface="Montserrat"/>
              </a:rPr>
              <a:t>: un Cloudflare </a:t>
            </a:r>
            <a:r>
              <a:rPr sz="1100" dirty="0" err="1">
                <a:solidFill>
                  <a:srgbClr val="2D3748"/>
                </a:solidFill>
                <a:latin typeface="Montserrat"/>
              </a:rPr>
              <a:t>caído</a:t>
            </a:r>
            <a:r>
              <a:rPr sz="1100" dirty="0">
                <a:solidFill>
                  <a:srgbClr val="2D3748"/>
                </a:solidFill>
                <a:latin typeface="Montserrat"/>
              </a:rPr>
              <a:t> no </a:t>
            </a:r>
            <a:r>
              <a:rPr sz="1100" dirty="0" err="1">
                <a:solidFill>
                  <a:srgbClr val="2D3748"/>
                </a:solidFill>
                <a:latin typeface="Montserrat"/>
              </a:rPr>
              <a:t>debe</a:t>
            </a:r>
            <a:r>
              <a:rPr sz="1100" dirty="0">
                <a:solidFill>
                  <a:srgbClr val="2D3748"/>
                </a:solidFill>
                <a:latin typeface="Montserrat"/>
              </a:rPr>
              <a:t> </a:t>
            </a:r>
            <a:r>
              <a:rPr sz="1100" dirty="0" err="1">
                <a:solidFill>
                  <a:srgbClr val="2D3748"/>
                </a:solidFill>
                <a:latin typeface="Montserrat"/>
              </a:rPr>
              <a:t>bloquear</a:t>
            </a:r>
            <a:r>
              <a:rPr sz="1100" dirty="0">
                <a:solidFill>
                  <a:srgbClr val="2D3748"/>
                </a:solidFill>
                <a:latin typeface="Montserrat"/>
              </a:rPr>
              <a:t> logins </a:t>
            </a:r>
            <a:r>
              <a:rPr sz="1100" dirty="0" err="1">
                <a:solidFill>
                  <a:srgbClr val="2D3748"/>
                </a:solidFill>
                <a:latin typeface="Montserrat"/>
              </a:rPr>
              <a:t>legítimos</a:t>
            </a:r>
            <a:r>
              <a:rPr sz="1100" dirty="0">
                <a:solidFill>
                  <a:srgbClr val="2D3748"/>
                </a:solidFill>
                <a:latin typeface="Montserrat"/>
              </a:rPr>
              <a:t>.</a:t>
            </a:r>
          </a:p>
        </p:txBody>
      </p:sp>
      <p:sp>
        <p:nvSpPr>
          <p:cNvPr id="16" name="TextBox 15"/>
          <p:cNvSpPr txBox="1"/>
          <p:nvPr/>
        </p:nvSpPr>
        <p:spPr>
          <a:xfrm>
            <a:off x="6126480" y="2057400"/>
            <a:ext cx="5486400" cy="153888"/>
          </a:xfrm>
          <a:prstGeom prst="rect">
            <a:avLst/>
          </a:prstGeom>
          <a:noFill/>
        </p:spPr>
        <p:txBody>
          <a:bodyPr wrap="square" lIns="0" tIns="0" rIns="0" bIns="0">
            <a:spAutoFit/>
          </a:bodyPr>
          <a:lstStyle/>
          <a:p>
            <a:pPr algn="l"/>
            <a:r>
              <a:rPr sz="1000" b="1" i="0" dirty="0">
                <a:solidFill>
                  <a:srgbClr val="16A34A"/>
                </a:solidFill>
                <a:latin typeface="Montserrat"/>
              </a:rPr>
              <a:t>ARCHIVOS DEL CÓDIGO</a:t>
            </a:r>
          </a:p>
        </p:txBody>
      </p:sp>
      <p:graphicFrame>
        <p:nvGraphicFramePr>
          <p:cNvPr id="17" name="Table 16"/>
          <p:cNvGraphicFramePr>
            <a:graphicFrameLocks noGrp="1"/>
          </p:cNvGraphicFramePr>
          <p:nvPr/>
        </p:nvGraphicFramePr>
        <p:xfrm>
          <a:off x="6126480" y="2423160"/>
          <a:ext cx="5486400" cy="24587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274320">
                <a:tc>
                  <a:txBody>
                    <a:bodyPr/>
                    <a:lstStyle/>
                    <a:p>
                      <a:pPr algn="l"/>
                      <a:r>
                        <a:rPr sz="1000" b="1" i="0">
                          <a:solidFill>
                            <a:srgbClr val="FFFFFF"/>
                          </a:solidFill>
                          <a:latin typeface="Montserrat"/>
                        </a:rPr>
                        <a:t>Archivo</a:t>
                      </a:r>
                    </a:p>
                  </a:txBody>
                  <a:tcPr marL="101600" marR="101600" marT="50800" marB="50800">
                    <a:solidFill>
                      <a:srgbClr val="0F172A"/>
                    </a:solidFill>
                  </a:tcPr>
                </a:tc>
                <a:tc>
                  <a:txBody>
                    <a:bodyPr/>
                    <a:lstStyle/>
                    <a:p>
                      <a:pPr algn="l"/>
                      <a:r>
                        <a:rPr sz="1000" b="1" i="0">
                          <a:solidFill>
                            <a:srgbClr val="FFFFFF"/>
                          </a:solidFill>
                          <a:latin typeface="Montserrat"/>
                        </a:rPr>
                        <a:t>Función</a:t>
                      </a:r>
                    </a:p>
                  </a:txBody>
                  <a:tcPr marL="101600" marR="101600" marT="50800" marB="50800">
                    <a:solidFill>
                      <a:srgbClr val="0F172A"/>
                    </a:solidFill>
                  </a:tcPr>
                </a:tc>
                <a:extLst>
                  <a:ext uri="{0D108BD9-81ED-4DB2-BD59-A6C34878D82A}">
                    <a16:rowId xmlns:a16="http://schemas.microsoft.com/office/drawing/2014/main" val="10000"/>
                  </a:ext>
                </a:extLst>
              </a:tr>
              <a:tr h="274320">
                <a:tc>
                  <a:txBody>
                    <a:bodyPr/>
                    <a:lstStyle/>
                    <a:p>
                      <a:pPr algn="l"/>
                      <a:r>
                        <a:rPr sz="900" b="0" i="0">
                          <a:solidFill>
                            <a:srgbClr val="0F172A"/>
                          </a:solidFill>
                          <a:latin typeface="Consolas"/>
                        </a:rPr>
                        <a:t>lib/turnstile.ts</a:t>
                      </a:r>
                    </a:p>
                  </a:txBody>
                  <a:tcPr marL="101600" marR="101600" marT="50800" marB="50800">
                    <a:solidFill>
                      <a:srgbClr val="FFFFFF"/>
                    </a:solidFill>
                  </a:tcPr>
                </a:tc>
                <a:tc>
                  <a:txBody>
                    <a:bodyPr/>
                    <a:lstStyle/>
                    <a:p>
                      <a:pPr algn="l"/>
                      <a:r>
                        <a:rPr sz="1000" b="0" i="0">
                          <a:solidFill>
                            <a:srgbClr val="2D3748"/>
                          </a:solidFill>
                          <a:latin typeface="Montserrat"/>
                        </a:rPr>
                        <a:t>verifyTurnstile server-side, fail-open por config y por error de red</a:t>
                      </a:r>
                    </a:p>
                  </a:txBody>
                  <a:tcPr marL="101600" marR="101600" marT="50800" marB="50800">
                    <a:solidFill>
                      <a:srgbClr val="FFFFFF"/>
                    </a:solidFill>
                  </a:tcPr>
                </a:tc>
                <a:extLst>
                  <a:ext uri="{0D108BD9-81ED-4DB2-BD59-A6C34878D82A}">
                    <a16:rowId xmlns:a16="http://schemas.microsoft.com/office/drawing/2014/main" val="10001"/>
                  </a:ext>
                </a:extLst>
              </a:tr>
              <a:tr h="274320">
                <a:tc>
                  <a:txBody>
                    <a:bodyPr/>
                    <a:lstStyle/>
                    <a:p>
                      <a:pPr algn="l"/>
                      <a:r>
                        <a:rPr sz="900" b="0" i="0">
                          <a:solidFill>
                            <a:srgbClr val="0F172A"/>
                          </a:solidFill>
                          <a:latin typeface="Consolas"/>
                        </a:rPr>
                        <a:t>components/Turnstile.tsx</a:t>
                      </a:r>
                    </a:p>
                  </a:txBody>
                  <a:tcPr marL="101600" marR="101600" marT="50800" marB="50800">
                    <a:solidFill>
                      <a:srgbClr val="F3F4F6"/>
                    </a:solidFill>
                  </a:tcPr>
                </a:tc>
                <a:tc>
                  <a:txBody>
                    <a:bodyPr/>
                    <a:lstStyle/>
                    <a:p>
                      <a:pPr algn="l"/>
                      <a:r>
                        <a:rPr sz="1000" b="0" i="0">
                          <a:solidFill>
                            <a:srgbClr val="2D3748"/>
                          </a:solidFill>
                          <a:latin typeface="Montserrat"/>
                        </a:rPr>
                        <a:t>Widget cliente, recibe sitekey como prop</a:t>
                      </a:r>
                    </a:p>
                  </a:txBody>
                  <a:tcPr marL="101600" marR="101600" marT="50800" marB="50800">
                    <a:solidFill>
                      <a:srgbClr val="F3F4F6"/>
                    </a:solidFill>
                  </a:tcPr>
                </a:tc>
                <a:extLst>
                  <a:ext uri="{0D108BD9-81ED-4DB2-BD59-A6C34878D82A}">
                    <a16:rowId xmlns:a16="http://schemas.microsoft.com/office/drawing/2014/main" val="10002"/>
                  </a:ext>
                </a:extLst>
              </a:tr>
              <a:tr h="274320">
                <a:tc>
                  <a:txBody>
                    <a:bodyPr/>
                    <a:lstStyle/>
                    <a:p>
                      <a:pPr algn="l"/>
                      <a:r>
                        <a:rPr sz="900" b="0" i="0">
                          <a:solidFill>
                            <a:srgbClr val="0F172A"/>
                          </a:solidFill>
                          <a:latin typeface="Consolas"/>
                        </a:rPr>
                        <a:t>app/(auth)/login/page.tsx</a:t>
                      </a:r>
                    </a:p>
                  </a:txBody>
                  <a:tcPr marL="101600" marR="101600" marT="50800" marB="50800">
                    <a:solidFill>
                      <a:srgbClr val="FFFFFF"/>
                    </a:solidFill>
                  </a:tcPr>
                </a:tc>
                <a:tc>
                  <a:txBody>
                    <a:bodyPr/>
                    <a:lstStyle/>
                    <a:p>
                      <a:pPr algn="l"/>
                      <a:r>
                        <a:rPr sz="1000" b="0" i="0">
                          <a:solidFill>
                            <a:srgbClr val="2D3748"/>
                          </a:solidFill>
                          <a:latin typeface="Montserrat"/>
                        </a:rPr>
                        <a:t>Form de login cliente con Turnstile</a:t>
                      </a:r>
                    </a:p>
                  </a:txBody>
                  <a:tcPr marL="101600" marR="101600" marT="50800" marB="50800">
                    <a:solidFill>
                      <a:srgbClr val="FFFFFF"/>
                    </a:solidFill>
                  </a:tcPr>
                </a:tc>
                <a:extLst>
                  <a:ext uri="{0D108BD9-81ED-4DB2-BD59-A6C34878D82A}">
                    <a16:rowId xmlns:a16="http://schemas.microsoft.com/office/drawing/2014/main" val="10003"/>
                  </a:ext>
                </a:extLst>
              </a:tr>
              <a:tr h="274320">
                <a:tc>
                  <a:txBody>
                    <a:bodyPr/>
                    <a:lstStyle/>
                    <a:p>
                      <a:pPr algn="l"/>
                      <a:r>
                        <a:rPr sz="900" b="0" i="0">
                          <a:solidFill>
                            <a:srgbClr val="0F172A"/>
                          </a:solidFill>
                          <a:latin typeface="Consolas"/>
                        </a:rPr>
                        <a:t>app/(auth)/register/page.tsx</a:t>
                      </a:r>
                    </a:p>
                  </a:txBody>
                  <a:tcPr marL="101600" marR="101600" marT="50800" marB="50800">
                    <a:solidFill>
                      <a:srgbClr val="F3F4F6"/>
                    </a:solidFill>
                  </a:tcPr>
                </a:tc>
                <a:tc>
                  <a:txBody>
                    <a:bodyPr/>
                    <a:lstStyle/>
                    <a:p>
                      <a:pPr algn="l"/>
                      <a:r>
                        <a:rPr sz="1000" b="0" i="0">
                          <a:solidFill>
                            <a:srgbClr val="2D3748"/>
                          </a:solidFill>
                          <a:latin typeface="Montserrat"/>
                        </a:rPr>
                        <a:t>Form de registro con Turnstile</a:t>
                      </a:r>
                    </a:p>
                  </a:txBody>
                  <a:tcPr marL="101600" marR="101600" marT="50800" marB="50800">
                    <a:solidFill>
                      <a:srgbClr val="F3F4F6"/>
                    </a:solidFill>
                  </a:tcPr>
                </a:tc>
                <a:extLst>
                  <a:ext uri="{0D108BD9-81ED-4DB2-BD59-A6C34878D82A}">
                    <a16:rowId xmlns:a16="http://schemas.microsoft.com/office/drawing/2014/main" val="10004"/>
                  </a:ext>
                </a:extLst>
              </a:tr>
              <a:tr h="274320">
                <a:tc>
                  <a:txBody>
                    <a:bodyPr/>
                    <a:lstStyle/>
                    <a:p>
                      <a:pPr algn="l"/>
                      <a:r>
                        <a:rPr sz="900" b="0" i="0">
                          <a:solidFill>
                            <a:srgbClr val="0F172A"/>
                          </a:solidFill>
                          <a:latin typeface="Consolas"/>
                        </a:rPr>
                        <a:t>app/(auth)/admin-login/page.tsx</a:t>
                      </a:r>
                    </a:p>
                  </a:txBody>
                  <a:tcPr marL="101600" marR="101600" marT="50800" marB="50800">
                    <a:solidFill>
                      <a:srgbClr val="FFFFFF"/>
                    </a:solidFill>
                  </a:tcPr>
                </a:tc>
                <a:tc>
                  <a:txBody>
                    <a:bodyPr/>
                    <a:lstStyle/>
                    <a:p>
                      <a:pPr algn="l"/>
                      <a:r>
                        <a:rPr sz="1000" b="0" i="0">
                          <a:solidFill>
                            <a:srgbClr val="2D3748"/>
                          </a:solidFill>
                          <a:latin typeface="Montserrat"/>
                        </a:rPr>
                        <a:t>Form de login staff con Turnstile</a:t>
                      </a:r>
                    </a:p>
                  </a:txBody>
                  <a:tcPr marL="101600" marR="101600" marT="50800" marB="50800">
                    <a:solidFill>
                      <a:srgbClr val="FFFFFF"/>
                    </a:solidFill>
                  </a:tcPr>
                </a:tc>
                <a:extLst>
                  <a:ext uri="{0D108BD9-81ED-4DB2-BD59-A6C34878D82A}">
                    <a16:rowId xmlns:a16="http://schemas.microsoft.com/office/drawing/2014/main" val="10005"/>
                  </a:ext>
                </a:extLst>
              </a:tr>
              <a:tr h="274320">
                <a:tc>
                  <a:txBody>
                    <a:bodyPr/>
                    <a:lstStyle/>
                    <a:p>
                      <a:pPr algn="l"/>
                      <a:r>
                        <a:rPr sz="900" b="0" i="0">
                          <a:solidFill>
                            <a:srgbClr val="0F172A"/>
                          </a:solidFill>
                          <a:latin typeface="Consolas"/>
                        </a:rPr>
                        <a:t>app/contacto-custom/page.tsx</a:t>
                      </a:r>
                    </a:p>
                  </a:txBody>
                  <a:tcPr marL="101600" marR="101600" marT="50800" marB="50800">
                    <a:solidFill>
                      <a:srgbClr val="F3F4F6"/>
                    </a:solidFill>
                  </a:tcPr>
                </a:tc>
                <a:tc>
                  <a:txBody>
                    <a:bodyPr/>
                    <a:lstStyle/>
                    <a:p>
                      <a:pPr algn="l"/>
                      <a:r>
                        <a:rPr sz="1000" b="0" i="0">
                          <a:solidFill>
                            <a:srgbClr val="2D3748"/>
                          </a:solidFill>
                          <a:latin typeface="Montserrat"/>
                        </a:rPr>
                        <a:t>Form de cotización con dynamic = force-dynamic</a:t>
                      </a:r>
                    </a:p>
                  </a:txBody>
                  <a:tcPr marL="101600" marR="101600" marT="50800" marB="50800">
                    <a:solidFill>
                      <a:srgbClr val="F3F4F6"/>
                    </a:solidFill>
                  </a:tcPr>
                </a:tc>
                <a:extLst>
                  <a:ext uri="{0D108BD9-81ED-4DB2-BD59-A6C34878D82A}">
                    <a16:rowId xmlns:a16="http://schemas.microsoft.com/office/drawing/2014/main" val="10006"/>
                  </a:ext>
                </a:extLst>
              </a:tr>
              <a:tr h="274320">
                <a:tc>
                  <a:txBody>
                    <a:bodyPr/>
                    <a:lstStyle/>
                    <a:p>
                      <a:pPr algn="l"/>
                      <a:r>
                        <a:rPr sz="900" b="0" i="0">
                          <a:solidFill>
                            <a:srgbClr val="0F172A"/>
                          </a:solidFill>
                          <a:latin typeface="Consolas"/>
                        </a:rPr>
                        <a:t>app/contacto-custom/form.tsx</a:t>
                      </a:r>
                    </a:p>
                  </a:txBody>
                  <a:tcPr marL="101600" marR="101600" marT="50800" marB="50800">
                    <a:solidFill>
                      <a:srgbClr val="FFFFFF"/>
                    </a:solidFill>
                  </a:tcPr>
                </a:tc>
                <a:tc>
                  <a:txBody>
                    <a:bodyPr/>
                    <a:lstStyle/>
                    <a:p>
                      <a:pPr algn="l"/>
                      <a:r>
                        <a:rPr sz="1000" b="0" i="0">
                          <a:solidFill>
                            <a:srgbClr val="2D3748"/>
                          </a:solidFill>
                          <a:latin typeface="Montserrat"/>
                        </a:rPr>
                        <a:t>Client form que renderiza el widget</a:t>
                      </a:r>
                    </a:p>
                  </a:txBody>
                  <a:tcPr marL="101600" marR="101600" marT="50800" marB="50800">
                    <a:solidFill>
                      <a:srgbClr val="FFFFFF"/>
                    </a:solidFill>
                  </a:tcPr>
                </a:tc>
                <a:extLst>
                  <a:ext uri="{0D108BD9-81ED-4DB2-BD59-A6C34878D82A}">
                    <a16:rowId xmlns:a16="http://schemas.microsoft.com/office/drawing/2014/main" val="10007"/>
                  </a:ext>
                </a:extLst>
              </a:tr>
            </a:tbl>
          </a:graphicData>
        </a:graphic>
      </p:graphicFrame>
      <p:pic>
        <p:nvPicPr>
          <p:cNvPr id="21" name="Imagen 20">
            <a:extLst>
              <a:ext uri="{FF2B5EF4-FFF2-40B4-BE49-F238E27FC236}">
                <a16:creationId xmlns:a16="http://schemas.microsoft.com/office/drawing/2014/main" id="{9F1B25C9-2ACF-63E7-9BDD-0EEF9CBB74AC}"/>
              </a:ext>
            </a:extLst>
          </p:cNvPr>
          <p:cNvPicPr>
            <a:picLocks noChangeAspect="1"/>
          </p:cNvPicPr>
          <p:nvPr/>
        </p:nvPicPr>
        <p:blipFill>
          <a:blip r:embed="rId2"/>
          <a:stretch>
            <a:fillRect/>
          </a:stretch>
        </p:blipFill>
        <p:spPr>
          <a:xfrm>
            <a:off x="7181712" y="4971080"/>
            <a:ext cx="1027531" cy="1804601"/>
          </a:xfrm>
          <a:prstGeom prst="rect">
            <a:avLst/>
          </a:prstGeom>
        </p:spPr>
      </p:pic>
      <p:pic>
        <p:nvPicPr>
          <p:cNvPr id="23" name="Imagen 22">
            <a:extLst>
              <a:ext uri="{FF2B5EF4-FFF2-40B4-BE49-F238E27FC236}">
                <a16:creationId xmlns:a16="http://schemas.microsoft.com/office/drawing/2014/main" id="{C4F655BC-7C9C-E3D1-B623-B4875CF149A9}"/>
              </a:ext>
            </a:extLst>
          </p:cNvPr>
          <p:cNvPicPr>
            <a:picLocks noChangeAspect="1"/>
          </p:cNvPicPr>
          <p:nvPr/>
        </p:nvPicPr>
        <p:blipFill>
          <a:blip r:embed="rId3"/>
          <a:stretch>
            <a:fillRect/>
          </a:stretch>
        </p:blipFill>
        <p:spPr>
          <a:xfrm>
            <a:off x="9923946" y="4967639"/>
            <a:ext cx="1019393" cy="18046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01168"/>
            <a:ext cx="1828800" cy="320040"/>
          </a:xfrm>
          <a:prstGeom prst="rect">
            <a:avLst/>
          </a:prstGeom>
          <a:noFill/>
        </p:spPr>
        <p:txBody>
          <a:bodyPr wrap="square" lIns="0" tIns="0" rIns="0" bIns="0">
            <a:spAutoFit/>
          </a:bodyPr>
          <a:lstStyle/>
          <a:p>
            <a:pPr algn="l"/>
            <a:r>
              <a:rPr sz="1100" b="1" i="0">
                <a:solidFill>
                  <a:srgbClr val="0F172A"/>
                </a:solidFill>
                <a:latin typeface="Montserrat"/>
              </a:rPr>
              <a:t>JOINFY</a:t>
            </a:r>
          </a:p>
        </p:txBody>
      </p:sp>
      <p:sp>
        <p:nvSpPr>
          <p:cNvPr id="5" name="TextBox 4"/>
          <p:cNvSpPr txBox="1"/>
          <p:nvPr/>
        </p:nvSpPr>
        <p:spPr>
          <a:xfrm>
            <a:off x="5242255" y="201168"/>
            <a:ext cx="6400800" cy="320040"/>
          </a:xfrm>
          <a:prstGeom prst="rect">
            <a:avLst/>
          </a:prstGeom>
          <a:noFill/>
        </p:spPr>
        <p:txBody>
          <a:bodyPr wrap="square" lIns="0" tIns="0" rIns="0" bIns="0">
            <a:spAutoFit/>
          </a:bodyPr>
          <a:lstStyle/>
          <a:p>
            <a:pPr algn="r"/>
            <a:r>
              <a:rPr sz="1000" b="0" i="0">
                <a:solidFill>
                  <a:srgbClr val="6B7280"/>
                </a:solidFill>
                <a:latin typeface="Montserrat"/>
              </a:rPr>
              <a:t>Actividad 1.3 — Lanzamiento, branding y compliance</a:t>
            </a:r>
          </a:p>
        </p:txBody>
      </p:sp>
      <p:sp>
        <p:nvSpPr>
          <p:cNvPr id="7" name="TextBox 6"/>
          <p:cNvSpPr txBox="1"/>
          <p:nvPr/>
        </p:nvSpPr>
        <p:spPr>
          <a:xfrm>
            <a:off x="548640" y="594360"/>
            <a:ext cx="1828800" cy="274320"/>
          </a:xfrm>
          <a:prstGeom prst="rect">
            <a:avLst/>
          </a:prstGeom>
          <a:noFill/>
        </p:spPr>
        <p:txBody>
          <a:bodyPr wrap="square" lIns="0" tIns="0" rIns="0" bIns="0">
            <a:spAutoFit/>
          </a:bodyPr>
          <a:lstStyle/>
          <a:p>
            <a:pPr algn="l"/>
            <a:r>
              <a:rPr sz="1000" b="1" i="0">
                <a:solidFill>
                  <a:srgbClr val="16A34A"/>
                </a:solidFill>
                <a:latin typeface="Montserrat"/>
              </a:rPr>
              <a:t>1.3.5</a:t>
            </a:r>
          </a:p>
        </p:txBody>
      </p:sp>
      <p:sp>
        <p:nvSpPr>
          <p:cNvPr id="8" name="TextBox 7"/>
          <p:cNvSpPr txBox="1"/>
          <p:nvPr/>
        </p:nvSpPr>
        <p:spPr>
          <a:xfrm>
            <a:off x="548640" y="841248"/>
            <a:ext cx="10972800" cy="338554"/>
          </a:xfrm>
          <a:prstGeom prst="rect">
            <a:avLst/>
          </a:prstGeom>
          <a:noFill/>
        </p:spPr>
        <p:txBody>
          <a:bodyPr wrap="square" lIns="0" tIns="0" rIns="0" bIns="0">
            <a:spAutoFit/>
          </a:bodyPr>
          <a:lstStyle/>
          <a:p>
            <a:pPr algn="l"/>
            <a:r>
              <a:rPr sz="2200" b="1" i="0" dirty="0">
                <a:solidFill>
                  <a:srgbClr val="0F172A"/>
                </a:solidFill>
                <a:latin typeface="Montserrat"/>
              </a:rPr>
              <a:t>Compliance legal  Click-wrap T&amp;C + </a:t>
            </a:r>
            <a:r>
              <a:rPr sz="2200" b="1" i="0" dirty="0" err="1">
                <a:solidFill>
                  <a:srgbClr val="0F172A"/>
                </a:solidFill>
                <a:latin typeface="Montserrat"/>
              </a:rPr>
              <a:t>privacidad</a:t>
            </a:r>
            <a:r>
              <a:rPr sz="2200" b="1" i="0" dirty="0">
                <a:solidFill>
                  <a:srgbClr val="0F172A"/>
                </a:solidFill>
                <a:latin typeface="Montserrat"/>
              </a:rPr>
              <a:t> + </a:t>
            </a:r>
            <a:r>
              <a:rPr sz="2200" b="1" i="0" dirty="0" err="1">
                <a:solidFill>
                  <a:srgbClr val="0F172A"/>
                </a:solidFill>
                <a:latin typeface="Montserrat"/>
              </a:rPr>
              <a:t>licencia</a:t>
            </a:r>
            <a:r>
              <a:rPr sz="2200" b="1" i="0" dirty="0">
                <a:solidFill>
                  <a:srgbClr val="0F172A"/>
                </a:solidFill>
                <a:latin typeface="Montserrat"/>
              </a:rPr>
              <a:t> de </a:t>
            </a:r>
            <a:r>
              <a:rPr sz="2200" b="1" i="0" dirty="0" err="1">
                <a:solidFill>
                  <a:srgbClr val="0F172A"/>
                </a:solidFill>
                <a:latin typeface="Montserrat"/>
              </a:rPr>
              <a:t>imágenes</a:t>
            </a:r>
            <a:endParaRPr sz="2200" b="1" i="0" dirty="0">
              <a:solidFill>
                <a:srgbClr val="0F172A"/>
              </a:solidFill>
              <a:latin typeface="Montserrat"/>
            </a:endParaRPr>
          </a:p>
        </p:txBody>
      </p:sp>
      <p:sp>
        <p:nvSpPr>
          <p:cNvPr id="9" name="TextBox 8"/>
          <p:cNvSpPr txBox="1"/>
          <p:nvPr/>
        </p:nvSpPr>
        <p:spPr>
          <a:xfrm>
            <a:off x="548640" y="1417320"/>
            <a:ext cx="10972800" cy="365760"/>
          </a:xfrm>
          <a:prstGeom prst="rect">
            <a:avLst/>
          </a:prstGeom>
          <a:noFill/>
        </p:spPr>
        <p:txBody>
          <a:bodyPr wrap="square" lIns="0" tIns="0" rIns="0" bIns="0">
            <a:spAutoFit/>
          </a:bodyPr>
          <a:lstStyle/>
          <a:p>
            <a:pPr algn="l"/>
            <a:r>
              <a:rPr sz="1200" b="0" i="1">
                <a:solidFill>
                  <a:srgbClr val="6B7280"/>
                </a:solidFill>
                <a:latin typeface="Montserrat"/>
              </a:rPr>
              <a:t>Aceptación obligatoria de Términos y Aviso de Privacidad. Auditoría con IP, User-Agent y versión.</a:t>
            </a:r>
          </a:p>
        </p:txBody>
      </p:sp>
      <p:sp>
        <p:nvSpPr>
          <p:cNvPr id="11" name="TextBox 10"/>
          <p:cNvSpPr txBox="1"/>
          <p:nvPr/>
        </p:nvSpPr>
        <p:spPr>
          <a:xfrm>
            <a:off x="548640" y="2057400"/>
            <a:ext cx="5303520" cy="274320"/>
          </a:xfrm>
          <a:prstGeom prst="rect">
            <a:avLst/>
          </a:prstGeom>
          <a:noFill/>
        </p:spPr>
        <p:txBody>
          <a:bodyPr wrap="square" lIns="0" tIns="0" rIns="0" bIns="0">
            <a:spAutoFit/>
          </a:bodyPr>
          <a:lstStyle/>
          <a:p>
            <a:pPr algn="l"/>
            <a:r>
              <a:rPr sz="1000" b="1" i="0">
                <a:solidFill>
                  <a:srgbClr val="16A34A"/>
                </a:solidFill>
                <a:latin typeface="Montserrat"/>
              </a:rPr>
              <a:t>QUÉ SE HIZO</a:t>
            </a:r>
          </a:p>
        </p:txBody>
      </p:sp>
      <p:sp>
        <p:nvSpPr>
          <p:cNvPr id="12" name="TextBox 11"/>
          <p:cNvSpPr txBox="1"/>
          <p:nvPr/>
        </p:nvSpPr>
        <p:spPr>
          <a:xfrm>
            <a:off x="548640" y="2423160"/>
            <a:ext cx="5303520" cy="2011680"/>
          </a:xfrm>
          <a:prstGeom prst="rect">
            <a:avLst/>
          </a:prstGeom>
          <a:noFill/>
        </p:spPr>
        <p:txBody>
          <a:bodyPr wrap="square" lIns="0" tIns="0" rIns="0" bIns="0">
            <a:spAutoFit/>
          </a:bodyPr>
          <a:lstStyle/>
          <a:p>
            <a:pPr algn="l"/>
            <a:r>
              <a:rPr sz="1200" b="0" i="0" dirty="0" err="1">
                <a:solidFill>
                  <a:srgbClr val="2D3748"/>
                </a:solidFill>
                <a:latin typeface="Montserrat"/>
              </a:rPr>
              <a:t>Aceptación</a:t>
            </a:r>
            <a:r>
              <a:rPr sz="1200" b="0" i="0" dirty="0">
                <a:solidFill>
                  <a:srgbClr val="2D3748"/>
                </a:solidFill>
                <a:latin typeface="Montserrat"/>
              </a:rPr>
              <a:t> click-wrap (checkbox </a:t>
            </a:r>
            <a:r>
              <a:rPr sz="1200" b="0" i="0" dirty="0" err="1">
                <a:solidFill>
                  <a:srgbClr val="2D3748"/>
                </a:solidFill>
                <a:latin typeface="Montserrat"/>
              </a:rPr>
              <a:t>obligatorio</a:t>
            </a:r>
            <a:r>
              <a:rPr sz="1200" b="0" i="0" dirty="0">
                <a:solidFill>
                  <a:srgbClr val="2D3748"/>
                </a:solidFill>
                <a:latin typeface="Montserrat"/>
              </a:rPr>
              <a:t> antes de </a:t>
            </a:r>
            <a:r>
              <a:rPr sz="1200" b="0" i="0" dirty="0" err="1">
                <a:solidFill>
                  <a:srgbClr val="2D3748"/>
                </a:solidFill>
                <a:latin typeface="Montserrat"/>
              </a:rPr>
              <a:t>publicar</a:t>
            </a:r>
            <a:r>
              <a:rPr sz="1200" b="0" i="0" dirty="0">
                <a:solidFill>
                  <a:srgbClr val="2D3748"/>
                </a:solidFill>
                <a:latin typeface="Montserrat"/>
              </a:rPr>
              <a:t>) de </a:t>
            </a:r>
            <a:r>
              <a:rPr sz="1200" b="0" i="0" dirty="0" err="1">
                <a:solidFill>
                  <a:srgbClr val="2D3748"/>
                </a:solidFill>
                <a:latin typeface="Montserrat"/>
              </a:rPr>
              <a:t>los</a:t>
            </a:r>
            <a:r>
              <a:rPr sz="1200" b="0" i="0" dirty="0">
                <a:solidFill>
                  <a:srgbClr val="2D3748"/>
                </a:solidFill>
                <a:latin typeface="Montserrat"/>
              </a:rPr>
              <a:t> </a:t>
            </a:r>
            <a:r>
              <a:rPr sz="1200" b="0" i="0" dirty="0" err="1">
                <a:solidFill>
                  <a:srgbClr val="2D3748"/>
                </a:solidFill>
                <a:latin typeface="Montserrat"/>
              </a:rPr>
              <a:t>Términos</a:t>
            </a:r>
            <a:r>
              <a:rPr sz="1200" b="0" i="0" dirty="0">
                <a:solidFill>
                  <a:srgbClr val="2D3748"/>
                </a:solidFill>
                <a:latin typeface="Montserrat"/>
              </a:rPr>
              <a:t> y </a:t>
            </a:r>
            <a:r>
              <a:rPr sz="1200" b="0" i="0" dirty="0" err="1">
                <a:solidFill>
                  <a:srgbClr val="2D3748"/>
                </a:solidFill>
                <a:latin typeface="Montserrat"/>
              </a:rPr>
              <a:t>Condiciones</a:t>
            </a:r>
            <a:r>
              <a:rPr sz="1200" b="0" i="0" dirty="0">
                <a:solidFill>
                  <a:srgbClr val="2D3748"/>
                </a:solidFill>
                <a:latin typeface="Montserrat"/>
              </a:rPr>
              <a:t> y de la Política de </a:t>
            </a:r>
            <a:r>
              <a:rPr sz="1200" b="0" i="0" dirty="0" err="1">
                <a:solidFill>
                  <a:srgbClr val="2D3748"/>
                </a:solidFill>
                <a:latin typeface="Montserrat"/>
              </a:rPr>
              <a:t>Privacidad</a:t>
            </a:r>
            <a:r>
              <a:rPr sz="1200" b="0" i="0" dirty="0">
                <a:solidFill>
                  <a:srgbClr val="2D3748"/>
                </a:solidFill>
                <a:latin typeface="Montserrat"/>
              </a:rPr>
              <a:t>. Sin </a:t>
            </a:r>
            <a:r>
              <a:rPr sz="1200" b="0" i="0" dirty="0" err="1">
                <a:solidFill>
                  <a:srgbClr val="2D3748"/>
                </a:solidFill>
                <a:latin typeface="Montserrat"/>
              </a:rPr>
              <a:t>marcar</a:t>
            </a:r>
            <a:r>
              <a:rPr sz="1200" b="0" i="0" dirty="0">
                <a:solidFill>
                  <a:srgbClr val="2D3748"/>
                </a:solidFill>
                <a:latin typeface="Montserrat"/>
              </a:rPr>
              <a:t> ambas </a:t>
            </a:r>
            <a:r>
              <a:rPr sz="1200" b="0" i="0" dirty="0" err="1">
                <a:solidFill>
                  <a:srgbClr val="2D3748"/>
                </a:solidFill>
                <a:latin typeface="Montserrat"/>
              </a:rPr>
              <a:t>casillas</a:t>
            </a:r>
            <a:r>
              <a:rPr sz="1200" b="0" i="0" dirty="0">
                <a:solidFill>
                  <a:srgbClr val="2D3748"/>
                </a:solidFill>
                <a:latin typeface="Montserrat"/>
              </a:rPr>
              <a:t> no se </a:t>
            </a:r>
            <a:r>
              <a:rPr sz="1200" b="0" i="0" dirty="0" err="1">
                <a:solidFill>
                  <a:srgbClr val="2D3748"/>
                </a:solidFill>
                <a:latin typeface="Montserrat"/>
              </a:rPr>
              <a:t>puede</a:t>
            </a:r>
            <a:r>
              <a:rPr sz="1200" b="0" i="0" dirty="0">
                <a:solidFill>
                  <a:srgbClr val="2D3748"/>
                </a:solidFill>
                <a:latin typeface="Montserrat"/>
              </a:rPr>
              <a:t> </a:t>
            </a:r>
            <a:r>
              <a:rPr sz="1200" b="0" i="0" dirty="0" err="1">
                <a:solidFill>
                  <a:srgbClr val="2D3748"/>
                </a:solidFill>
                <a:latin typeface="Montserrat"/>
              </a:rPr>
              <a:t>publicar</a:t>
            </a:r>
            <a:r>
              <a:rPr sz="1200" b="0" i="0" dirty="0">
                <a:solidFill>
                  <a:srgbClr val="2D3748"/>
                </a:solidFill>
                <a:latin typeface="Montserrat"/>
              </a:rPr>
              <a:t> la </a:t>
            </a:r>
            <a:r>
              <a:rPr sz="1200" b="0" i="0" dirty="0" err="1">
                <a:solidFill>
                  <a:srgbClr val="2D3748"/>
                </a:solidFill>
                <a:latin typeface="Montserrat"/>
              </a:rPr>
              <a:t>invitación</a:t>
            </a:r>
            <a:r>
              <a:rPr sz="1200" b="0" i="0" dirty="0">
                <a:solidFill>
                  <a:srgbClr val="2D3748"/>
                </a:solidFill>
                <a:latin typeface="Montserrat"/>
              </a:rPr>
              <a:t>.</a:t>
            </a:r>
          </a:p>
          <a:p>
            <a:pPr algn="l">
              <a:spcBef>
                <a:spcPts val="600"/>
              </a:spcBef>
              <a:spcAft>
                <a:spcPts val="0"/>
              </a:spcAft>
            </a:pPr>
            <a:r>
              <a:rPr sz="1200" b="0" i="0" dirty="0">
                <a:solidFill>
                  <a:srgbClr val="2D3748"/>
                </a:solidFill>
                <a:latin typeface="Montserrat"/>
              </a:rPr>
              <a:t>La </a:t>
            </a:r>
            <a:r>
              <a:rPr sz="1200" b="0" i="0" dirty="0" err="1">
                <a:solidFill>
                  <a:srgbClr val="2D3748"/>
                </a:solidFill>
                <a:latin typeface="Montserrat"/>
              </a:rPr>
              <a:t>privacidad</a:t>
            </a:r>
            <a:r>
              <a:rPr sz="1200" b="0" i="0" dirty="0">
                <a:solidFill>
                  <a:srgbClr val="2D3748"/>
                </a:solidFill>
                <a:latin typeface="Montserrat"/>
              </a:rPr>
              <a:t> </a:t>
            </a:r>
            <a:r>
              <a:rPr sz="1200" b="0" i="0" dirty="0" err="1">
                <a:solidFill>
                  <a:srgbClr val="2D3748"/>
                </a:solidFill>
                <a:latin typeface="Montserrat"/>
              </a:rPr>
              <a:t>incluye</a:t>
            </a:r>
            <a:r>
              <a:rPr sz="1200" b="0" i="0" dirty="0">
                <a:solidFill>
                  <a:srgbClr val="2D3748"/>
                </a:solidFill>
                <a:latin typeface="Montserrat"/>
              </a:rPr>
              <a:t> </a:t>
            </a:r>
            <a:r>
              <a:rPr sz="1200" b="0" i="0" dirty="0" err="1">
                <a:solidFill>
                  <a:srgbClr val="2D3748"/>
                </a:solidFill>
                <a:latin typeface="Montserrat"/>
              </a:rPr>
              <a:t>explícitamente</a:t>
            </a:r>
            <a:r>
              <a:rPr sz="1200" b="0" i="0" dirty="0">
                <a:solidFill>
                  <a:srgbClr val="2D3748"/>
                </a:solidFill>
                <a:latin typeface="Montserrat"/>
              </a:rPr>
              <a:t> </a:t>
            </a:r>
            <a:r>
              <a:rPr sz="1200" b="0" i="0" dirty="0" err="1">
                <a:solidFill>
                  <a:srgbClr val="2D3748"/>
                </a:solidFill>
                <a:latin typeface="Montserrat"/>
              </a:rPr>
              <a:t>una</a:t>
            </a:r>
            <a:r>
              <a:rPr sz="1200" b="0" i="0" dirty="0">
                <a:solidFill>
                  <a:srgbClr val="2D3748"/>
                </a:solidFill>
                <a:latin typeface="Montserrat"/>
              </a:rPr>
              <a:t> </a:t>
            </a:r>
            <a:r>
              <a:rPr sz="1200" b="0" i="0" dirty="0" err="1">
                <a:solidFill>
                  <a:srgbClr val="2D3748"/>
                </a:solidFill>
                <a:latin typeface="Montserrat"/>
              </a:rPr>
              <a:t>licencia</a:t>
            </a:r>
            <a:r>
              <a:rPr sz="1200" b="0" i="0" dirty="0">
                <a:solidFill>
                  <a:srgbClr val="2D3748"/>
                </a:solidFill>
                <a:latin typeface="Montserrat"/>
              </a:rPr>
              <a:t> para que </a:t>
            </a:r>
            <a:r>
              <a:rPr sz="1200" b="0" i="0" dirty="0" err="1">
                <a:solidFill>
                  <a:srgbClr val="2D3748"/>
                </a:solidFill>
                <a:latin typeface="Montserrat"/>
              </a:rPr>
              <a:t>Joinfy</a:t>
            </a:r>
            <a:r>
              <a:rPr sz="1200" b="0" i="0" dirty="0">
                <a:solidFill>
                  <a:srgbClr val="2D3748"/>
                </a:solidFill>
                <a:latin typeface="Montserrat"/>
              </a:rPr>
              <a:t> use la imagen del </a:t>
            </a:r>
            <a:r>
              <a:rPr sz="1200" b="0" i="0" dirty="0" err="1">
                <a:solidFill>
                  <a:srgbClr val="2D3748"/>
                </a:solidFill>
                <a:latin typeface="Montserrat"/>
              </a:rPr>
              <a:t>evento</a:t>
            </a:r>
            <a:r>
              <a:rPr sz="1200" b="0" i="0" dirty="0">
                <a:solidFill>
                  <a:srgbClr val="2D3748"/>
                </a:solidFill>
                <a:latin typeface="Montserrat"/>
              </a:rPr>
              <a:t> </a:t>
            </a:r>
            <a:r>
              <a:rPr sz="1200" b="0" i="0" dirty="0" err="1">
                <a:solidFill>
                  <a:srgbClr val="2D3748"/>
                </a:solidFill>
                <a:latin typeface="Montserrat"/>
              </a:rPr>
              <a:t>publicado</a:t>
            </a:r>
            <a:r>
              <a:rPr sz="1200" b="0" i="0" dirty="0">
                <a:solidFill>
                  <a:srgbClr val="2D3748"/>
                </a:solidFill>
                <a:latin typeface="Montserrat"/>
              </a:rPr>
              <a:t> </a:t>
            </a:r>
            <a:r>
              <a:rPr sz="1200" b="0" i="0" dirty="0" err="1">
                <a:solidFill>
                  <a:srgbClr val="2D3748"/>
                </a:solidFill>
                <a:latin typeface="Montserrat"/>
              </a:rPr>
              <a:t>como</a:t>
            </a:r>
            <a:r>
              <a:rPr sz="1200" b="0" i="0" dirty="0">
                <a:solidFill>
                  <a:srgbClr val="2D3748"/>
                </a:solidFill>
                <a:latin typeface="Montserrat"/>
              </a:rPr>
              <a:t> </a:t>
            </a:r>
            <a:r>
              <a:rPr sz="1200" b="0" i="0" dirty="0" err="1">
                <a:solidFill>
                  <a:srgbClr val="2D3748"/>
                </a:solidFill>
                <a:latin typeface="Montserrat"/>
              </a:rPr>
              <a:t>portafolio</a:t>
            </a:r>
            <a:r>
              <a:rPr sz="1200" b="0" i="0" dirty="0">
                <a:solidFill>
                  <a:srgbClr val="2D3748"/>
                </a:solidFill>
                <a:latin typeface="Montserrat"/>
              </a:rPr>
              <a:t> de </a:t>
            </a:r>
            <a:r>
              <a:rPr sz="1200" b="0" i="0" dirty="0" err="1">
                <a:solidFill>
                  <a:srgbClr val="2D3748"/>
                </a:solidFill>
                <a:latin typeface="Montserrat"/>
              </a:rPr>
              <a:t>catálogo</a:t>
            </a:r>
            <a:r>
              <a:rPr sz="1200" b="0" i="0" dirty="0">
                <a:solidFill>
                  <a:srgbClr val="2D3748"/>
                </a:solidFill>
                <a:latin typeface="Montserrat"/>
              </a:rPr>
              <a:t> (</a:t>
            </a:r>
            <a:r>
              <a:rPr sz="1200" b="0" i="0" dirty="0" err="1">
                <a:solidFill>
                  <a:srgbClr val="2D3748"/>
                </a:solidFill>
                <a:latin typeface="Montserrat"/>
              </a:rPr>
              <a:t>legalmente</a:t>
            </a:r>
            <a:r>
              <a:rPr sz="1200" b="0" i="0" dirty="0">
                <a:solidFill>
                  <a:srgbClr val="2D3748"/>
                </a:solidFill>
                <a:latin typeface="Montserrat"/>
              </a:rPr>
              <a:t> </a:t>
            </a:r>
            <a:r>
              <a:rPr sz="1200" b="0" i="0" dirty="0" err="1">
                <a:solidFill>
                  <a:srgbClr val="2D3748"/>
                </a:solidFill>
                <a:latin typeface="Montserrat"/>
              </a:rPr>
              <a:t>blindado</a:t>
            </a:r>
            <a:r>
              <a:rPr sz="1200" b="0" i="0" dirty="0">
                <a:solidFill>
                  <a:srgbClr val="2D3748"/>
                </a:solidFill>
                <a:latin typeface="Montserrat"/>
              </a:rPr>
              <a:t> para usar </a:t>
            </a:r>
            <a:r>
              <a:rPr sz="1200" b="0" i="0" dirty="0" err="1">
                <a:solidFill>
                  <a:srgbClr val="2D3748"/>
                </a:solidFill>
                <a:latin typeface="Montserrat"/>
              </a:rPr>
              <a:t>fotos</a:t>
            </a:r>
            <a:r>
              <a:rPr sz="1200" b="0" i="0" dirty="0">
                <a:solidFill>
                  <a:srgbClr val="2D3748"/>
                </a:solidFill>
                <a:latin typeface="Montserrat"/>
              </a:rPr>
              <a:t> </a:t>
            </a:r>
            <a:r>
              <a:rPr sz="1200" b="0" i="0" dirty="0" err="1">
                <a:solidFill>
                  <a:srgbClr val="2D3748"/>
                </a:solidFill>
                <a:latin typeface="Montserrat"/>
              </a:rPr>
              <a:t>reales</a:t>
            </a:r>
            <a:r>
              <a:rPr sz="1200" b="0" i="0" dirty="0">
                <a:solidFill>
                  <a:srgbClr val="2D3748"/>
                </a:solidFill>
                <a:latin typeface="Montserrat"/>
              </a:rPr>
              <a:t> </a:t>
            </a:r>
            <a:r>
              <a:rPr sz="1200" b="0" i="0" dirty="0" err="1">
                <a:solidFill>
                  <a:srgbClr val="2D3748"/>
                </a:solidFill>
                <a:latin typeface="Montserrat"/>
              </a:rPr>
              <a:t>en</a:t>
            </a:r>
            <a:r>
              <a:rPr sz="1200" b="0" i="0" dirty="0">
                <a:solidFill>
                  <a:srgbClr val="2D3748"/>
                </a:solidFill>
                <a:latin typeface="Montserrat"/>
              </a:rPr>
              <a:t> marketing).</a:t>
            </a:r>
          </a:p>
          <a:p>
            <a:pPr algn="l">
              <a:spcBef>
                <a:spcPts val="600"/>
              </a:spcBef>
              <a:spcAft>
                <a:spcPts val="0"/>
              </a:spcAft>
            </a:pPr>
            <a:r>
              <a:rPr sz="1200" b="0" i="0" dirty="0" err="1">
                <a:solidFill>
                  <a:srgbClr val="2D3748"/>
                </a:solidFill>
                <a:latin typeface="Montserrat"/>
              </a:rPr>
              <a:t>Cada</a:t>
            </a:r>
            <a:r>
              <a:rPr sz="1200" b="0" i="0" dirty="0">
                <a:solidFill>
                  <a:srgbClr val="2D3748"/>
                </a:solidFill>
                <a:latin typeface="Montserrat"/>
              </a:rPr>
              <a:t> </a:t>
            </a:r>
            <a:r>
              <a:rPr sz="1200" b="0" i="0" dirty="0" err="1">
                <a:solidFill>
                  <a:srgbClr val="2D3748"/>
                </a:solidFill>
                <a:latin typeface="Montserrat"/>
              </a:rPr>
              <a:t>aceptación</a:t>
            </a:r>
            <a:r>
              <a:rPr sz="1200" b="0" i="0" dirty="0">
                <a:solidFill>
                  <a:srgbClr val="2D3748"/>
                </a:solidFill>
                <a:latin typeface="Montserrat"/>
              </a:rPr>
              <a:t> se </a:t>
            </a:r>
            <a:r>
              <a:rPr sz="1200" b="0" i="0" dirty="0" err="1">
                <a:solidFill>
                  <a:srgbClr val="2D3748"/>
                </a:solidFill>
                <a:latin typeface="Montserrat"/>
              </a:rPr>
              <a:t>registra</a:t>
            </a:r>
            <a:r>
              <a:rPr sz="1200" b="0" i="0" dirty="0">
                <a:solidFill>
                  <a:srgbClr val="2D3748"/>
                </a:solidFill>
                <a:latin typeface="Montserrat"/>
              </a:rPr>
              <a:t> </a:t>
            </a:r>
            <a:r>
              <a:rPr sz="1200" b="0" i="0" dirty="0" err="1">
                <a:solidFill>
                  <a:srgbClr val="2D3748"/>
                </a:solidFill>
                <a:latin typeface="Montserrat"/>
              </a:rPr>
              <a:t>en</a:t>
            </a:r>
            <a:r>
              <a:rPr sz="1200" b="0" i="0" dirty="0">
                <a:solidFill>
                  <a:srgbClr val="2D3748"/>
                </a:solidFill>
                <a:latin typeface="Montserrat"/>
              </a:rPr>
              <a:t> base de </a:t>
            </a:r>
            <a:r>
              <a:rPr sz="1200" b="0" i="0" dirty="0" err="1">
                <a:solidFill>
                  <a:srgbClr val="2D3748"/>
                </a:solidFill>
                <a:latin typeface="Montserrat"/>
              </a:rPr>
              <a:t>datos</a:t>
            </a:r>
            <a:r>
              <a:rPr sz="1200" b="0" i="0" dirty="0">
                <a:solidFill>
                  <a:srgbClr val="2D3748"/>
                </a:solidFill>
                <a:latin typeface="Montserrat"/>
              </a:rPr>
              <a:t> con timestamp, </a:t>
            </a:r>
            <a:r>
              <a:rPr sz="1200" b="0" i="0" dirty="0" err="1">
                <a:solidFill>
                  <a:srgbClr val="2D3748"/>
                </a:solidFill>
                <a:latin typeface="Montserrat"/>
              </a:rPr>
              <a:t>dirección</a:t>
            </a:r>
            <a:r>
              <a:rPr sz="1200" b="0" i="0" dirty="0">
                <a:solidFill>
                  <a:srgbClr val="2D3748"/>
                </a:solidFill>
                <a:latin typeface="Montserrat"/>
              </a:rPr>
              <a:t> IP, User-Agent del </a:t>
            </a:r>
            <a:r>
              <a:rPr sz="1200" b="0" i="0" dirty="0" err="1">
                <a:solidFill>
                  <a:srgbClr val="2D3748"/>
                </a:solidFill>
                <a:latin typeface="Montserrat"/>
              </a:rPr>
              <a:t>navegador</a:t>
            </a:r>
            <a:r>
              <a:rPr sz="1200" b="0" i="0" dirty="0">
                <a:solidFill>
                  <a:srgbClr val="2D3748"/>
                </a:solidFill>
                <a:latin typeface="Montserrat"/>
              </a:rPr>
              <a:t> y </a:t>
            </a:r>
            <a:r>
              <a:rPr sz="1200" b="0" i="0" dirty="0" err="1">
                <a:solidFill>
                  <a:srgbClr val="2D3748"/>
                </a:solidFill>
                <a:latin typeface="Montserrat"/>
              </a:rPr>
              <a:t>versión</a:t>
            </a:r>
            <a:r>
              <a:rPr sz="1200" b="0" i="0" dirty="0">
                <a:solidFill>
                  <a:srgbClr val="2D3748"/>
                </a:solidFill>
                <a:latin typeface="Montserrat"/>
              </a:rPr>
              <a:t> del </a:t>
            </a:r>
            <a:r>
              <a:rPr sz="1200" b="0" i="0" dirty="0" err="1">
                <a:solidFill>
                  <a:srgbClr val="2D3748"/>
                </a:solidFill>
                <a:latin typeface="Montserrat"/>
              </a:rPr>
              <a:t>documento</a:t>
            </a:r>
            <a:r>
              <a:rPr sz="1200" b="0" i="0" dirty="0">
                <a:solidFill>
                  <a:srgbClr val="2D3748"/>
                </a:solidFill>
                <a:latin typeface="Montserrat"/>
              </a:rPr>
              <a:t> </a:t>
            </a:r>
            <a:r>
              <a:rPr sz="1200" b="0" i="0" dirty="0" err="1">
                <a:solidFill>
                  <a:srgbClr val="2D3748"/>
                </a:solidFill>
                <a:latin typeface="Montserrat"/>
              </a:rPr>
              <a:t>aceptado</a:t>
            </a:r>
            <a:r>
              <a:rPr sz="1200" b="0" i="0" dirty="0">
                <a:solidFill>
                  <a:srgbClr val="2D3748"/>
                </a:solidFill>
                <a:latin typeface="Montserrat"/>
              </a:rPr>
              <a:t>. </a:t>
            </a:r>
            <a:r>
              <a:rPr sz="1200" b="0" i="0" dirty="0" err="1">
                <a:solidFill>
                  <a:srgbClr val="2D3748"/>
                </a:solidFill>
                <a:latin typeface="Montserrat"/>
              </a:rPr>
              <a:t>Cuando</a:t>
            </a:r>
            <a:r>
              <a:rPr sz="1200" b="0" i="0" dirty="0">
                <a:solidFill>
                  <a:srgbClr val="2D3748"/>
                </a:solidFill>
                <a:latin typeface="Montserrat"/>
              </a:rPr>
              <a:t> se </a:t>
            </a:r>
            <a:r>
              <a:rPr sz="1200" b="0" i="0" dirty="0" err="1">
                <a:solidFill>
                  <a:srgbClr val="2D3748"/>
                </a:solidFill>
                <a:latin typeface="Montserrat"/>
              </a:rPr>
              <a:t>actualiza</a:t>
            </a:r>
            <a:r>
              <a:rPr sz="1200" b="0" i="0" dirty="0">
                <a:solidFill>
                  <a:srgbClr val="2D3748"/>
                </a:solidFill>
                <a:latin typeface="Montserrat"/>
              </a:rPr>
              <a:t> la </a:t>
            </a:r>
            <a:r>
              <a:rPr sz="1200" b="0" i="0" dirty="0" err="1">
                <a:solidFill>
                  <a:srgbClr val="2D3748"/>
                </a:solidFill>
                <a:latin typeface="Montserrat"/>
              </a:rPr>
              <a:t>versión</a:t>
            </a:r>
            <a:r>
              <a:rPr sz="1200" b="0" i="0" dirty="0">
                <a:solidFill>
                  <a:srgbClr val="2D3748"/>
                </a:solidFill>
                <a:latin typeface="Montserrat"/>
              </a:rPr>
              <a:t> del </a:t>
            </a:r>
            <a:r>
              <a:rPr sz="1200" b="0" i="0" dirty="0" err="1">
                <a:solidFill>
                  <a:srgbClr val="2D3748"/>
                </a:solidFill>
                <a:latin typeface="Montserrat"/>
              </a:rPr>
              <a:t>documento</a:t>
            </a:r>
            <a:r>
              <a:rPr sz="1200" b="0" i="0" dirty="0">
                <a:solidFill>
                  <a:srgbClr val="2D3748"/>
                </a:solidFill>
                <a:latin typeface="Montserrat"/>
              </a:rPr>
              <a:t>, </a:t>
            </a:r>
            <a:r>
              <a:rPr sz="1200" b="0" i="0" dirty="0" err="1">
                <a:solidFill>
                  <a:srgbClr val="2D3748"/>
                </a:solidFill>
                <a:latin typeface="Montserrat"/>
              </a:rPr>
              <a:t>el</a:t>
            </a:r>
            <a:r>
              <a:rPr sz="1200" b="0" i="0" dirty="0">
                <a:solidFill>
                  <a:srgbClr val="2D3748"/>
                </a:solidFill>
                <a:latin typeface="Montserrat"/>
              </a:rPr>
              <a:t> </a:t>
            </a:r>
            <a:r>
              <a:rPr sz="1200" b="0" i="0" dirty="0" err="1">
                <a:solidFill>
                  <a:srgbClr val="2D3748"/>
                </a:solidFill>
                <a:latin typeface="Montserrat"/>
              </a:rPr>
              <a:t>sistema</a:t>
            </a:r>
            <a:r>
              <a:rPr sz="1200" b="0" i="0" dirty="0">
                <a:solidFill>
                  <a:srgbClr val="2D3748"/>
                </a:solidFill>
                <a:latin typeface="Montserrat"/>
              </a:rPr>
              <a:t> </a:t>
            </a:r>
            <a:r>
              <a:rPr sz="1200" b="0" i="0" dirty="0" err="1">
                <a:solidFill>
                  <a:srgbClr val="2D3748"/>
                </a:solidFill>
                <a:latin typeface="Montserrat"/>
              </a:rPr>
              <a:t>automáticamente</a:t>
            </a:r>
            <a:r>
              <a:rPr sz="1200" b="0" i="0" dirty="0">
                <a:solidFill>
                  <a:srgbClr val="2D3748"/>
                </a:solidFill>
                <a:latin typeface="Montserrat"/>
              </a:rPr>
              <a:t> </a:t>
            </a:r>
            <a:r>
              <a:rPr sz="1200" b="0" i="0" dirty="0" err="1">
                <a:solidFill>
                  <a:srgbClr val="2D3748"/>
                </a:solidFill>
                <a:latin typeface="Montserrat"/>
              </a:rPr>
              <a:t>vuelve</a:t>
            </a:r>
            <a:r>
              <a:rPr sz="1200" b="0" i="0" dirty="0">
                <a:solidFill>
                  <a:srgbClr val="2D3748"/>
                </a:solidFill>
                <a:latin typeface="Montserrat"/>
              </a:rPr>
              <a:t> a </a:t>
            </a:r>
            <a:r>
              <a:rPr sz="1200" b="0" i="0" dirty="0" err="1">
                <a:solidFill>
                  <a:srgbClr val="2D3748"/>
                </a:solidFill>
                <a:latin typeface="Montserrat"/>
              </a:rPr>
              <a:t>pedir</a:t>
            </a:r>
            <a:r>
              <a:rPr sz="1200" b="0" i="0" dirty="0">
                <a:solidFill>
                  <a:srgbClr val="2D3748"/>
                </a:solidFill>
                <a:latin typeface="Montserrat"/>
              </a:rPr>
              <a:t> </a:t>
            </a:r>
            <a:r>
              <a:rPr sz="1200" b="0" i="0" dirty="0" err="1">
                <a:solidFill>
                  <a:srgbClr val="2D3748"/>
                </a:solidFill>
                <a:latin typeface="Montserrat"/>
              </a:rPr>
              <a:t>aceptación</a:t>
            </a:r>
            <a:r>
              <a:rPr sz="1200" b="0" i="0" dirty="0">
                <a:solidFill>
                  <a:srgbClr val="2D3748"/>
                </a:solidFill>
                <a:latin typeface="Montserrat"/>
              </a:rPr>
              <a:t> al </a:t>
            </a:r>
            <a:r>
              <a:rPr sz="1200" b="0" i="0" dirty="0" err="1">
                <a:solidFill>
                  <a:srgbClr val="2D3748"/>
                </a:solidFill>
                <a:latin typeface="Montserrat"/>
              </a:rPr>
              <a:t>siguiente</a:t>
            </a:r>
            <a:r>
              <a:rPr sz="1200" b="0" i="0" dirty="0">
                <a:solidFill>
                  <a:srgbClr val="2D3748"/>
                </a:solidFill>
                <a:latin typeface="Montserrat"/>
              </a:rPr>
              <a:t> publish.</a:t>
            </a:r>
          </a:p>
        </p:txBody>
      </p:sp>
      <p:sp>
        <p:nvSpPr>
          <p:cNvPr id="13" name="Rounded Rectangle 12"/>
          <p:cNvSpPr/>
          <p:nvPr/>
        </p:nvSpPr>
        <p:spPr>
          <a:xfrm>
            <a:off x="548640" y="4617720"/>
            <a:ext cx="5303520" cy="2240280"/>
          </a:xfrm>
          <a:prstGeom prst="roundRect">
            <a:avLst>
              <a:gd name="adj" fmla="val 4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709160"/>
            <a:ext cx="4937760" cy="138499"/>
          </a:xfrm>
          <a:prstGeom prst="rect">
            <a:avLst/>
          </a:prstGeom>
          <a:noFill/>
        </p:spPr>
        <p:txBody>
          <a:bodyPr wrap="square" lIns="0" tIns="0" rIns="0" bIns="0">
            <a:spAutoFit/>
          </a:bodyPr>
          <a:lstStyle/>
          <a:p>
            <a:pPr algn="l"/>
            <a:r>
              <a:rPr sz="900" b="1" i="0" dirty="0">
                <a:solidFill>
                  <a:srgbClr val="16A34A"/>
                </a:solidFill>
                <a:latin typeface="Montserrat"/>
              </a:rPr>
              <a:t>DECISIONES NOTABLES</a:t>
            </a:r>
          </a:p>
        </p:txBody>
      </p:sp>
      <p:sp>
        <p:nvSpPr>
          <p:cNvPr id="15" name="TextBox 14"/>
          <p:cNvSpPr txBox="1"/>
          <p:nvPr/>
        </p:nvSpPr>
        <p:spPr>
          <a:xfrm>
            <a:off x="731520" y="4846320"/>
            <a:ext cx="4937760" cy="1691640"/>
          </a:xfrm>
          <a:prstGeom prst="rect">
            <a:avLst/>
          </a:prstGeom>
          <a:noFill/>
        </p:spPr>
        <p:txBody>
          <a:bodyPr wrap="square">
            <a:spAutoFit/>
          </a:bodyPr>
          <a:lstStyle/>
          <a:p>
            <a:pPr algn="l"/>
            <a:r>
              <a:rPr sz="1100" b="1">
                <a:solidFill>
                  <a:srgbClr val="16A34A"/>
                </a:solidFill>
                <a:latin typeface="Montserrat"/>
              </a:rPr>
              <a:t>•  </a:t>
            </a:r>
            <a:r>
              <a:rPr sz="1100">
                <a:solidFill>
                  <a:srgbClr val="2D3748"/>
                </a:solidFill>
                <a:latin typeface="Montserrat"/>
              </a:rPr>
              <a:t>No deduplicar aceptaciones: cada submit crea fila nueva, historial completo para auditoría legal.</a:t>
            </a:r>
          </a:p>
          <a:p>
            <a:pPr algn="l">
              <a:spcBef>
                <a:spcPts val="800"/>
              </a:spcBef>
            </a:pPr>
            <a:r>
              <a:rPr sz="1100" b="1">
                <a:solidFill>
                  <a:srgbClr val="16A34A"/>
                </a:solidFill>
                <a:latin typeface="Montserrat"/>
              </a:rPr>
              <a:t>•  </a:t>
            </a:r>
            <a:r>
              <a:rPr sz="1100">
                <a:solidFill>
                  <a:srgbClr val="2D3748"/>
                </a:solidFill>
                <a:latin typeface="Montserrat"/>
              </a:rPr>
              <a:t>Versionado por fecha: al actualizar el documento, se re-pide aceptación al siguiente publish.</a:t>
            </a:r>
          </a:p>
          <a:p>
            <a:pPr algn="l">
              <a:spcBef>
                <a:spcPts val="800"/>
              </a:spcBef>
            </a:pPr>
            <a:r>
              <a:rPr sz="1100" b="1">
                <a:solidFill>
                  <a:srgbClr val="16A34A"/>
                </a:solidFill>
                <a:latin typeface="Montserrat"/>
              </a:rPr>
              <a:t>•  </a:t>
            </a:r>
            <a:r>
              <a:rPr sz="1100">
                <a:solidFill>
                  <a:srgbClr val="2D3748"/>
                </a:solidFill>
                <a:latin typeface="Montserrat"/>
              </a:rPr>
              <a:t>Click-wrap separable: T&amp;C y Privacidad como checkboxes individuales, no en bloque.</a:t>
            </a:r>
          </a:p>
        </p:txBody>
      </p:sp>
      <p:sp>
        <p:nvSpPr>
          <p:cNvPr id="16" name="TextBox 15"/>
          <p:cNvSpPr txBox="1"/>
          <p:nvPr/>
        </p:nvSpPr>
        <p:spPr>
          <a:xfrm>
            <a:off x="6126480" y="2057400"/>
            <a:ext cx="5486400" cy="153888"/>
          </a:xfrm>
          <a:prstGeom prst="rect">
            <a:avLst/>
          </a:prstGeom>
          <a:noFill/>
        </p:spPr>
        <p:txBody>
          <a:bodyPr wrap="square" lIns="0" tIns="0" rIns="0" bIns="0">
            <a:spAutoFit/>
          </a:bodyPr>
          <a:lstStyle/>
          <a:p>
            <a:pPr algn="l"/>
            <a:r>
              <a:rPr sz="1000" b="1" i="0" dirty="0">
                <a:solidFill>
                  <a:srgbClr val="16A34A"/>
                </a:solidFill>
                <a:latin typeface="Montserrat"/>
              </a:rPr>
              <a:t>ARCHIVOS DEL CÓDIGO</a:t>
            </a:r>
          </a:p>
        </p:txBody>
      </p:sp>
      <p:graphicFrame>
        <p:nvGraphicFramePr>
          <p:cNvPr id="17" name="Table 16"/>
          <p:cNvGraphicFramePr>
            <a:graphicFrameLocks noGrp="1"/>
          </p:cNvGraphicFramePr>
          <p:nvPr/>
        </p:nvGraphicFramePr>
        <p:xfrm>
          <a:off x="6126480" y="2423160"/>
          <a:ext cx="5486400" cy="36474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199505">
                <a:tc>
                  <a:txBody>
                    <a:bodyPr/>
                    <a:lstStyle/>
                    <a:p>
                      <a:pPr algn="l"/>
                      <a:r>
                        <a:rPr sz="1000" b="1" i="0">
                          <a:solidFill>
                            <a:srgbClr val="FFFFFF"/>
                          </a:solidFill>
                          <a:latin typeface="Montserrat"/>
                        </a:rPr>
                        <a:t>Archivo</a:t>
                      </a:r>
                    </a:p>
                  </a:txBody>
                  <a:tcPr marL="101600" marR="101600" marT="50800" marB="50800">
                    <a:solidFill>
                      <a:srgbClr val="0F172A"/>
                    </a:solidFill>
                  </a:tcPr>
                </a:tc>
                <a:tc>
                  <a:txBody>
                    <a:bodyPr/>
                    <a:lstStyle/>
                    <a:p>
                      <a:pPr algn="l"/>
                      <a:r>
                        <a:rPr sz="1000" b="1" i="0">
                          <a:solidFill>
                            <a:srgbClr val="FFFFFF"/>
                          </a:solidFill>
                          <a:latin typeface="Montserrat"/>
                        </a:rPr>
                        <a:t>Función</a:t>
                      </a:r>
                    </a:p>
                  </a:txBody>
                  <a:tcPr marL="101600" marR="101600" marT="50800" marB="50800">
                    <a:solidFill>
                      <a:srgbClr val="0F172A"/>
                    </a:solidFill>
                  </a:tcPr>
                </a:tc>
                <a:extLst>
                  <a:ext uri="{0D108BD9-81ED-4DB2-BD59-A6C34878D82A}">
                    <a16:rowId xmlns:a16="http://schemas.microsoft.com/office/drawing/2014/main" val="10000"/>
                  </a:ext>
                </a:extLst>
              </a:tr>
              <a:tr h="199505">
                <a:tc>
                  <a:txBody>
                    <a:bodyPr/>
                    <a:lstStyle/>
                    <a:p>
                      <a:pPr algn="l"/>
                      <a:r>
                        <a:rPr sz="900" b="0" i="0">
                          <a:solidFill>
                            <a:srgbClr val="0F172A"/>
                          </a:solidFill>
                          <a:latin typeface="Consolas"/>
                        </a:rPr>
                        <a:t>app/(legal)/terminos/page.tsx</a:t>
                      </a:r>
                    </a:p>
                  </a:txBody>
                  <a:tcPr marL="101600" marR="101600" marT="50800" marB="50800">
                    <a:solidFill>
                      <a:srgbClr val="FFFFFF"/>
                    </a:solidFill>
                  </a:tcPr>
                </a:tc>
                <a:tc>
                  <a:txBody>
                    <a:bodyPr/>
                    <a:lstStyle/>
                    <a:p>
                      <a:pPr algn="l"/>
                      <a:r>
                        <a:rPr sz="1000" b="0" i="0">
                          <a:solidFill>
                            <a:srgbClr val="2D3748"/>
                          </a:solidFill>
                          <a:latin typeface="Montserrat"/>
                        </a:rPr>
                        <a:t>Página pública de Términos y Condiciones</a:t>
                      </a:r>
                    </a:p>
                  </a:txBody>
                  <a:tcPr marL="101600" marR="101600" marT="50800" marB="50800">
                    <a:solidFill>
                      <a:srgbClr val="FFFFFF"/>
                    </a:solidFill>
                  </a:tcPr>
                </a:tc>
                <a:extLst>
                  <a:ext uri="{0D108BD9-81ED-4DB2-BD59-A6C34878D82A}">
                    <a16:rowId xmlns:a16="http://schemas.microsoft.com/office/drawing/2014/main" val="10001"/>
                  </a:ext>
                </a:extLst>
              </a:tr>
              <a:tr h="199505">
                <a:tc>
                  <a:txBody>
                    <a:bodyPr/>
                    <a:lstStyle/>
                    <a:p>
                      <a:pPr algn="l"/>
                      <a:r>
                        <a:rPr sz="900" b="0" i="0">
                          <a:solidFill>
                            <a:srgbClr val="0F172A"/>
                          </a:solidFill>
                          <a:latin typeface="Consolas"/>
                        </a:rPr>
                        <a:t>app/(legal)/privacidad/page.tsx</a:t>
                      </a:r>
                    </a:p>
                  </a:txBody>
                  <a:tcPr marL="101600" marR="101600" marT="50800" marB="50800">
                    <a:solidFill>
                      <a:srgbClr val="F3F4F6"/>
                    </a:solidFill>
                  </a:tcPr>
                </a:tc>
                <a:tc>
                  <a:txBody>
                    <a:bodyPr/>
                    <a:lstStyle/>
                    <a:p>
                      <a:pPr algn="l"/>
                      <a:r>
                        <a:rPr sz="1000" b="0" i="0">
                          <a:solidFill>
                            <a:srgbClr val="2D3748"/>
                          </a:solidFill>
                          <a:latin typeface="Montserrat"/>
                        </a:rPr>
                        <a:t>Página pública de Aviso de Privacidad</a:t>
                      </a:r>
                    </a:p>
                  </a:txBody>
                  <a:tcPr marL="101600" marR="101600" marT="50800" marB="50800">
                    <a:solidFill>
                      <a:srgbClr val="F3F4F6"/>
                    </a:solidFill>
                  </a:tcPr>
                </a:tc>
                <a:extLst>
                  <a:ext uri="{0D108BD9-81ED-4DB2-BD59-A6C34878D82A}">
                    <a16:rowId xmlns:a16="http://schemas.microsoft.com/office/drawing/2014/main" val="10002"/>
                  </a:ext>
                </a:extLst>
              </a:tr>
              <a:tr h="199505">
                <a:tc>
                  <a:txBody>
                    <a:bodyPr/>
                    <a:lstStyle/>
                    <a:p>
                      <a:pPr algn="l"/>
                      <a:r>
                        <a:rPr sz="900" b="0" i="0">
                          <a:solidFill>
                            <a:srgbClr val="0F172A"/>
                          </a:solidFill>
                          <a:latin typeface="Consolas"/>
                        </a:rPr>
                        <a:t>app/(legal)/layout.tsx</a:t>
                      </a:r>
                    </a:p>
                  </a:txBody>
                  <a:tcPr marL="101600" marR="101600" marT="50800" marB="50800">
                    <a:solidFill>
                      <a:srgbClr val="FFFFFF"/>
                    </a:solidFill>
                  </a:tcPr>
                </a:tc>
                <a:tc>
                  <a:txBody>
                    <a:bodyPr/>
                    <a:lstStyle/>
                    <a:p>
                      <a:pPr algn="l"/>
                      <a:r>
                        <a:rPr sz="1000" b="0" i="0">
                          <a:solidFill>
                            <a:srgbClr val="2D3748"/>
                          </a:solidFill>
                          <a:latin typeface="Montserrat"/>
                        </a:rPr>
                        <a:t>Layout compartido (max-w-3xl con prose)</a:t>
                      </a:r>
                    </a:p>
                  </a:txBody>
                  <a:tcPr marL="101600" marR="101600" marT="50800" marB="50800">
                    <a:solidFill>
                      <a:srgbClr val="FFFFFF"/>
                    </a:solidFill>
                  </a:tcPr>
                </a:tc>
                <a:extLst>
                  <a:ext uri="{0D108BD9-81ED-4DB2-BD59-A6C34878D82A}">
                    <a16:rowId xmlns:a16="http://schemas.microsoft.com/office/drawing/2014/main" val="10003"/>
                  </a:ext>
                </a:extLst>
              </a:tr>
              <a:tr h="199505">
                <a:tc>
                  <a:txBody>
                    <a:bodyPr/>
                    <a:lstStyle/>
                    <a:p>
                      <a:pPr algn="l"/>
                      <a:r>
                        <a:rPr sz="900" b="0" i="0">
                          <a:solidFill>
                            <a:srgbClr val="0F172A"/>
                          </a:solidFill>
                          <a:latin typeface="Consolas"/>
                        </a:rPr>
                        <a:t>components/legal/TerminosContent.tsx</a:t>
                      </a:r>
                    </a:p>
                  </a:txBody>
                  <a:tcPr marL="101600" marR="101600" marT="50800" marB="50800">
                    <a:solidFill>
                      <a:srgbClr val="F3F4F6"/>
                    </a:solidFill>
                  </a:tcPr>
                </a:tc>
                <a:tc>
                  <a:txBody>
                    <a:bodyPr/>
                    <a:lstStyle/>
                    <a:p>
                      <a:pPr algn="l"/>
                      <a:r>
                        <a:rPr sz="1000" b="0" i="0">
                          <a:solidFill>
                            <a:srgbClr val="2D3748"/>
                          </a:solidFill>
                          <a:latin typeface="Montserrat"/>
                        </a:rPr>
                        <a:t>Contenido reusable de T&amp;C (página + modal)</a:t>
                      </a:r>
                    </a:p>
                  </a:txBody>
                  <a:tcPr marL="101600" marR="101600" marT="50800" marB="50800">
                    <a:solidFill>
                      <a:srgbClr val="F3F4F6"/>
                    </a:solidFill>
                  </a:tcPr>
                </a:tc>
                <a:extLst>
                  <a:ext uri="{0D108BD9-81ED-4DB2-BD59-A6C34878D82A}">
                    <a16:rowId xmlns:a16="http://schemas.microsoft.com/office/drawing/2014/main" val="10004"/>
                  </a:ext>
                </a:extLst>
              </a:tr>
              <a:tr h="199505">
                <a:tc>
                  <a:txBody>
                    <a:bodyPr/>
                    <a:lstStyle/>
                    <a:p>
                      <a:pPr algn="l"/>
                      <a:r>
                        <a:rPr sz="900" b="0" i="0">
                          <a:solidFill>
                            <a:srgbClr val="0F172A"/>
                          </a:solidFill>
                          <a:latin typeface="Consolas"/>
                        </a:rPr>
                        <a:t>components/legal/PrivacidadContent.tsx</a:t>
                      </a:r>
                    </a:p>
                  </a:txBody>
                  <a:tcPr marL="101600" marR="101600" marT="50800" marB="50800">
                    <a:solidFill>
                      <a:srgbClr val="FFFFFF"/>
                    </a:solidFill>
                  </a:tcPr>
                </a:tc>
                <a:tc>
                  <a:txBody>
                    <a:bodyPr/>
                    <a:lstStyle/>
                    <a:p>
                      <a:pPr algn="l"/>
                      <a:r>
                        <a:rPr sz="1000" b="0" i="0">
                          <a:solidFill>
                            <a:srgbClr val="2D3748"/>
                          </a:solidFill>
                          <a:latin typeface="Montserrat"/>
                        </a:rPr>
                        <a:t>Contenido reusable de Privacidad</a:t>
                      </a:r>
                    </a:p>
                  </a:txBody>
                  <a:tcPr marL="101600" marR="101600" marT="50800" marB="50800">
                    <a:solidFill>
                      <a:srgbClr val="FFFFFF"/>
                    </a:solidFill>
                  </a:tcPr>
                </a:tc>
                <a:extLst>
                  <a:ext uri="{0D108BD9-81ED-4DB2-BD59-A6C34878D82A}">
                    <a16:rowId xmlns:a16="http://schemas.microsoft.com/office/drawing/2014/main" val="10005"/>
                  </a:ext>
                </a:extLst>
              </a:tr>
              <a:tr h="199505">
                <a:tc>
                  <a:txBody>
                    <a:bodyPr/>
                    <a:lstStyle/>
                    <a:p>
                      <a:pPr algn="l"/>
                      <a:r>
                        <a:rPr sz="900" b="0" i="0" dirty="0">
                          <a:solidFill>
                            <a:srgbClr val="0F172A"/>
                          </a:solidFill>
                          <a:latin typeface="Consolas"/>
                        </a:rPr>
                        <a:t>lib/legal-</a:t>
                      </a:r>
                      <a:r>
                        <a:rPr sz="900" b="0" i="0" dirty="0" err="1">
                          <a:solidFill>
                            <a:srgbClr val="0F172A"/>
                          </a:solidFill>
                          <a:latin typeface="Consolas"/>
                        </a:rPr>
                        <a:t>versions.ts</a:t>
                      </a:r>
                      <a:endParaRPr sz="900" b="0" i="0" dirty="0">
                        <a:solidFill>
                          <a:srgbClr val="0F172A"/>
                        </a:solidFill>
                        <a:latin typeface="Consolas"/>
                      </a:endParaRPr>
                    </a:p>
                  </a:txBody>
                  <a:tcPr marL="101600" marR="101600" marT="50800" marB="50800">
                    <a:solidFill>
                      <a:srgbClr val="F3F4F6"/>
                    </a:solidFill>
                  </a:tcPr>
                </a:tc>
                <a:tc>
                  <a:txBody>
                    <a:bodyPr/>
                    <a:lstStyle/>
                    <a:p>
                      <a:pPr algn="l"/>
                      <a:r>
                        <a:rPr sz="1000" b="0" i="0">
                          <a:solidFill>
                            <a:srgbClr val="2D3748"/>
                          </a:solidFill>
                          <a:latin typeface="Montserrat"/>
                        </a:rPr>
                        <a:t>Constantes de versión vigente de T&amp;C y Privacidad</a:t>
                      </a:r>
                    </a:p>
                  </a:txBody>
                  <a:tcPr marL="101600" marR="101600" marT="50800" marB="50800">
                    <a:solidFill>
                      <a:srgbClr val="F3F4F6"/>
                    </a:solidFill>
                  </a:tcPr>
                </a:tc>
                <a:extLst>
                  <a:ext uri="{0D108BD9-81ED-4DB2-BD59-A6C34878D82A}">
                    <a16:rowId xmlns:a16="http://schemas.microsoft.com/office/drawing/2014/main" val="10006"/>
                  </a:ext>
                </a:extLst>
              </a:tr>
              <a:tr h="199505">
                <a:tc>
                  <a:txBody>
                    <a:bodyPr/>
                    <a:lstStyle/>
                    <a:p>
                      <a:pPr algn="l"/>
                      <a:r>
                        <a:rPr sz="900" b="0" i="0">
                          <a:solidFill>
                            <a:srgbClr val="0F172A"/>
                          </a:solidFill>
                          <a:latin typeface="Consolas"/>
                        </a:rPr>
                        <a:t>lib/legal.ts</a:t>
                      </a:r>
                    </a:p>
                  </a:txBody>
                  <a:tcPr marL="101600" marR="101600" marT="50800" marB="50800">
                    <a:solidFill>
                      <a:srgbClr val="FFFFFF"/>
                    </a:solidFill>
                  </a:tcPr>
                </a:tc>
                <a:tc>
                  <a:txBody>
                    <a:bodyPr/>
                    <a:lstStyle/>
                    <a:p>
                      <a:pPr algn="l"/>
                      <a:r>
                        <a:rPr sz="1000" b="0" i="0">
                          <a:solidFill>
                            <a:srgbClr val="2D3748"/>
                          </a:solidFill>
                          <a:latin typeface="Montserrat"/>
                        </a:rPr>
                        <a:t>recordAcceptance, hasAcceptedCurrent</a:t>
                      </a:r>
                    </a:p>
                  </a:txBody>
                  <a:tcPr marL="101600" marR="101600" marT="50800" marB="50800">
                    <a:solidFill>
                      <a:srgbClr val="FFFFFF"/>
                    </a:solidFill>
                  </a:tcPr>
                </a:tc>
                <a:extLst>
                  <a:ext uri="{0D108BD9-81ED-4DB2-BD59-A6C34878D82A}">
                    <a16:rowId xmlns:a16="http://schemas.microsoft.com/office/drawing/2014/main" val="10007"/>
                  </a:ext>
                </a:extLst>
              </a:tr>
              <a:tr h="199505">
                <a:tc>
                  <a:txBody>
                    <a:bodyPr/>
                    <a:lstStyle/>
                    <a:p>
                      <a:pPr algn="l"/>
                      <a:r>
                        <a:rPr sz="900" b="0" i="0">
                          <a:solidFill>
                            <a:srgbClr val="0F172A"/>
                          </a:solidFill>
                          <a:latin typeface="Consolas"/>
                        </a:rPr>
                        <a:t>db/schema/legal.ts</a:t>
                      </a:r>
                    </a:p>
                  </a:txBody>
                  <a:tcPr marL="101600" marR="101600" marT="50800" marB="50800">
                    <a:solidFill>
                      <a:srgbClr val="F3F4F6"/>
                    </a:solidFill>
                  </a:tcPr>
                </a:tc>
                <a:tc>
                  <a:txBody>
                    <a:bodyPr/>
                    <a:lstStyle/>
                    <a:p>
                      <a:pPr algn="l"/>
                      <a:r>
                        <a:rPr sz="1000" b="0" i="0">
                          <a:solidFill>
                            <a:srgbClr val="2D3748"/>
                          </a:solidFill>
                          <a:latin typeface="Montserrat"/>
                        </a:rPr>
                        <a:t>Tabla terms_acceptances (user, kind, version, ip, ua, timestamp)</a:t>
                      </a:r>
                    </a:p>
                  </a:txBody>
                  <a:tcPr marL="101600" marR="101600" marT="50800" marB="50800">
                    <a:solidFill>
                      <a:srgbClr val="F3F4F6"/>
                    </a:solidFill>
                  </a:tcPr>
                </a:tc>
                <a:extLst>
                  <a:ext uri="{0D108BD9-81ED-4DB2-BD59-A6C34878D82A}">
                    <a16:rowId xmlns:a16="http://schemas.microsoft.com/office/drawing/2014/main" val="10008"/>
                  </a:ext>
                </a:extLst>
              </a:tr>
              <a:tr h="199505">
                <a:tc>
                  <a:txBody>
                    <a:bodyPr/>
                    <a:lstStyle/>
                    <a:p>
                      <a:pPr algn="l"/>
                      <a:r>
                        <a:rPr sz="900" b="0" i="0">
                          <a:solidFill>
                            <a:srgbClr val="0F172A"/>
                          </a:solidFill>
                          <a:latin typeface="Consolas"/>
                        </a:rPr>
                        <a:t>db/migrations/0013_terms_acceptances.sql</a:t>
                      </a:r>
                    </a:p>
                  </a:txBody>
                  <a:tcPr marL="101600" marR="101600" marT="50800" marB="50800">
                    <a:solidFill>
                      <a:srgbClr val="FFFFFF"/>
                    </a:solidFill>
                  </a:tcPr>
                </a:tc>
                <a:tc>
                  <a:txBody>
                    <a:bodyPr/>
                    <a:lstStyle/>
                    <a:p>
                      <a:pPr algn="l"/>
                      <a:r>
                        <a:rPr sz="1000" b="0" i="0">
                          <a:solidFill>
                            <a:srgbClr val="2D3748"/>
                          </a:solidFill>
                          <a:latin typeface="Montserrat"/>
                        </a:rPr>
                        <a:t>Crea la tabla de aceptaciones</a:t>
                      </a:r>
                    </a:p>
                  </a:txBody>
                  <a:tcPr marL="101600" marR="101600" marT="50800" marB="50800">
                    <a:solidFill>
                      <a:srgbClr val="FFFFFF"/>
                    </a:solidFill>
                  </a:tcPr>
                </a:tc>
                <a:extLst>
                  <a:ext uri="{0D108BD9-81ED-4DB2-BD59-A6C34878D82A}">
                    <a16:rowId xmlns:a16="http://schemas.microsoft.com/office/drawing/2014/main" val="10009"/>
                  </a:ext>
                </a:extLst>
              </a:tr>
              <a:tr h="199510">
                <a:tc>
                  <a:txBody>
                    <a:bodyPr/>
                    <a:lstStyle/>
                    <a:p>
                      <a:pPr algn="l"/>
                      <a:r>
                        <a:rPr sz="900" b="0" i="0">
                          <a:solidFill>
                            <a:srgbClr val="0F172A"/>
                          </a:solidFill>
                          <a:latin typeface="Consolas"/>
                        </a:rPr>
                        <a:t>components/editor/PublishModal.tsx</a:t>
                      </a:r>
                    </a:p>
                  </a:txBody>
                  <a:tcPr marL="101600" marR="101600" marT="50800" marB="50800">
                    <a:solidFill>
                      <a:srgbClr val="F3F4F6"/>
                    </a:solidFill>
                  </a:tcPr>
                </a:tc>
                <a:tc>
                  <a:txBody>
                    <a:bodyPr/>
                    <a:lstStyle/>
                    <a:p>
                      <a:pPr algn="l"/>
                      <a:r>
                        <a:rPr sz="1000" b="0" i="0" dirty="0">
                          <a:solidFill>
                            <a:srgbClr val="2D3748"/>
                          </a:solidFill>
                          <a:latin typeface="Montserrat"/>
                        </a:rPr>
                        <a:t>Modal de </a:t>
                      </a:r>
                      <a:r>
                        <a:rPr sz="1000" b="0" i="0" dirty="0" err="1">
                          <a:solidFill>
                            <a:srgbClr val="2D3748"/>
                          </a:solidFill>
                          <a:latin typeface="Montserrat"/>
                        </a:rPr>
                        <a:t>publicación</a:t>
                      </a:r>
                      <a:r>
                        <a:rPr sz="1000" b="0" i="0" dirty="0">
                          <a:solidFill>
                            <a:srgbClr val="2D3748"/>
                          </a:solidFill>
                          <a:latin typeface="Montserrat"/>
                        </a:rPr>
                        <a:t> con checkbox </a:t>
                      </a:r>
                      <a:r>
                        <a:rPr sz="1000" b="0" i="0" dirty="0" err="1">
                          <a:solidFill>
                            <a:srgbClr val="2D3748"/>
                          </a:solidFill>
                          <a:latin typeface="Montserrat"/>
                        </a:rPr>
                        <a:t>obligatorio</a:t>
                      </a:r>
                      <a:endParaRPr sz="1000" b="0" i="0" dirty="0">
                        <a:solidFill>
                          <a:srgbClr val="2D3748"/>
                        </a:solidFill>
                        <a:latin typeface="Montserrat"/>
                      </a:endParaRPr>
                    </a:p>
                  </a:txBody>
                  <a:tcPr marL="101600" marR="101600" marT="50800" marB="50800">
                    <a:solidFill>
                      <a:srgbClr val="F3F4F6"/>
                    </a:solidFill>
                  </a:tcPr>
                </a:tc>
                <a:extLst>
                  <a:ext uri="{0D108BD9-81ED-4DB2-BD59-A6C34878D82A}">
                    <a16:rowId xmlns:a16="http://schemas.microsoft.com/office/drawing/2014/main" val="1001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1720</Words>
  <Application>Microsoft Office PowerPoint</Application>
  <PresentationFormat>Panorámica</PresentationFormat>
  <Paragraphs>188</Paragraphs>
  <Slides>7</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vt:i4>
      </vt:variant>
    </vt:vector>
  </HeadingPairs>
  <TitlesOfParts>
    <vt:vector size="15" baseType="lpstr">
      <vt:lpstr>-apple-system</vt:lpstr>
      <vt:lpstr>Aptos</vt:lpstr>
      <vt:lpstr>Arial</vt:lpstr>
      <vt:lpstr>Calibri</vt:lpstr>
      <vt:lpstr>Consolas</vt:lpstr>
      <vt:lpstr>Montserrat</vt:lpstr>
      <vt:lpstr>Montserrat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amaury rokete</cp:lastModifiedBy>
  <cp:revision>3</cp:revision>
  <dcterms:created xsi:type="dcterms:W3CDTF">2013-01-27T09:14:16Z</dcterms:created>
  <dcterms:modified xsi:type="dcterms:W3CDTF">2026-05-04T03:35:34Z</dcterms:modified>
  <cp:category/>
</cp:coreProperties>
</file>