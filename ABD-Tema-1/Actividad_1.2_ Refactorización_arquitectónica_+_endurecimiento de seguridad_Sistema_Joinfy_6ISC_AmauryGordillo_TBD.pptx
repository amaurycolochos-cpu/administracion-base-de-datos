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23AF1-1AB3-4FB1-B04F-88437C9CF4CF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1FA9B-D114-4314-9EC9-F50018E8F9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167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42" y="161054"/>
            <a:ext cx="1462214" cy="1049493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17919" y="118189"/>
            <a:ext cx="2335367" cy="1025585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57523" y="611931"/>
            <a:ext cx="5476955" cy="86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sz="175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sz="175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600" y="1443231"/>
            <a:ext cx="9499600" cy="571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sz="175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sz="175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LENGUAJES Y AUTOMATAS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6001" y="2292789"/>
            <a:ext cx="7431919" cy="787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sz="175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/>
            <a:r>
              <a:rPr lang="es-MX" sz="1600" b="1" i="0" dirty="0">
                <a:effectLst/>
                <a:latin typeface="-apple-system"/>
              </a:rPr>
              <a:t>ACTIVIDAD 1.2 </a:t>
            </a:r>
          </a:p>
          <a:p>
            <a:pPr algn="ctr"/>
            <a:r>
              <a:rPr lang="es-MX" sz="1600" b="1" i="0" dirty="0">
                <a:effectLst/>
                <a:latin typeface="-apple-system"/>
              </a:rPr>
              <a:t> Refactorización arquitectónica + endurecimiento de seguridad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5200" y="3132048"/>
            <a:ext cx="2438400" cy="276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sz="175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1" y="4815858"/>
            <a:ext cx="6096000" cy="571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sz="175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sz="175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8400" y="6089891"/>
            <a:ext cx="8341636" cy="276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sz="175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 DE ABRIL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/>
        </p:nvGraphicFramePr>
        <p:xfrm>
          <a:off x="3657600" y="3803884"/>
          <a:ext cx="5486400" cy="670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NOMBRE DEL ALUMNO</a:t>
                      </a:r>
                    </a:p>
                  </a:txBody>
                  <a:tcPr marL="60960" marR="60960" marT="30480" marB="3048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MATRICULA</a:t>
                      </a:r>
                    </a:p>
                  </a:txBody>
                  <a:tcPr marL="60960" marR="60960" marT="30480" marB="3048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Amaury Jahaziel Gordillo Hernandez</a:t>
                      </a:r>
                    </a:p>
                  </a:txBody>
                  <a:tcPr marL="60960" marR="60960" marT="30480" marB="3048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effectLst/>
                        </a:rPr>
                        <a:t>231260074</a:t>
                      </a:r>
                    </a:p>
                  </a:txBody>
                  <a:tcPr marL="60960" marR="60960" marT="30480" marB="30480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681093"/>
            <a:ext cx="12317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60" tIns="30480" rIns="60960" bIns="3048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8288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Montserrat"/>
              </a:rPr>
              <a:t>Índice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Montserrat"/>
              </a:rPr>
              <a:t>Siete subsecciones que agrupan el sprint completo de robustez técnica.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Montserrat"/>
              </a:rPr>
              <a:t>1.2.1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ontserrat"/>
              </a:rPr>
              <a:t>Refactor arquitectónico — capa de dominio + repositorios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945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Montserrat"/>
              </a:rPr>
              <a:t>Reorganización del código por dominios de negocio + capa de repositorios.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Montserrat"/>
              </a:rPr>
              <a:t>1.2.2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60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ontserrat"/>
              </a:rPr>
              <a:t>Seguridad multi-tenant — Auth, RBAC, auditoría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346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Montserrat"/>
              </a:rPr>
              <a:t>Autenticación de dos pistas (clientes / staff), control de acceso por rol, auditoría completa.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Montserrat"/>
              </a:rPr>
              <a:t>1.2.3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04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ontserrat"/>
              </a:rPr>
              <a:t>Token version + revocación cross-device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747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Montserrat"/>
              </a:rPr>
              <a:t>Invalidación de todas las sesiones de un usuario al cambiar contraseña o por orden de admin.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Montserrat"/>
              </a:rPr>
              <a:t>1.2.4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ontserrat"/>
              </a:rPr>
              <a:t>Rate-limit con 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Montserrat"/>
              </a:rPr>
              <a:t>Protección contra fuerza bruta y abuso en 8 endpoints sensibles. Modo fail-open.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Montserrat"/>
              </a:rPr>
              <a:t>1.2.5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ontserrat"/>
              </a:rPr>
              <a:t>Hardening de URLs y uploads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54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Montserrat"/>
              </a:rPr>
              <a:t>Tokens efímeros HMAC, conversión HEIC, eliminación de metadata EXIF.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66360"/>
            <a:ext cx="9144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 dirty="0">
                <a:solidFill>
                  <a:srgbClr val="16A34A"/>
                </a:solidFill>
                <a:latin typeface="Montserrat"/>
              </a:rPr>
              <a:t>1.2.</a:t>
            </a:r>
            <a:r>
              <a:rPr lang="es-MX" sz="1800" b="1" i="0" dirty="0">
                <a:solidFill>
                  <a:srgbClr val="16A34A"/>
                </a:solidFill>
                <a:latin typeface="Montserrat"/>
              </a:rPr>
              <a:t>6</a:t>
            </a:r>
            <a:endParaRPr sz="1800" b="1" i="0" dirty="0">
              <a:solidFill>
                <a:srgbClr val="16A34A"/>
              </a:solidFill>
              <a:latin typeface="Montserra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54480" y="51663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 err="1">
                <a:solidFill>
                  <a:srgbClr val="0F172A"/>
                </a:solidFill>
                <a:latin typeface="Montserrat"/>
              </a:rPr>
              <a:t>Robustez</a:t>
            </a:r>
            <a:r>
              <a:rPr sz="1300" b="1" i="0" dirty="0">
                <a:solidFill>
                  <a:srgbClr val="0F172A"/>
                </a:solidFill>
                <a:latin typeface="Montserrat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Montserrat"/>
              </a:rPr>
              <a:t>Fase</a:t>
            </a:r>
            <a:r>
              <a:rPr sz="1300" b="1" i="0" dirty="0">
                <a:solidFill>
                  <a:srgbClr val="0F172A"/>
                </a:solidFill>
                <a:latin typeface="Montserrat"/>
              </a:rPr>
              <a:t> 1, 2 y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4406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Montserrat"/>
              </a:rPr>
              <a:t>Trust &amp; Money + Conversión + Operación crítica (autosave, CSV, scanner offline, doble factor).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AA0AB"/>
                </a:solidFill>
                <a:latin typeface="Montserrat"/>
              </a:rP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16A34A"/>
                </a:solidFill>
                <a:latin typeface="Montserrat"/>
              </a:rPr>
              <a:t>1.2.1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ontserrat"/>
              </a:rPr>
              <a:t>Refactor arquitectónico — capa de dominio + repositorios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 err="1">
                <a:solidFill>
                  <a:srgbClr val="6B7280"/>
                </a:solidFill>
                <a:latin typeface="Montserrat"/>
              </a:rPr>
              <a:t>Reorganización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del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código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por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dominios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de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negocio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. Refactor puro: la suite de tests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pasó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intacta.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16A34A"/>
                </a:solidFill>
                <a:latin typeface="Montserrat"/>
              </a:rPr>
              <a:t>QUÉ SE HIZO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5303520" cy="1554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>
                  <a:srgbClr val="2D3748"/>
                </a:solidFill>
                <a:latin typeface="Montserrat"/>
              </a:rPr>
              <a:t>Reorganización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completa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del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código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por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dominios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negocio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(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autenticación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,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eventos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,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pagos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,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mensajería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,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almacenamiento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). Antes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el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schema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vivía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en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un solo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archivo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monolítico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;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ahora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cada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dominio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tiene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su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propia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carpeta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 i="0" dirty="0">
                <a:solidFill>
                  <a:srgbClr val="2D3748"/>
                </a:solidFill>
                <a:latin typeface="Montserrat"/>
              </a:rPr>
              <a:t>Se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introdujo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una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capa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repositorios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que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centraliza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las queries con tenancy enforcement</a:t>
            </a:r>
            <a:r>
              <a:rPr lang="es-MX" sz="1200" b="0" i="0" dirty="0">
                <a:solidFill>
                  <a:srgbClr val="2D3748"/>
                </a:solidFill>
                <a:latin typeface="Montserrat"/>
              </a:rPr>
              <a:t>,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todas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pasan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por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funciones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que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aceptan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el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ID del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usuario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y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filtran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resultados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,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imposible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olvidar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el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filtro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y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exponer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datos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 cruzados entre </a:t>
            </a:r>
            <a:r>
              <a:rPr sz="1200" b="0" i="0" dirty="0" err="1">
                <a:solidFill>
                  <a:srgbClr val="2D3748"/>
                </a:solidFill>
                <a:latin typeface="Montserrat"/>
              </a:rPr>
              <a:t>clientes</a:t>
            </a:r>
            <a:r>
              <a:rPr sz="1200" b="0" i="0" dirty="0">
                <a:solidFill>
                  <a:srgbClr val="2D3748"/>
                </a:solidFill>
                <a:latin typeface="Montserrat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30352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16A34A"/>
                </a:solidFill>
                <a:latin typeface="Montserrat"/>
              </a:rPr>
              <a:t>DECISIONES TÉCNICAS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ontserrat"/>
              </a:rPr>
              <a:t>•  </a:t>
            </a:r>
            <a:r>
              <a:rPr sz="1100">
                <a:solidFill>
                  <a:srgbClr val="2D3748"/>
                </a:solidFill>
                <a:latin typeface="Montserrat"/>
              </a:rPr>
              <a:t>Refactor sin cambio de comportamiento: la suite de tests pasó intacta tras la reorganización.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16A34A"/>
                </a:solidFill>
                <a:latin typeface="Montserrat"/>
              </a:rPr>
              <a:t>•  </a:t>
            </a:r>
            <a:r>
              <a:rPr sz="1100">
                <a:solidFill>
                  <a:srgbClr val="2D3748"/>
                </a:solidFill>
                <a:latin typeface="Montserrat"/>
              </a:rPr>
              <a:t>Repositorios centralizan tenancy: imposible olvidar el filtro por usuario y exponer datos cruzados.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16A34A"/>
                </a:solidFill>
                <a:latin typeface="Montserrat"/>
              </a:rPr>
              <a:t>•  </a:t>
            </a:r>
            <a:r>
              <a:rPr sz="1100">
                <a:solidFill>
                  <a:srgbClr val="2D3748"/>
                </a:solidFill>
                <a:latin typeface="Montserrat"/>
              </a:rPr>
              <a:t>Shims de compatibilidad: archivos viejos quedaron como re-exports para no romper imports.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57400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16A34A"/>
                </a:solidFill>
                <a:latin typeface="Montserrat"/>
              </a:rPr>
              <a:t>ARCHIVOS DEL CÓDIGO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24231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Archivo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Función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db/schema/auth.ts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users, sessions, tokens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db/schema/events.ts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events, guestPasses, entryLogs, tables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db/schema/payments.ts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paymentEvents (Mercado Pago)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db/schema/security.ts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audit_logs, support_contexts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lib/services/payment/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Integración Mercado Pago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lib/services/messaging/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Cliente HTTP del bot WhatsApp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lib/db/repositories/event-repo.ts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Queries de eventos con filtro por owner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lib/db/repositories/guest-repo.ts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Pases, entradas, mesas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AA0AB"/>
                </a:solidFill>
                <a:latin typeface="Montserrat"/>
              </a:rP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1.2.2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 dirty="0" err="1">
                <a:solidFill>
                  <a:srgbClr val="0F172A"/>
                </a:solidFill>
                <a:latin typeface="Montserrat"/>
              </a:rPr>
              <a:t>Seguridad</a:t>
            </a:r>
            <a:r>
              <a:rPr sz="2400" b="1" i="0" dirty="0">
                <a:solidFill>
                  <a:srgbClr val="0F172A"/>
                </a:solidFill>
                <a:latin typeface="Montserrat"/>
              </a:rPr>
              <a:t> multi-tenant — </a:t>
            </a:r>
            <a:r>
              <a:rPr sz="2400" b="1" i="0" dirty="0" err="1">
                <a:solidFill>
                  <a:srgbClr val="0F172A"/>
                </a:solidFill>
                <a:latin typeface="Montserrat"/>
              </a:rPr>
              <a:t>Autenticación</a:t>
            </a:r>
            <a:r>
              <a:rPr sz="2400" b="1" i="0" dirty="0">
                <a:solidFill>
                  <a:srgbClr val="0F172A"/>
                </a:solidFill>
                <a:latin typeface="Montserrat"/>
              </a:rPr>
              <a:t>, control de </a:t>
            </a:r>
            <a:r>
              <a:rPr sz="2400" b="1" i="0" dirty="0" err="1">
                <a:solidFill>
                  <a:srgbClr val="0F172A"/>
                </a:solidFill>
                <a:latin typeface="Montserrat"/>
              </a:rPr>
              <a:t>acceso</a:t>
            </a:r>
            <a:r>
              <a:rPr sz="2400" b="1" i="0" dirty="0">
                <a:solidFill>
                  <a:srgbClr val="0F172A"/>
                </a:solidFill>
                <a:latin typeface="Montserrat"/>
              </a:rPr>
              <a:t> y </a:t>
            </a:r>
            <a:r>
              <a:rPr sz="2400" b="1" i="0" dirty="0" err="1">
                <a:solidFill>
                  <a:srgbClr val="0F172A"/>
                </a:solidFill>
                <a:latin typeface="Montserrat"/>
              </a:rPr>
              <a:t>auditoría</a:t>
            </a:r>
            <a:endParaRPr sz="2400" b="1" i="0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65049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>
                <a:solidFill>
                  <a:srgbClr val="6B7280"/>
                </a:solidFill>
                <a:latin typeface="Montserrat"/>
              </a:rPr>
              <a:t>Sistema de dos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pistas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(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clientes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con WhatsApp, staff con email), control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por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rol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y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auditoría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completa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QUÉ SE HIZO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53035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Montserrat"/>
              </a:rPr>
              <a:t>Construcción del sistema de autenticación de dos pistas: clientes con teléfono más código de un solo uso por WhatsApp; staff con email más password.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2D3748"/>
                </a:solidFill>
                <a:latin typeface="Montserrat"/>
              </a:rPr>
              <a:t>Control de acceso por rol (RBAC) con cuatro niveles: owner, admin, editor, scanner. Auditoría completa de más de 40 tipos de eventos sensibles, captura automática de IP y User-Agent. Suite de tests para todos los flujos.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30352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16A34A"/>
                </a:solidFill>
                <a:latin typeface="Montserrat"/>
              </a:rPr>
              <a:t>DECISIONES NOTABLES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6A34A"/>
                </a:solidFill>
                <a:latin typeface="Montserrat"/>
              </a:rPr>
              <a:t>• 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Auditoría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fire-and-forget: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nunca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lanza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excepciones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—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fallos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no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tumban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la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operación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principal.</a:t>
            </a:r>
          </a:p>
          <a:p>
            <a:pPr algn="l">
              <a:spcBef>
                <a:spcPts val="800"/>
              </a:spcBef>
            </a:pPr>
            <a:r>
              <a:rPr sz="1100" b="1" dirty="0">
                <a:solidFill>
                  <a:srgbClr val="16A34A"/>
                </a:solidFill>
                <a:latin typeface="Montserrat"/>
              </a:rPr>
              <a:t>•  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Más de 40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tipos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eventos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auditados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(login,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cambio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 password,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modificación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,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registro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 entrada).</a:t>
            </a:r>
          </a:p>
          <a:p>
            <a:pPr algn="l">
              <a:spcBef>
                <a:spcPts val="800"/>
              </a:spcBef>
            </a:pPr>
            <a:r>
              <a:rPr sz="1100" b="1" dirty="0">
                <a:solidFill>
                  <a:srgbClr val="16A34A"/>
                </a:solidFill>
                <a:latin typeface="Montserrat"/>
              </a:rPr>
              <a:t>• 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Separación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estricta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pistas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: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ruta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/panel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rechaza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staff y /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superadmin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rechaza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clientes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57400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16A34A"/>
                </a:solidFill>
                <a:latin typeface="Montserrat"/>
              </a:rPr>
              <a:t>ARCHIVOS DEL CÓDIGO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2423160"/>
          <a:ext cx="54864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Archivo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Función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lib/auth/dal.ts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Guards: requireSession, requireStaff, requireOwner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lib/auth/permissions.ts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RBAC con roles owner/admin/editor/scanner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lib/auth/session.ts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JWT HS256, TTL: staff 12h, cliente 30d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lib/auth/support.ts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Sesiones temporales de soporte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lib/auth/audit.ts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recordAudit fire-and-forget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db/schema/security.ts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Tabla audit_logs (actor, evento, IP, UA)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tests/security/staff-actions-audited.test.ts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Verifica que toda acción queda registrada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0F172A"/>
                          </a:solidFill>
                          <a:latin typeface="Consolas"/>
                        </a:rPr>
                        <a:t>tests/security/session-</a:t>
                      </a:r>
                      <a:r>
                        <a:rPr sz="900" b="0" i="0" dirty="0" err="1">
                          <a:solidFill>
                            <a:srgbClr val="0F172A"/>
                          </a:solidFill>
                          <a:latin typeface="Consolas"/>
                        </a:rPr>
                        <a:t>revocation.test.ts</a:t>
                      </a:r>
                      <a:endParaRPr sz="900" b="0" i="0" dirty="0">
                        <a:solidFill>
                          <a:srgbClr val="0F172A"/>
                        </a:solidFill>
                        <a:latin typeface="Consolas"/>
                      </a:endParaRP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D3748"/>
                          </a:solidFill>
                          <a:latin typeface="Montserrat"/>
                        </a:rPr>
                        <a:t>Logout </a:t>
                      </a:r>
                      <a:r>
                        <a:rPr sz="1000" b="0" i="0" dirty="0" err="1">
                          <a:solidFill>
                            <a:srgbClr val="2D3748"/>
                          </a:solidFill>
                          <a:latin typeface="Montserrat"/>
                        </a:rPr>
                        <a:t>invalida</a:t>
                      </a:r>
                      <a:r>
                        <a:rPr sz="1000" b="0" i="0" dirty="0">
                          <a:solidFill>
                            <a:srgbClr val="2D3748"/>
                          </a:solidFill>
                          <a:latin typeface="Montserrat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2D3748"/>
                          </a:solidFill>
                          <a:latin typeface="Montserrat"/>
                        </a:rPr>
                        <a:t>en</a:t>
                      </a:r>
                      <a:r>
                        <a:rPr sz="1000" b="0" i="0" dirty="0">
                          <a:solidFill>
                            <a:srgbClr val="2D3748"/>
                          </a:solidFill>
                          <a:latin typeface="Montserrat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2D3748"/>
                          </a:solidFill>
                          <a:latin typeface="Montserrat"/>
                        </a:rPr>
                        <a:t>otros</a:t>
                      </a:r>
                      <a:r>
                        <a:rPr sz="1000" b="0" i="0" dirty="0">
                          <a:solidFill>
                            <a:srgbClr val="2D3748"/>
                          </a:solidFill>
                          <a:latin typeface="Montserrat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2D3748"/>
                          </a:solidFill>
                          <a:latin typeface="Montserrat"/>
                        </a:rPr>
                        <a:t>dispositivos</a:t>
                      </a:r>
                      <a:endParaRPr sz="1000" b="0" i="0" dirty="0">
                        <a:solidFill>
                          <a:srgbClr val="2D3748"/>
                        </a:solidFill>
                        <a:latin typeface="Montserrat"/>
                      </a:endParaRP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AA0AB"/>
                </a:solidFill>
                <a:latin typeface="Montserrat"/>
              </a:rP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1.2.3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ontserrat"/>
              </a:rPr>
              <a:t>Token version + revocación cross-device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Montserrat"/>
              </a:rPr>
              <a:t>Invalidación de todas las sesiones de un usuario en todos sus dispositivos a la vez.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QUÉ SE HIZO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53035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Montserrat"/>
              </a:rPr>
              <a:t>Mecanismo para invalidar todas las sesiones de un usuario al cambiar su contraseña o cuando un admin necesita revocar acceso. Antes solo se invalidaba la sesión actual; ahora un cambio de password en celular invalida también la laptop.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2D3748"/>
                </a:solidFill>
                <a:latin typeface="Montserrat"/>
              </a:rPr>
              <a:t>Cada usuario tiene un campo tokenVersion que se incrementa al revocar; el JWT lleva la versión y la verificación rechaza si no coincide con la versión actual del usuario.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30352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16A34A"/>
                </a:solidFill>
                <a:latin typeface="Montserrat"/>
              </a:rPr>
              <a:t>DECISIONES NOTABLES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6A34A"/>
                </a:solidFill>
                <a:latin typeface="Montserrat"/>
              </a:rPr>
              <a:t>•  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Cero cookies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persistidas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servidor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: la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invalidación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es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vía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comparación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versión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, no lookup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DB.</a:t>
            </a:r>
          </a:p>
          <a:p>
            <a:pPr algn="l">
              <a:spcBef>
                <a:spcPts val="800"/>
              </a:spcBef>
            </a:pPr>
            <a:r>
              <a:rPr sz="1100" b="1" dirty="0">
                <a:solidFill>
                  <a:srgbClr val="16A34A"/>
                </a:solidFill>
                <a:latin typeface="Montserrat"/>
              </a:rPr>
              <a:t>•  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Bump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explícito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por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acción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: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cambio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 password, logout-all del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usuario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,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revocación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por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admin.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57400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16A34A"/>
                </a:solidFill>
                <a:latin typeface="Montserrat"/>
              </a:rPr>
              <a:t>ARCHIVOS DEL CÓDIGO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2423160"/>
          <a:ext cx="5486400" cy="252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Archivo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Función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db/schema/auth.ts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Campo tokenVersion en tabla users (default 0)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lib/auth/session.ts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El token incluye tokenVersion en el payload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lib/auth/dal.ts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Compara payload.tokenVersion contra user.tokenVersion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lib/auth-actions.ts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changePassword incrementa tokenVersion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lib/superadmin-actions.ts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revokeUserSessions para que admin invalide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tests/security/password-change-revokes-other-sessions.test.ts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D3748"/>
                          </a:solidFill>
                          <a:latin typeface="Montserrat"/>
                        </a:rPr>
                        <a:t>Test de </a:t>
                      </a:r>
                      <a:r>
                        <a:rPr sz="1000" b="0" i="0" dirty="0" err="1">
                          <a:solidFill>
                            <a:srgbClr val="2D3748"/>
                          </a:solidFill>
                          <a:latin typeface="Montserrat"/>
                        </a:rPr>
                        <a:t>integración</a:t>
                      </a:r>
                      <a:endParaRPr sz="1000" b="0" i="0" dirty="0">
                        <a:solidFill>
                          <a:srgbClr val="2D3748"/>
                        </a:solidFill>
                        <a:latin typeface="Montserrat"/>
                      </a:endParaRP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AA0AB"/>
                </a:solidFill>
                <a:latin typeface="Montserrat"/>
              </a:rP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1.2.4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ontserrat"/>
              </a:rPr>
              <a:t>Rate-limit con 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Montserrat"/>
              </a:rPr>
              <a:t>Protección contra fuerza bruta y abuso en 8 endpoints sensibles. Modo fail-open: si Redis cae, no bloquea.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QUÉ SE HIZO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53035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Montserrat"/>
              </a:rPr>
              <a:t>Sistema centralizado de rate-limit implementado con Redis usando ventana fija (INCR + EXPIRE). Protege endpoints contra fuerza bruta (login, registro, reset de password) y abuso (uploads, confirmaciones públicas).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2D3748"/>
                </a:solidFill>
                <a:latin typeface="Montserrat"/>
              </a:rPr>
              <a:t>Es fail-open: si Redis está caído, las peticiones pasan. Mejor degradación que cerrar todo el sistema cuando un componente auxiliar falla. Cada bloqueo queda auditado.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30352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9377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16A34A"/>
                </a:solidFill>
                <a:latin typeface="Montserrat"/>
              </a:rPr>
              <a:t>DECISIONES NOTABLES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ontserrat"/>
              </a:rPr>
              <a:t>•  </a:t>
            </a:r>
            <a:r>
              <a:rPr sz="1100">
                <a:solidFill>
                  <a:srgbClr val="2D3748"/>
                </a:solidFill>
                <a:latin typeface="Montserrat"/>
              </a:rPr>
              <a:t>Fail-open por filosofía: un Redis caído no debe bloquear logins legítimos.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16A34A"/>
                </a:solidFill>
                <a:latin typeface="Montserrat"/>
              </a:rPr>
              <a:t>•  </a:t>
            </a:r>
            <a:r>
              <a:rPr sz="1100">
                <a:solidFill>
                  <a:srgbClr val="2D3748"/>
                </a:solidFill>
                <a:latin typeface="Montserrat"/>
              </a:rPr>
              <a:t>Cada bloqueo dispara evento de auditoría system.ratelimit.exceeded.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16A34A"/>
                </a:solidFill>
                <a:latin typeface="Montserrat"/>
              </a:rPr>
              <a:t>•  </a:t>
            </a:r>
            <a:r>
              <a:rPr sz="1100">
                <a:solidFill>
                  <a:srgbClr val="2D3748"/>
                </a:solidFill>
                <a:latin typeface="Montserrat"/>
              </a:rPr>
              <a:t>Ventana fija (INCR + EXPIRE) en vez de sliding window: simple, predecible, suficiente.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57400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16A34A"/>
                </a:solidFill>
                <a:latin typeface="Montserrat"/>
              </a:rPr>
              <a:t>ARCHIVOS DEL CÓDIGO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24231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Archivo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Función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lib/security/rate-limit.ts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Primitiva enforceRateLimit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lib/redis.ts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Cliente Redis singleton, fail-fast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lib/utils/get-client-ip.ts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Helper centralizado para parsear IP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Login staff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10 / IP / 60 segundos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Login cliente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5 / IP / 60 segundos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Inicio de registro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5 / IP / 60 segundos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Upload draft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30 / 15 min sessionId + 60 / 15 min IP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Confirmación pública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10 / IP / 60 segundos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AA0AB"/>
                </a:solidFill>
                <a:latin typeface="Montserrat"/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1.2.5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ontserrat"/>
              </a:rPr>
              <a:t>Hardening de URLs y uploads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>
                <a:solidFill>
                  <a:srgbClr val="6B7280"/>
                </a:solidFill>
                <a:latin typeface="Montserrat"/>
              </a:rPr>
              <a:t>Tokens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efímeros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HMAC para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autorizar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uploads,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conversión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HEIC y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eliminación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de metadata EXIF.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QUÉ SE HIZO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53035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Montserrat"/>
              </a:rPr>
              <a:t>Validación estricta de uploads de imágenes y audio mediante tokens efímeros firmados con HMAC-SHA256. Los tokens vencen a los 30 minutos y se renuevan proactivamente desde el cliente con margen de 60 segundos.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2D3748"/>
                </a:solidFill>
                <a:latin typeface="Montserrat"/>
              </a:rPr>
              <a:t>Conversión automática de fotos HEIC del iPhone a JPEG, eliminación de metadata EXIF que contiene ubicación GPS (privacidad), bloqueo de redirecciones a URLs externas no autorizadas.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30352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Montserrat"/>
              </a:rPr>
              <a:t>DECISIONES TÉCNICAS NOTABLES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6A34A"/>
                </a:solidFill>
                <a:latin typeface="Montserrat"/>
              </a:rPr>
              <a:t>•  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Token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efímero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lugar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sesión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: uploads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anónimos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el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editor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público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sin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requerir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login.</a:t>
            </a:r>
          </a:p>
          <a:p>
            <a:pPr algn="l">
              <a:spcBef>
                <a:spcPts val="800"/>
              </a:spcBef>
            </a:pPr>
            <a:r>
              <a:rPr sz="1100" b="1" dirty="0">
                <a:solidFill>
                  <a:srgbClr val="16A34A"/>
                </a:solidFill>
                <a:latin typeface="Montserrat"/>
              </a:rPr>
              <a:t>•  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Cache module-level del token: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una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sola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petición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 token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por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sesión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del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navegador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.</a:t>
            </a:r>
          </a:p>
          <a:p>
            <a:pPr algn="l">
              <a:spcBef>
                <a:spcPts val="800"/>
              </a:spcBef>
            </a:pPr>
            <a:r>
              <a:rPr sz="1100" b="1" dirty="0">
                <a:solidFill>
                  <a:srgbClr val="16A34A"/>
                </a:solidFill>
                <a:latin typeface="Montserrat"/>
              </a:rPr>
              <a:t>• 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Eliminación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de EXIF: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privacidad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— las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fotos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llevan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coordenadas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GPS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por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dirty="0" err="1">
                <a:solidFill>
                  <a:srgbClr val="2D3748"/>
                </a:solidFill>
                <a:latin typeface="Montserrat"/>
              </a:rPr>
              <a:t>defecto</a:t>
            </a:r>
            <a:r>
              <a:rPr sz="1100" dirty="0">
                <a:solidFill>
                  <a:srgbClr val="2D3748"/>
                </a:solidFill>
                <a:latin typeface="Montserra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57400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16A34A"/>
                </a:solidFill>
                <a:latin typeface="Montserrat"/>
              </a:rPr>
              <a:t>ARCHIVOS DEL CÓDIGO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2423160"/>
          <a:ext cx="54864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Archivo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Función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lib/upload-token.ts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Token JWT efímero HMAC-SHA256, TTL 30 min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lib/draft-upload-token-client.ts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Cliente con cache + refresh proactivo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lib/security/safe-href.ts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Whitelist de redirecciones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lib/services/storage/file-validation.ts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Tipo, tamaño, conversión HEIC → JPEG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lib/services/storage/image-pipeline.ts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Resize + eliminación de EXIF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onsolas"/>
                        </a:rPr>
                        <a:t>app/api/draft-upload/route.ts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D3748"/>
                          </a:solidFill>
                          <a:latin typeface="Montserrat"/>
                        </a:rPr>
                        <a:t>Endpoint con verificación de token + rate-limit</a:t>
                      </a:r>
                    </a:p>
                  </a:txBody>
                  <a:tcPr marL="101600" marR="101600" marT="50800" marB="508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0F172A"/>
                          </a:solidFill>
                          <a:latin typeface="Consolas"/>
                        </a:rPr>
                        <a:t>app/</a:t>
                      </a:r>
                      <a:r>
                        <a:rPr sz="900" b="0" i="0" dirty="0" err="1">
                          <a:solidFill>
                            <a:srgbClr val="0F172A"/>
                          </a:solidFill>
                          <a:latin typeface="Consolas"/>
                        </a:rPr>
                        <a:t>api</a:t>
                      </a:r>
                      <a:r>
                        <a:rPr sz="900" b="0" i="0" dirty="0">
                          <a:solidFill>
                            <a:srgbClr val="0F172A"/>
                          </a:solidFill>
                          <a:latin typeface="Consolas"/>
                        </a:rPr>
                        <a:t>/upload-token/</a:t>
                      </a:r>
                      <a:r>
                        <a:rPr sz="900" b="0" i="0" dirty="0" err="1">
                          <a:solidFill>
                            <a:srgbClr val="0F172A"/>
                          </a:solidFill>
                          <a:latin typeface="Consolas"/>
                        </a:rPr>
                        <a:t>route.ts</a:t>
                      </a:r>
                      <a:endParaRPr sz="900" b="0" i="0" dirty="0">
                        <a:solidFill>
                          <a:srgbClr val="0F172A"/>
                        </a:solidFill>
                        <a:latin typeface="Consolas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 err="1">
                          <a:solidFill>
                            <a:srgbClr val="2D3748"/>
                          </a:solidFill>
                          <a:latin typeface="Montserrat"/>
                        </a:rPr>
                        <a:t>Emite</a:t>
                      </a:r>
                      <a:r>
                        <a:rPr sz="1000" b="0" i="0" dirty="0">
                          <a:solidFill>
                            <a:srgbClr val="2D3748"/>
                          </a:solidFill>
                          <a:latin typeface="Montserrat"/>
                        </a:rPr>
                        <a:t> token </a:t>
                      </a:r>
                      <a:r>
                        <a:rPr sz="1000" b="0" i="0" dirty="0" err="1">
                          <a:solidFill>
                            <a:srgbClr val="2D3748"/>
                          </a:solidFill>
                          <a:latin typeface="Montserrat"/>
                        </a:rPr>
                        <a:t>efímero</a:t>
                      </a:r>
                      <a:r>
                        <a:rPr sz="1000" b="0" i="0" dirty="0">
                          <a:solidFill>
                            <a:srgbClr val="2D3748"/>
                          </a:solidFill>
                          <a:latin typeface="Montserrat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2D3748"/>
                          </a:solidFill>
                          <a:latin typeface="Montserrat"/>
                        </a:rPr>
                        <a:t>firmado</a:t>
                      </a:r>
                      <a:endParaRPr sz="1000" b="0" i="0" dirty="0">
                        <a:solidFill>
                          <a:srgbClr val="2D3748"/>
                        </a:solidFill>
                        <a:latin typeface="Montserrat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AA0AB"/>
                </a:solidFill>
                <a:latin typeface="Montserrat"/>
              </a:rP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18288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16A34A"/>
                </a:solidFill>
                <a:latin typeface="Montserrat"/>
              </a:rPr>
              <a:t>1.2.</a:t>
            </a:r>
            <a:r>
              <a:rPr lang="es-MX" sz="1000" b="1" i="0" dirty="0">
                <a:solidFill>
                  <a:srgbClr val="16A34A"/>
                </a:solidFill>
                <a:latin typeface="Montserrat"/>
              </a:rPr>
              <a:t>6</a:t>
            </a:r>
            <a:endParaRPr sz="1000" b="1" i="0" dirty="0">
              <a:solidFill>
                <a:srgbClr val="16A34A"/>
              </a:solidFill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Montserrat"/>
              </a:rPr>
              <a:t>Robustez Fase 1, 2 y 3 — Trust &amp; Money y Conversión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>
                <a:solidFill>
                  <a:srgbClr val="6B7280"/>
                </a:solidFill>
                <a:latin typeface="Montserrat"/>
              </a:rPr>
              <a:t>Día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completo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dedicado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a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robustez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en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tres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fases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.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Aquí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: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Fase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1 (Trust &amp; Money) y 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Fase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 2 (</a:t>
            </a:r>
            <a:r>
              <a:rPr sz="1200" b="0" i="1" dirty="0" err="1">
                <a:solidFill>
                  <a:srgbClr val="6B7280"/>
                </a:solidFill>
                <a:latin typeface="Montserrat"/>
              </a:rPr>
              <a:t>Conversión</a:t>
            </a:r>
            <a:r>
              <a:rPr sz="1200" b="0" i="1" dirty="0">
                <a:solidFill>
                  <a:srgbClr val="6B7280"/>
                </a:solidFill>
                <a:latin typeface="Montserrat"/>
              </a:rPr>
              <a:t>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FASE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60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Montserrat"/>
              </a:rPr>
              <a:t>Trust &amp;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502920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rgbClr val="2D3748"/>
                </a:solidFill>
                <a:latin typeface="Montserrat"/>
              </a:rPr>
              <a:t>Cierre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riesgos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en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flujos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pago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y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confianza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: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validación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adicional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montos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,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mensajes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de error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explícitos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, fallbacks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cuando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lang="es-MX" sz="1100" b="0" i="0" dirty="0">
                <a:solidFill>
                  <a:srgbClr val="2D3748"/>
                </a:solidFill>
                <a:latin typeface="Montserrat"/>
              </a:rPr>
              <a:t>Stripe 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no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responde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Montserrat"/>
              </a:rPr>
              <a:t>ARCHIVOS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lib/payment-helpers.ts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ontserrat"/>
              </a:rPr>
              <a:t>Validación adicional de monto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app/panel/events/[slug]/billing/page.tsx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ontserrat"/>
              </a:rPr>
              <a:t>Mensajes de error claros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10312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2286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ontserrat"/>
              </a:rPr>
              <a:t>FASE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560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Montserrat"/>
              </a:rPr>
              <a:t>Conversión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154680"/>
            <a:ext cx="5029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rgbClr val="2D3748"/>
                </a:solidFill>
                <a:latin typeface="Montserrat"/>
              </a:rPr>
              <a:t>Autoguardado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del editor con feedback visible (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Guardando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/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Guardado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/ Error),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importación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CSV de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invitados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con preview,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errores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accionables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,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cron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de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pagos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100" b="0" i="0" dirty="0" err="1">
                <a:solidFill>
                  <a:srgbClr val="2D3748"/>
                </a:solidFill>
                <a:latin typeface="Montserrat"/>
              </a:rPr>
              <a:t>pendientes</a:t>
            </a:r>
            <a:r>
              <a:rPr sz="1100" b="0" i="0" dirty="0">
                <a:solidFill>
                  <a:srgbClr val="2D3748"/>
                </a:solidFill>
                <a:latin typeface="Montserrat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4805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Montserrat"/>
              </a:rPr>
              <a:t>ARCHIVOS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800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components/schema-form/SchemaForm.tsx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5029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ontserrat"/>
              </a:rPr>
              <a:t>Autoguardado debounce 3s + estado visible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5303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app/panel/events/[slug]/guests/_csv-import.tsx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55321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ontserrat"/>
              </a:rPr>
              <a:t>Importación CSV con preview y validación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58064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lib/event-actions.ts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60350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ontserrat"/>
              </a:rPr>
              <a:t>importGuestsCSV con Zod por fila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AA0AB"/>
                </a:solidFill>
                <a:latin typeface="Montserrat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16A34A"/>
                </a:solidFill>
                <a:latin typeface="Montserrat"/>
              </a:rPr>
              <a:t>1.2.7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Montserrat"/>
              </a:rPr>
              <a:t>Robustez Fase 3 — Operación crítica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Montserrat"/>
              </a:rPr>
              <a:t>Cuatro bloques de la Fase 3: registro de entrada, scanner offline, QR con expiración y doble factor.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54406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Montserrat"/>
              </a:rPr>
              <a:t>FASE 3 — 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ontserrat"/>
              </a:rPr>
              <a:t>Auditoría + Timeout + Outbox del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Montserrat"/>
              </a:rPr>
              <a:t>Cada registro de entrada queda auditado con guestsCount y resultado. Timeout de 30s con feedback. Indicador global de cola de sincronización (pending / syncing / synced / failed).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onsolas"/>
              </a:rPr>
              <a:t>lib/checkin-actions.ts  ·  lib/promise-timeout.ts  ·  lib/scanner-status.ts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03120"/>
            <a:ext cx="54406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240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Montserrat"/>
              </a:rPr>
              <a:t>FASE 3 — 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ontserrat"/>
              </a:rPr>
              <a:t>Scanner 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8892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Montserrat"/>
              </a:rPr>
              <a:t>El scanner descarga todos los pases al cargar (IndexedDB del navegador). Si pierde la red, sigue escaneando y encola registros en un outbox. Al volver la conexión, sincroniza.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657600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onsolas"/>
              </a:rPr>
              <a:t>lib/scanner-offline-db.ts  ·  app/panel/events/[slug]/scanner/scanner.tsx  ·  app/api/scanner/passes/route.ts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54406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Montserrat"/>
              </a:rPr>
              <a:t>FASE 3 — 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ontserrat"/>
              </a:rPr>
              <a:t>QR con expiración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Montserrat"/>
              </a:rPr>
              <a:t>Nuevo formato de QR (payload v2) con timestamp de expiración firmado con HMAC. Compatibilidad con formato antiguo hasta el 2026-08-01.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onsolas"/>
              </a:rPr>
              <a:t>lib/qr-token.ts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389120"/>
            <a:ext cx="54406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526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Montserrat"/>
              </a:rPr>
              <a:t>FASE 3 — 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ontserrat"/>
              </a:rPr>
              <a:t>Doble factor para staff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7492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Montserrat"/>
              </a:rPr>
              <a:t>Implementación basada en RFC 6238, compatible con Google Authenticator y Authy. Secret cifrado con AES-256-GCM. Cada admin tiene 10 recovery codes hasheados con bcrypt.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943600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onsolas"/>
              </a:rPr>
              <a:t>lib/auth/totp.ts  ·  db/schema/auth.ts (campos totpSecretEnc, totpEnabledAt, totpRecoveryCodesHashes)  ·  app/(auth)/admin-login/form.tsx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1892</Words>
  <Application>Microsoft Office PowerPoint</Application>
  <PresentationFormat>Panorámica</PresentationFormat>
  <Paragraphs>223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-apple-system</vt:lpstr>
      <vt:lpstr>Aptos</vt:lpstr>
      <vt:lpstr>Arial</vt:lpstr>
      <vt:lpstr>Calibri</vt:lpstr>
      <vt:lpstr>Consolas</vt:lpstr>
      <vt:lpstr>Montserrat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Amaury</dc:creator>
  <cp:keywords/>
  <dc:description>generated using python-pptx</dc:description>
  <cp:lastModifiedBy>amaury rokete</cp:lastModifiedBy>
  <cp:revision>5</cp:revision>
  <dcterms:created xsi:type="dcterms:W3CDTF">2013-01-27T09:14:16Z</dcterms:created>
  <dcterms:modified xsi:type="dcterms:W3CDTF">2026-05-04T03:36:29Z</dcterms:modified>
  <cp:category/>
</cp:coreProperties>
</file>